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b470fdf5a994252" /><Relationship Type="http://schemas.openxmlformats.org/officeDocument/2006/relationships/extended-properties" Target="/docProps/app.xml" Id="Ra6c5ee295ca549ab" /><Relationship Type="http://schemas.openxmlformats.org/officeDocument/2006/relationships/officeDocument" Target="/ppt/presentation.xml" Id="Re485fc20831e462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eef06e516fd4b31"/>
  </p:sldMasterIdLst>
  <p:notesMasterIdLst>
    <p:notesMasterId xmlns:r="http://schemas.openxmlformats.org/officeDocument/2006/relationships" r:id="Reeb47bd3e5c240b2"/>
  </p:notesMasterIdLst>
  <p:sldIdLst>
    <p:sldId xmlns:r="http://schemas.openxmlformats.org/officeDocument/2006/relationships" id="256" r:id="R23172851a2cd4aa2"/>
    <p:sldId xmlns:r="http://schemas.openxmlformats.org/officeDocument/2006/relationships" id="257" r:id="Rcad3765695de462a"/>
    <p:sldId xmlns:r="http://schemas.openxmlformats.org/officeDocument/2006/relationships" id="258" r:id="R8693631f82464c01"/>
    <p:sldId xmlns:r="http://schemas.openxmlformats.org/officeDocument/2006/relationships" id="259" r:id="Rd2eda6f0e0fb4198"/>
    <p:sldId xmlns:r="http://schemas.openxmlformats.org/officeDocument/2006/relationships" id="260" r:id="R1f3840cc4d034df2"/>
    <p:sldId xmlns:r="http://schemas.openxmlformats.org/officeDocument/2006/relationships" id="261" r:id="R0ef7b146b4624635"/>
    <p:sldId xmlns:r="http://schemas.openxmlformats.org/officeDocument/2006/relationships" id="262" r:id="R156b8dcd7e2b47ec"/>
    <p:sldId xmlns:r="http://schemas.openxmlformats.org/officeDocument/2006/relationships" id="263" r:id="R96a3e5f9dcbf47a9"/>
    <p:sldId xmlns:r="http://schemas.openxmlformats.org/officeDocument/2006/relationships" id="264" r:id="R2ec28832341f4940"/>
    <p:sldId xmlns:r="http://schemas.openxmlformats.org/officeDocument/2006/relationships" id="265" r:id="Rbc4b679bb0584cac"/>
    <p:sldId xmlns:r="http://schemas.openxmlformats.org/officeDocument/2006/relationships" id="266" r:id="R4ca18a9865274786"/>
    <p:sldId xmlns:r="http://schemas.openxmlformats.org/officeDocument/2006/relationships" id="267" r:id="Rff4d19d975fe4873"/>
    <p:sldId xmlns:r="http://schemas.openxmlformats.org/officeDocument/2006/relationships" id="268" r:id="Rbc509349d9544881"/>
    <p:sldId xmlns:r="http://schemas.openxmlformats.org/officeDocument/2006/relationships" id="269" r:id="R6f75c481d24e4915"/>
    <p:sldId xmlns:r="http://schemas.openxmlformats.org/officeDocument/2006/relationships" id="270" r:id="R4d5a51f2ba60420f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06f51a3716b4ec8" /><Relationship Type="http://schemas.openxmlformats.org/officeDocument/2006/relationships/slideMaster" Target="/ppt/slideMasters/slideMaster1.xml" Id="R3eef06e516fd4b31" /><Relationship Type="http://schemas.openxmlformats.org/officeDocument/2006/relationships/notesMaster" Target="/ppt/notesMasters/notesMaster1.xml" Id="Reeb47bd3e5c240b2" /><Relationship Type="http://schemas.openxmlformats.org/officeDocument/2006/relationships/presProps" Target="/ppt/presProps.xml" Id="R7a947ab3bbcf448f" /><Relationship Type="http://schemas.openxmlformats.org/officeDocument/2006/relationships/tableStyles" Target="/ppt/tableStyles.xml" Id="R73b1ff71021f4715" /><Relationship Type="http://schemas.openxmlformats.org/officeDocument/2006/relationships/slide" Target="/ppt/slides/slide1.xml" Id="R23172851a2cd4aa2" /><Relationship Type="http://schemas.openxmlformats.org/officeDocument/2006/relationships/slide" Target="/ppt/slides/slide2.xml" Id="Rcad3765695de462a" /><Relationship Type="http://schemas.openxmlformats.org/officeDocument/2006/relationships/slide" Target="/ppt/slides/slide3.xml" Id="R8693631f82464c01" /><Relationship Type="http://schemas.openxmlformats.org/officeDocument/2006/relationships/slide" Target="/ppt/slides/slide4.xml" Id="Rd2eda6f0e0fb4198" /><Relationship Type="http://schemas.openxmlformats.org/officeDocument/2006/relationships/slide" Target="/ppt/slides/slide5.xml" Id="R1f3840cc4d034df2" /><Relationship Type="http://schemas.openxmlformats.org/officeDocument/2006/relationships/slide" Target="/ppt/slides/slide6.xml" Id="R0ef7b146b4624635" /><Relationship Type="http://schemas.openxmlformats.org/officeDocument/2006/relationships/slide" Target="/ppt/slides/slide7.xml" Id="R156b8dcd7e2b47ec" /><Relationship Type="http://schemas.openxmlformats.org/officeDocument/2006/relationships/slide" Target="/ppt/slides/slide8.xml" Id="R96a3e5f9dcbf47a9" /><Relationship Type="http://schemas.openxmlformats.org/officeDocument/2006/relationships/slide" Target="/ppt/slides/slide9.xml" Id="R2ec28832341f4940" /><Relationship Type="http://schemas.openxmlformats.org/officeDocument/2006/relationships/slide" Target="/ppt/slides/slide10.xml" Id="Rbc4b679bb0584cac" /><Relationship Type="http://schemas.openxmlformats.org/officeDocument/2006/relationships/slide" Target="/ppt/slides/slide11.xml" Id="R4ca18a9865274786" /><Relationship Type="http://schemas.openxmlformats.org/officeDocument/2006/relationships/slide" Target="/ppt/slides/slide12.xml" Id="Rff4d19d975fe4873" /><Relationship Type="http://schemas.openxmlformats.org/officeDocument/2006/relationships/slide" Target="/ppt/slides/slide13.xml" Id="Rbc509349d9544881" /><Relationship Type="http://schemas.openxmlformats.org/officeDocument/2006/relationships/slide" Target="/ppt/slides/slide14.xml" Id="R6f75c481d24e4915" /><Relationship Type="http://schemas.openxmlformats.org/officeDocument/2006/relationships/slide" Target="/ppt/slides/slide15.xml" Id="R4d5a51f2ba60420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8eaea9fe486491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da1d70863c149f3" /><Relationship Type="http://schemas.openxmlformats.org/officeDocument/2006/relationships/notesMaster" Target="/ppt/notesMasters/notesMaster1.xml" Id="R23821b51e58c46f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9bbd2d46e15481e" /><Relationship Type="http://schemas.openxmlformats.org/officeDocument/2006/relationships/notesMaster" Target="/ppt/notesMasters/notesMaster1.xml" Id="R7277a55d4d38442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25bdfa453d54dff" /><Relationship Type="http://schemas.openxmlformats.org/officeDocument/2006/relationships/notesMaster" Target="/ppt/notesMasters/notesMaster1.xml" Id="R20ff0c3e35d648f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fc8553e86d84bfd" /><Relationship Type="http://schemas.openxmlformats.org/officeDocument/2006/relationships/notesMaster" Target="/ppt/notesMasters/notesMaster1.xml" Id="Rb7ab75ad11304b7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dbe7f47a2e54d71" /><Relationship Type="http://schemas.openxmlformats.org/officeDocument/2006/relationships/notesMaster" Target="/ppt/notesMasters/notesMaster1.xml" Id="Rc912a49d9f9442f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b90beed40f648ca" /><Relationship Type="http://schemas.openxmlformats.org/officeDocument/2006/relationships/notesMaster" Target="/ppt/notesMasters/notesMaster1.xml" Id="R1542c966ecc04bb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9e2e3033c7f4d9d" /><Relationship Type="http://schemas.openxmlformats.org/officeDocument/2006/relationships/notesMaster" Target="/ppt/notesMasters/notesMaster1.xml" Id="R6a4e296189e74d8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f6d06ddc63147f2" /><Relationship Type="http://schemas.openxmlformats.org/officeDocument/2006/relationships/notesMaster" Target="/ppt/notesMasters/notesMaster1.xml" Id="Rd3e8c376d3ab428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0516d2b99a94abc" /><Relationship Type="http://schemas.openxmlformats.org/officeDocument/2006/relationships/notesMaster" Target="/ppt/notesMasters/notesMaster1.xml" Id="R2864ebc930a74f3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c7180bba41a4a2b" /><Relationship Type="http://schemas.openxmlformats.org/officeDocument/2006/relationships/notesMaster" Target="/ppt/notesMasters/notesMaster1.xml" Id="R4d6cce116ae64e9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3eadf9069264aeb" /><Relationship Type="http://schemas.openxmlformats.org/officeDocument/2006/relationships/notesMaster" Target="/ppt/notesMasters/notesMaster1.xml" Id="R99befa5a1e0149d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ba8493b6b9d4b4c" /><Relationship Type="http://schemas.openxmlformats.org/officeDocument/2006/relationships/notesMaster" Target="/ppt/notesMasters/notesMaster1.xml" Id="R41555ccd53bd451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a6c0e9379e14b2a" /><Relationship Type="http://schemas.openxmlformats.org/officeDocument/2006/relationships/notesMaster" Target="/ppt/notesMasters/notesMaster1.xml" Id="R9146887df0c54aa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04447a697484791" /><Relationship Type="http://schemas.openxmlformats.org/officeDocument/2006/relationships/notesMaster" Target="/ppt/notesMasters/notesMaster1.xml" Id="Rbfa74d9ebf4847e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9da1db91b8840f4" /><Relationship Type="http://schemas.openxmlformats.org/officeDocument/2006/relationships/notesMaster" Target="/ppt/notesMasters/notesMaster1.xml" Id="R0127d389d9ff408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개인 프로젝트. 기획·조사·검증과 도구 구현에 Codex 사용. 관측과 테스트 결과는 2026-10-05 기준, 문서 개정 2026-10-06.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https://github.com/y00nZZang/crossborder-purchase-agent/blob/main/docs/design.md ; https://github.com/y00nZZang/product-catalog/blob/main/README.md . 통관은 추적·비용 추정의 관심 범위이며 실제 통관 완료는 미검증.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https://github.com/y00nZZang/crossborder-purchase-agent/blob/main/docs/experience-notes.md ; https://github.com/y00nZZang/crossborder-purchase-agent/blob/main/docs/experiment.md . 특정 개인 경험이며 모든 해외 사용자에 대한 현행 정책 단정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https://github.com/y00nZZang/crossborder-purchase-agent/blob/main/docs/route-comparison-2026-10-06.md . 가격과 환율·가정은 동일 문서 참조. SAZO 결제 전 견적, 라쿠텐 상품페이지·주문메일, tenso/WorldShopping 계산기, 몰테일 공개요율을 대조. 공식스토어는 사용자 제공10/6 결제 전 캡처: 상품51,868원+배송14,419원=66,287원. 첨부에는 EMS 등 운송방식 미표기. 원화 환산은 카드 청구액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https://github.com/y00nZZang/crossborder-purchase-agent/blob/main/docs/experience-notes.md ; https://github.com/y00nZZang/crossborder-purchase-agent/blob/main/docs/route-comparison.md . 사용자 체감과 합배송 가설. 실제 합배송 실측·절감액 미검증.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https://github.com/y00nZZang/crossborder-purchase-agent/blob/main/README.md ; https://github.com/y00nZZang/product-catalog/blob/main/README.md . 플러그인 실제 검증 경로는 라쿠텐 북스·몰테일. 일반 명칭은 역할 설명이며 범용 사이트 지원 의미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https://github.com/y00nZZang/crossborder-purchase-agent/tree/main/plugin ; https://github.com/y00nZZang/crossborder-purchase-agent/blob/main/docs/design.md . 실제 구현 어댑터 라쿠텐 북스·몰테일.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https://github.com/y00nZZang/crossborder-purchase-agent/blob/main/docs/interaction-count.md ; https://github.com/y00nZZang/crossborder-purchase-agent/blob/main/docs/experiment.md . 실제 대화 요약. 로그인2회·승인2회·구매/인증 완료2회를 묶어 표현. 사용자 첨부 대화 스타일 참고, 실제 접수 캡처 유지.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https://github.com/y00nZZang/crossborder-purchase-agent/blob/main/plugin/skills/crossborder-track-delivery/SKILL.md ; https://github.com/y00nZZang/crossborder-purchase-agent/blob/main/docs/daily-tracking.md . 2026-10-06 v0.1.1 동작 변경. 실거래 당시 동작과 구분.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https://github.com/y00nZZang/product-catalog/blob/main/docs/verification.md . 사용자 제공 상품 분석 캡처 원본을 자르지 않고 삽입. 관측·추정값이며 실제 결제액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https://github.com/y00nZZang/product-catalog/blob/main/README.md ; https://github.com/y00nZZang/product-catalog/blob/main/docs/architecture.md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https://github.com/y00nZZang/product-catalog/blob/main/docs/alcohol-test-evidence.md ; https://github.com/y00nZZang/product-catalog/blob/main/docs/verification.md . TCG 10/5 운영 결과와 주류9/30 제조사 사양 추출/합성 계산은 별도 시험.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https://github.com/y00nZZang/product-catalog/blob/main/docs/verification.md ; https://careers.mercari.com/mercan/articles/47692/ . 2024-11-15 공식 인터뷰의 해외 파트너 API 시스템 연동 사례. 이 프로젝트의 접근 권한 획득/사용 의미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https://github.com/y00nZZang/crossborder-purchase-agent/blob/main/docs/route-comparison.md ; https://github.com/y00nZZang/crossborder-purchase-agent/blob/main/docs/interaction-count.md . SAZO와 직접구매의 조건 차이가 남는 단일 부분 견적.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https://github.com/y00nZZang/crossborder-purchase-agent/blob/main/docs/closing-perspective.md . 사용자 의견·미래 가정이며 현재 제공되는 MCP나 사업 경쟁력의 검증 결과가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62c539396c493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5baabd1dfe34a78" /><Relationship Type="http://schemas.openxmlformats.org/officeDocument/2006/relationships/slideLayout" Target="/ppt/slideLayouts/slideLayout1.xml" Id="R0ba0212dbc844fb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ba0212dbc844fb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c7a6734bb44e38" /><Relationship Type="http://schemas.openxmlformats.org/officeDocument/2006/relationships/notesSlide" Target="/ppt/notesSlides/notesSlide1.xml" Id="R9bde38ddcbad456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8a4355e78b46e0" /><Relationship Type="http://schemas.openxmlformats.org/officeDocument/2006/relationships/notesSlide" Target="/ppt/notesSlides/notesSlide2.xml" Id="R8e21e777761d4b4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1530cd80b94cb4" /><Relationship Type="http://schemas.openxmlformats.org/officeDocument/2006/relationships/notesSlide" Target="/ppt/notesSlides/notesSlide3.xml" Id="R42235529646b4e5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5e9180895b4b90" /><Relationship Type="http://schemas.openxmlformats.org/officeDocument/2006/relationships/image" Target="/ppt/media/image.png" Id="Rfa41460f95094426" /><Relationship Type="http://schemas.openxmlformats.org/officeDocument/2006/relationships/notesSlide" Target="/ppt/notesSlides/notesSlide4.xml" Id="Raf5e3f7e41b44d6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2271c430c1484e" /><Relationship Type="http://schemas.openxmlformats.org/officeDocument/2006/relationships/notesSlide" Target="/ppt/notesSlides/notesSlide5.xml" Id="Ra89b80a79ffe4bd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aac160dc2a4999" /><Relationship Type="http://schemas.openxmlformats.org/officeDocument/2006/relationships/notesSlide" Target="/ppt/notesSlides/notesSlide6.xml" Id="R674094bf83a2439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b98f161f624970" /><Relationship Type="http://schemas.openxmlformats.org/officeDocument/2006/relationships/notesSlide" Target="/ppt/notesSlides/notesSlide7.xml" Id="R6be15c728dec498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74ebbd160f4ab0" /><Relationship Type="http://schemas.openxmlformats.org/officeDocument/2006/relationships/image" Target="/ppt/media/image.jpeg" Id="Rf18c41b441524723" /><Relationship Type="http://schemas.openxmlformats.org/officeDocument/2006/relationships/notesSlide" Target="/ppt/notesSlides/notesSlide8.xml" Id="R7aba8dab1e5d46c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963db71dbe40b1" /><Relationship Type="http://schemas.openxmlformats.org/officeDocument/2006/relationships/notesSlide" Target="/ppt/notesSlides/notesSlide9.xml" Id="Rb1ca2086384e4e9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f034cdbc9f466a" /><Relationship Type="http://schemas.openxmlformats.org/officeDocument/2006/relationships/image" Target="/ppt/media/image2.png" Id="R8c6b1be854324325" /><Relationship Type="http://schemas.openxmlformats.org/officeDocument/2006/relationships/notesSlide" Target="/ppt/notesSlides/notesSlide10.xml" Id="R27cc3e847bce42f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99975ae935412f" /><Relationship Type="http://schemas.openxmlformats.org/officeDocument/2006/relationships/notesSlide" Target="/ppt/notesSlides/notesSlide11.xml" Id="R7e064fd88efe471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f5f6a1f6ee41ee" /><Relationship Type="http://schemas.openxmlformats.org/officeDocument/2006/relationships/notesSlide" Target="/ppt/notesSlides/notesSlide12.xml" Id="R10574136006d435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15ef9ae8014748" /><Relationship Type="http://schemas.openxmlformats.org/officeDocument/2006/relationships/notesSlide" Target="/ppt/notesSlides/notesSlide13.xml" Id="Recef179442b0433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afb3eb2a134e88" /><Relationship Type="http://schemas.openxmlformats.org/officeDocument/2006/relationships/notesSlide" Target="/ppt/notesSlides/notesSlide14.xml" Id="Rb8e8aedd7a884ba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9afc236908403a" /><Relationship Type="http://schemas.openxmlformats.org/officeDocument/2006/relationships/notesSlide" Target="/ppt/notesSlides/notesSlide15.xml" Id="R39980421a90c40b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3F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AE4F86-F687-43E4-A181-E80116204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657213-3DB8-48A6-AE35-F3D38C116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01   윤장한 · 직구 조사와 도구 구현 · 2026.10.06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04BE70-8DB2-445B-984A-F5C3C3AC9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028700"/>
            <a:ext cx="1333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rPr>
              <a:t>개인 프로젝트 · 윤장한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380039-139B-4DA8-9C5A-D79EFF660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71775"/>
            <a:ext cx="13430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직구 과정 조사와</a:t>
            </a:r>
          </a:p>
          <a:p xmlns:a="http://schemas.openxmlformats.org/drawingml/2006/main">
            <a:pPr>
              <a:def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두 가지 도구 구현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ED2A49-32B8-42C1-8D5D-A649403CB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72150"/>
            <a:ext cx="1333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D8E7D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0">
                <a:solidFill>
                  <a:srgbClr val="D8E7DE"/>
                </a:solidFill>
                <a:latin typeface="Apple SD Gothic Neo"/>
                <a:ea typeface="Apple SD Gothic Neo"/>
                <a:cs typeface="Apple SD Gothic Neo"/>
              </a:rPr>
              <a:t>Codex 플러그인 · 상품 URL 분석기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B6B85A-023C-495E-8E9F-CB3E0DAA6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934200"/>
            <a:ext cx="1333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rPr>
              <a:t>검증 질문, 관찰한 내용, 구현과 시험 결과</a:t>
            </a:r>
          </a:p>
        </p:txBody>
      </p:sp>
    </p:spTree>
    <p:extLst>
      <p:ext uri="{BB962C8B-B14F-4D97-AF65-F5344CB8AC3E}">
        <p14:creationId xmlns:p14="http://schemas.microsoft.com/office/powerpoint/2010/main" val="9605990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DCFF89-58ED-4229-9D86-BDA82A0BD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검증하고자 한 내용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C577E2-16E5-4715-9D41-347C42114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직접 구매 과정과, 해외 사이트 결제 이후에 추가되는 비용을 살펴봤습니다.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4C7D6D-7AFC-4FBF-86E3-F7758A50F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02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36FC36-77EE-46F6-B912-DD39C2C93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05100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구매 과정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652D0B-73D8-4890-8A38-C821BDD1D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62350"/>
            <a:ext cx="6191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개인이 에이전트의 도움을 받아</a:t>
            </a:r>
          </a:p>
          <a:p xmlns:a="http://schemas.openxmlformats.org/drawingml/2006/main">
            <a:pPr>
              <a:def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조사·주문·배송신청·통관을</a:t>
            </a:r>
          </a:p>
          <a:p xmlns:a="http://schemas.openxmlformats.org/drawingml/2006/main">
            <a:pPr>
              <a:def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어디까지 진행할 수 있는가?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B52A63-3FAC-4CC9-88A9-2FD9AA5F8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05100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구매 전 정보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34CDDB-E98A-4573-8D64-0C8CF59AA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562350"/>
            <a:ext cx="6286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해외 사이트에서 구매한 뒤</a:t>
            </a:r>
          </a:p>
          <a:p xmlns:a="http://schemas.openxmlformats.org/drawingml/2006/main">
            <a:pPr>
              <a:def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추가로 발생하는 국제운송비와 관세를</a:t>
            </a:r>
          </a:p>
          <a:p xmlns:a="http://schemas.openxmlformats.org/drawingml/2006/main">
            <a:pPr>
              <a:def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어떻게 추정할 수 있을까?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C6806A-D177-47FF-9728-DBCCCC1E6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762750"/>
            <a:ext cx="13525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실제 시험은 주문 확인·배송대행 접수까지 진행했습니다. 통관 완료는 아직 관측하지 않았습니다.</a:t>
            </a:r>
          </a:p>
        </p:txBody>
      </p:sp>
    </p:spTree>
    <p:extLst>
      <p:ext uri="{BB962C8B-B14F-4D97-AF65-F5344CB8AC3E}">
        <p14:creationId xmlns:p14="http://schemas.microsoft.com/office/powerpoint/2010/main" val="199545702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40D0A1-BAC3-47A7-AD4B-E17B2F8F2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직구 과정에서 확인한 불편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88AD13-C90A-4E03-84F0-6DABFA901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가격을 비교하는 것 외에도 가입·인증·입력과 확인이 필요했습니다.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56D04A-AFE4-42C3-9200-6180C3182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03   윤장한 · 직구 조사와 도구 구현 · 2026.10.06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819150" y="2667000"/>
          <a:ext xmlns:a="http://schemas.openxmlformats.org/drawingml/2006/main" cx="136017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10648950"/>
              </a:tblGrid>
              <a:tr h="81915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과정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겪거나 확인한 내용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가입·이용 준비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메루카리는 해외 거주자로 직접 가입·구매하기 어려웠음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tenso는 주소 증빙 보완·재제출 과정이 번거롭게 느껴졌음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비용 비교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포장 규격·무게가 없고 운임·수수료 조건이 달라 비교가 어려웠음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주문·배송신청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이커머스와 배송대행 사이트에 정보를 옮기고 접수 결과를 대조해야 했음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진행 확인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인증을 마친 뒤 재개하거나 메일·사이트에서 다음 상태를 확인해야 했음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AF1C82-B032-455A-BD30-4717D8F04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277100"/>
            <a:ext cx="1352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이번 직접 구매 시험은 라쿠텐 북스와 몰테일 경로로 진행했습니다.</a:t>
            </a:r>
          </a:p>
        </p:txBody>
      </p:sp>
    </p:spTree>
    <p:extLst>
      <p:ext uri="{BB962C8B-B14F-4D97-AF65-F5344CB8AC3E}">
        <p14:creationId xmlns:p14="http://schemas.microsoft.com/office/powerpoint/2010/main" val="66447304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A6B4B8-188F-4818-9B33-6D66B824F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 경로별 비용 구성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A36C80-2506-4E87-A58E-38336B94F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2026-10-06 확인 · 영상 매체(Blu-ray) 1개 · 원화 비교 환산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53B9B0-0E2A-4760-AEE6-DC0EBD54B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04   윤장한 · 직구 조사와 도구 구현 · 2026.10.06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41460f95094426"/>
          <a:stretch xmlns:a="http://schemas.openxmlformats.org/drawingml/2006/main"/>
        </p:blipFill>
        <p:spPr>
          <a:xfrm xmlns:a="http://schemas.openxmlformats.org/drawingml/2006/main">
            <a:off x="13006595" y="361950"/>
            <a:ext cx="1371185" cy="1952625"/>
          </a:xfrm>
          <a:prstGeom xmlns:a="http://schemas.openxmlformats.org/drawingml/2006/main" prst="rect">
            <a:avLst/>
          </a:prstGeom>
        </p:spPr>
      </p:pic>
      <p:graphicFrame>
        <p:nvGraphicFramePr>
          <p:cNvPr id="13" name=""/>
          <p:cNvGraphicFramePr/>
          <p:nvPr/>
        </p:nvGraphicFramePr>
        <p:xfrm>
          <a:off xmlns:a="http://schemas.openxmlformats.org/drawingml/2006/main" x="819150" y="2638425"/>
          <a:ext xmlns:a="http://schemas.openxmlformats.org/drawingml/2006/main" cx="13601700" cy="3810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95750"/>
                <a:gridCol w="3000375"/>
                <a:gridCol w="2476500"/>
                <a:gridCol w="1809750"/>
                <a:gridCol w="2219325"/>
              </a:tblGrid>
              <a:tr h="6350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구매 경로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커머스 구매 비용¹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배송 비용²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별도 표시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 소계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SAZO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50,363원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7,715원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5,036원³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63,114원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라쿠텐 북스 + tenso EMS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약48,802원</a:t>
                      </a:r>
                    </a:p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(5,666엔)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약15,504원</a:t>
                      </a:r>
                    </a:p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(1,800엔)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추가비 별도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약64,306원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라쿠텐 북스 + 몰테일 항공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약48,371원</a:t>
                      </a:r>
                    </a:p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(주문5,616엔)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약21,212원</a:t>
                      </a:r>
                    </a:p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($15.63)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추가비 별도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약69,583원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라쿠텐 북스 + WorldShopping EMS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약53,682원</a:t>
                      </a:r>
                    </a:p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(상품+대행료10%)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약16,796원</a:t>
                      </a:r>
                    </a:p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(1,950엔)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추가비 별도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약70,478원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공식 스토어 + 국제배송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51,868원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14,419원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추가비 별도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66,287원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7FED69-D6F1-4505-B168-DF65E260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743700"/>
            <a:ext cx="13525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¹ 몰테일 경로는50엔 쿠폰 적용 주문. WorldShopping은 대행료 포함. ² 운임·취급료 포함. 공식 스토어 운송사 미표기.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D37F15-F0F6-45B5-8BE6-5A52A2C40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172325"/>
            <a:ext cx="13525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³ SAZO의 ‘통관·관세’ 표시 항목. tenso·WorldShopping은250g·19×14×2cm, 몰테일은0.5kg 최저 구간 가정.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A07CF2-D29B-4DF6-A07A-E45773F91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610475"/>
            <a:ext cx="1352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환산: 1엔=8.6131원·1달러=1,357.14원(10/4~10 과세환율). 실측·보험·세금·카드비용에 따라 달라질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58001072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B238FC-806C-44B5-98EF-47B565B5E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소량 구매의 배송비에 대한 생각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C20949-A8D1-4948-B773-551ECA76D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작고 가벼운 상품을 한 개 구매할 때 배송비의 부담이 크게 느껴졌습니다.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4341F5-64A0-490E-B721-B69C7D5D2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05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DCBC94-C34C-409A-BA0B-F60D637C7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47950"/>
            <a:ext cx="628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관찰과 체감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1916E5-C849-4BC0-8A99-DB04DBCF3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90925"/>
            <a:ext cx="6286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최소 과금 구간에 해당하는 소형 상품은</a:t>
            </a:r>
          </a:p>
          <a:p xmlns:a="http://schemas.openxmlformats.org/drawingml/2006/main">
            <a:pPr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무게가 더 작아도 배송비가 비례해서</a:t>
            </a:r>
          </a:p>
          <a:p xmlns:a="http://schemas.openxmlformats.org/drawingml/2006/main">
            <a:pPr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줄지는 않을 수 있다고 생각했습니다.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CDBE2B-3C7C-4971-9475-2F578F4D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57850"/>
            <a:ext cx="6286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단품 구매에서는 상품 크기에 비해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배송비가 크게 느껴졌습니다.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D4E9BD-2231-4D61-9606-4BFC3A802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647950"/>
            <a:ext cx="628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확인해보고 싶은 가설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5008E2-260D-4FA4-B467-B6288498C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590925"/>
            <a:ext cx="6286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여러 상품을 한 포장으로 보내면</a:t>
            </a:r>
          </a:p>
          <a:p xmlns:a="http://schemas.openxmlformats.org/drawingml/2006/main">
            <a:pPr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기본 배송비를 나누어 부담할 수 있어</a:t>
            </a:r>
          </a:p>
          <a:p xmlns:a="http://schemas.openxmlformats.org/drawingml/2006/main">
            <a:pPr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개당 비용이 줄어들 수 있지 않을까?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AFE465-C82A-4E51-9DFC-9A13C01F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657850"/>
            <a:ext cx="6286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개별 발송 합계 ↔ 합배송 총액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운임 + 합포장·처리·보관 비용을 비교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0415C6-D797-4C1D-A747-39160FA71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486650"/>
            <a:ext cx="1352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합배송 이익은 아직 검증하지 않았습니다. 합친 무게·부피와 추가 수수료에 따라 달라질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34810487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0CD8E2-6B88-46D4-8CE6-DACEDF0A6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만들어본 두 가지 도구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EF6D19-FEF8-4EC6-B560-97203268D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구매 실행을 보조하는 도구와, 구매 전 정보를 분석하는 도구를 별도로 구현했습니다.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4FDF17-8E81-4DD1-9B71-43EC1646B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06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32E8E4-ADCF-4DD3-B0E9-E946A384E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628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01  Codex 플러그인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47EB12-47F0-4FC8-A598-E5A100075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43325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조사·입력·상태 확인 보조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3919F4-457E-4951-88AE-772DE755E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52950"/>
            <a:ext cx="6334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조사와 배송대행 비교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이커머스 주문 대조·배송대행 신청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 확인 후 일일 메일 추적 등록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BD4D80-0F9C-410C-822D-0F21507BD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743200"/>
            <a:ext cx="628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02  URL 분석기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2E0DA8-2F53-4013-BF90-3B3EE6CDA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743325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상품·배송·관세 정보 추정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284C0C-9946-4A8B-9A71-7A8E74FEC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4552950"/>
            <a:ext cx="61912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판매처별 상품 정보 수집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이미지·검색 기반 포장 사양 추정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공개 세율을 이용한 예상 세금 계산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733A90-B866-4A31-ADD2-4B768966A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162800"/>
            <a:ext cx="1352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두 도구는 독립적으로 동작합니다. 플러그인의 실제 실행 경로는 일부 서비스에서 검증했습니다.</a:t>
            </a:r>
          </a:p>
        </p:txBody>
      </p:sp>
    </p:spTree>
    <p:extLst>
      <p:ext uri="{BB962C8B-B14F-4D97-AF65-F5344CB8AC3E}">
        <p14:creationId xmlns:p14="http://schemas.microsoft.com/office/powerpoint/2010/main" val="5814073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7C614E-3F82-4D5B-A4CE-107EBEF04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Codex 플러그인 구성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72BFA9-9071-4231-87A8-715CDA50E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다섯 개 skill이 작업 절차를 안내하고, Python helper가 계산과 상태를 관리합니다.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65CE9D-7C14-41E1-8C26-195EB1AC0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07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183669-6D46-444C-ABEA-798300754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조사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29E573-DC53-458A-B986-5E6CE5EDF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배송대행 비교</a:t>
            </a:r>
          </a:p>
        </p:txBody>
      </p:sp>
      <p:cxnSp>
        <p:nvCxnSpPr>
          <p:cNvPr id="25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105150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F0E10B-2701-4395-8837-7F599B74E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이커머스 구매</a:t>
            </a:r>
          </a:p>
        </p:txBody>
      </p:sp>
      <p:cxnSp>
        <p:nvCxnSpPr>
          <p:cNvPr id="27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915025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43A420-328D-4FEC-902D-D85FBC543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배송대행 신청</a:t>
            </a:r>
          </a:p>
        </p:txBody>
      </p:sp>
      <p:cxnSp>
        <p:nvCxnSpPr>
          <p:cNvPr id="29" name="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8724900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73B048-7A63-4039-8EBE-0B39347BF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58650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진행 추적</a:t>
            </a:r>
          </a:p>
        </p:txBody>
      </p:sp>
      <p:cxnSp>
        <p:nvCxnSpPr>
          <p:cNvPr id="31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11534775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34BDE8-0B4D-4234-97FD-545D971EC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05325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브라우저와 skills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ED361-7FC4-454C-BEC8-195429E39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505325"/>
            <a:ext cx="885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현재 상품·폼·완료 화면을 확인하고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AD7DE1-7033-4938-9306-DE226A036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67350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Python + SQLite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2D44EE-11E5-4F0D-B8F4-9CBFFDB0E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467350"/>
            <a:ext cx="885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승인 조건·실행 시도·견적·상태 기록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F98431-0E35-49D5-ABAC-B9D6B0325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429375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사용자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370CA5-AD6D-4E45-AAA7-40E984E2A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6429375"/>
            <a:ext cx="885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로그인·추가 인증·최종 구매 수행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A662DA-8E8E-44C7-95E9-822A67DA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24750"/>
            <a:ext cx="1352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현재 실행 검증: 라쿠텐 북스 구매·몰테일 신청. 다른 서비스로의 확대는 별도 구현이 필요합니다.</a:t>
            </a:r>
          </a:p>
        </p:txBody>
      </p:sp>
    </p:spTree>
    <p:extLst>
      <p:ext uri="{BB962C8B-B14F-4D97-AF65-F5344CB8AC3E}">
        <p14:creationId xmlns:p14="http://schemas.microsoft.com/office/powerpoint/2010/main" val="6564783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F622E8-CCF8-4755-822B-F67751AAB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Codex 플러그인 시험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77E4B9-A945-4B5F-99FB-553BB3AFC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첫 요청 1회 + 후속 입력 6회로 배송대행 접수까지 진행했습니다.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C0BC28-7FE1-4EEB-8AB0-7A72AF0F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08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C4BC91-A076-4411-8719-DE708FA1F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609850"/>
            <a:ext cx="5429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83E34"/>
          </a:solidFill>
          <a:ln xmlns:a="http://schemas.openxmlformats.org/drawingml/2006/main" w="19050">
            <a:solidFill>
              <a:srgbClr val="183E34"/>
            </a:solidFill>
          </a:ln>
        </p:spPr>
        <p:txBody>
          <a:bodyPr xmlns:a="http://schemas.openxmlformats.org/drawingml/2006/main" lIns="228600" tIns="114300" rIns="209550" bIns="114300" anchor="ctr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이 상품을 구매하고</a:t>
            </a:r>
          </a:p>
          <a:p xmlns:a="http://schemas.openxmlformats.org/drawingml/2006/main">
            <a:pPr>
              <a:def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배송대행 신청까지 진행해줘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C4309E-CC0D-47B6-B46E-E205806F6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857500"/>
            <a:ext cx="109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84D975-14B7-4D4C-A0BE-DD6AF4DA7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724275"/>
            <a:ext cx="5810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E34"/>
            </a:solidFill>
          </a:ln>
        </p:spPr>
        <p:txBody>
          <a:bodyPr xmlns:a="http://schemas.openxmlformats.org/drawingml/2006/main" lIns="228600" tIns="114300" rIns="209550" bIns="114300" anchor="ctr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상품·배송 조건 확인 후</a:t>
            </a:r>
          </a:p>
          <a:p xmlns:a="http://schemas.openxmlformats.org/drawingml/2006/main">
            <a:pPr>
              <a:def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로그인과 정보 입력 승인을 요청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4EA5FC-9821-40C0-9333-0E846E193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971925"/>
            <a:ext cx="109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에이전트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795481-70B1-4070-9D0C-F49A58BAC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838700"/>
            <a:ext cx="5429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83E34"/>
          </a:solidFill>
          <a:ln xmlns:a="http://schemas.openxmlformats.org/drawingml/2006/main" w="19050">
            <a:solidFill>
              <a:srgbClr val="183E34"/>
            </a:solidFill>
          </a:ln>
        </p:spPr>
        <p:txBody>
          <a:bodyPr xmlns:a="http://schemas.openxmlformats.org/drawingml/2006/main" lIns="228600" tIns="114300" rIns="209550" bIns="114300" anchor="ctr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로그인 완료 · 입력/제출 승인</a:t>
            </a:r>
          </a:p>
          <a:p xmlns:a="http://schemas.openxmlformats.org/drawingml/2006/main">
            <a:pPr>
              <a:def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구매/인증 완료 알림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9E823B-4883-44D4-8AD8-94903ED73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086350"/>
            <a:ext cx="109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A90B67-C69C-4211-AA4B-6D76A0D47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953125"/>
            <a:ext cx="5810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E34"/>
            </a:solidFill>
          </a:ln>
        </p:spPr>
        <p:txBody>
          <a:bodyPr xmlns:a="http://schemas.openxmlformats.org/drawingml/2006/main" lIns="228600" tIns="114300" rIns="209550" bIns="114300" anchor="ctr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주문 정보를 대조하고 신청서 작성</a:t>
            </a:r>
          </a:p>
          <a:p xmlns:a="http://schemas.openxmlformats.org/drawingml/2006/main">
            <a:pPr>
              <a:def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인증 후 같은 신청서로 접수 완료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B133CB-A9AB-49AA-BFB6-94453BADA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200775"/>
            <a:ext cx="109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에이전트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EDE6E7-0F49-47F8-B2C1-C7906294D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667000"/>
            <a:ext cx="438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실제 접수 결과</a:t>
            </a:r>
          </a:p>
        </p:txBody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8c41b441524723"/>
          <a:stretch xmlns:a="http://schemas.openxmlformats.org/drawingml/2006/main"/>
        </p:blipFill>
        <p:spPr>
          <a:xfrm xmlns:a="http://schemas.openxmlformats.org/drawingml/2006/main">
            <a:off x="9858375" y="3422061"/>
            <a:ext cx="4572000" cy="3633377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6E33A3-3292-4F4A-A444-A91F53FB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400925"/>
            <a:ext cx="1352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대화는 실제 기록의 요약입니다. 후속 입력은 로그인2회·승인2회·구매/인증 완료 알림2회입니다.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EEE6A5-D0C0-4039-8D7B-AFB3A0BF8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781925"/>
            <a:ext cx="1352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메시지 수 기준이며, 로그인·구매·인증 화면의 클릭과 입력 횟수는 별도로 측정하지 않았습니다.</a:t>
            </a:r>
          </a:p>
        </p:txBody>
      </p:sp>
    </p:spTree>
    <p:extLst>
      <p:ext uri="{BB962C8B-B14F-4D97-AF65-F5344CB8AC3E}">
        <p14:creationId xmlns:p14="http://schemas.microsoft.com/office/powerpoint/2010/main" val="19977996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1BC463-8BB3-40D6-A429-EE81D8225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 확인 후 일일 메일 추적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50F578-1C34-4413-8E58-0B6DF11D5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구매 완료가 확인되면 Codex scheduler에 하루 한 번의 추적 작업을 등록합니다.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91B4DF-02EC-450B-81FD-1D4D2EC80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09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51B909-54A3-41C3-95AA-7BD044E62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146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 완료 확인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033D1B-322A-4799-B9EB-9D406B38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7146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일일 scheduler 등록</a:t>
            </a:r>
          </a:p>
        </p:txBody>
      </p:sp>
      <p:cxnSp>
        <p:nvCxnSpPr>
          <p:cNvPr id="18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629150" y="314325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FEF7B9-7553-4DC5-A105-D03E071C6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7146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주문·배송 진행 추적</a:t>
            </a:r>
          </a:p>
        </p:txBody>
      </p:sp>
      <p:cxnSp>
        <p:nvCxnSpPr>
          <p:cNvPr id="20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9486900" y="314325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7F6075-7705-40DA-9D6B-0AE4E4B8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57650"/>
            <a:ext cx="4095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실제 주문 접수 근거 확인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배송대행 접수 전에도 시작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CEDCA9-A882-4D8A-9271-8019BA1C7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057650"/>
            <a:ext cx="4095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메일 단회 조회 후 등록</a:t>
            </a:r>
          </a:p>
          <a:p xmlns:a="http://schemas.openxmlformats.org/drawingml/2006/main">
            <a:pPr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기존 예약 ID가 있으면 재사용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13C545-B012-4DCD-BD67-95E657C2C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4057650"/>
            <a:ext cx="38862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주문·배송대행 메일 확인</a:t>
            </a:r>
          </a:p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발송·입고·출고·통관 상태 대조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7D9275-FA19-4AE0-AC08-CE5096A10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181725"/>
            <a:ext cx="135255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의미 있는 변경이나 사용자 조치가 필요할 때 알리고,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배송완료·취소가 확인되면 예약을 종료합니다.</a:t>
            </a:r>
          </a:p>
        </p:txBody>
      </p:sp>
    </p:spTree>
    <p:extLst>
      <p:ext uri="{BB962C8B-B14F-4D97-AF65-F5344CB8AC3E}">
        <p14:creationId xmlns:p14="http://schemas.microsoft.com/office/powerpoint/2010/main" val="99957243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D54C67-149C-461B-B36F-F2E406CE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URL 분석기 · 실행 화면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F62A97-611E-4780-857E-2A44E34E6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https://catalog.janghan.dev/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D770DD-491C-45F6-939E-1E8F33914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10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FE2721-CC25-4C3E-AD1F-5AEFBDC58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124075"/>
            <a:ext cx="5619750" cy="573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98ACA2"/>
            </a:solidFill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6b1be854324325"/>
          <a:stretch xmlns:a="http://schemas.openxmlformats.org/drawingml/2006/main"/>
        </p:blipFill>
        <p:spPr>
          <a:xfrm xmlns:a="http://schemas.openxmlformats.org/drawingml/2006/main">
            <a:off x="5059326" y="2238375"/>
            <a:ext cx="5121349" cy="55054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115995-CD4E-4ACE-9282-4A1EFA669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933700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URL 입력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F0D93B-6383-40F2-85AC-DFCA111EA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3676650"/>
            <a:ext cx="3333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링크 하나로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분석을 시작합니다.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78C2C6-1AD6-49FC-8D9B-CC5B0E76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810125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결과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262222-1D9F-4C9A-988F-72E630291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5562600"/>
            <a:ext cx="3333750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상품·배송·세금과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미확인 조건을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함께 표시합니다.</a:t>
            </a:r>
          </a:p>
        </p:txBody>
      </p:sp>
    </p:spTree>
    <p:extLst>
      <p:ext uri="{BB962C8B-B14F-4D97-AF65-F5344CB8AC3E}">
        <p14:creationId xmlns:p14="http://schemas.microsoft.com/office/powerpoint/2010/main" val="7557364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28FC16-50E8-40A7-9F98-CF4734749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URL 분석기의 처리 과정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E71BD6-A549-4DB3-A022-1F7126968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라쿠텐 이치바·북스와 메루카리의 상품 URL을 입력으로 사용합니다.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143D07-BA79-4F16-832B-41BE39E4B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11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6CDBE3-406C-4B83-96A2-77DF3AA3F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765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정보 수집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A179FB-80AE-4E5D-8720-9BF7189DE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6765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 정보 추정</a:t>
            </a:r>
          </a:p>
        </p:txBody>
      </p:sp>
      <p:cxnSp>
        <p:nvCxnSpPr>
          <p:cNvPr id="19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629150" y="310515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C6A0D9-6598-4AC3-B3D5-5076FB1BC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6765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관세 정보 추정</a:t>
            </a:r>
          </a:p>
        </p:txBody>
      </p:sp>
      <p:cxnSp>
        <p:nvCxnSpPr>
          <p:cNvPr id="21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9486900" y="310515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941AE7-8CF4-44E0-B5B8-58B17B349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52875"/>
            <a:ext cx="3810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API·HTML·브라우저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상품명·가격·판매 상태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BF2C24-963C-4CA8-9147-0F9D52E5A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952875"/>
            <a:ext cx="3810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이미지·제품명·검색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포장 무게·치수·운임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67D310-6BDF-49D6-B5AC-2290B460D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3952875"/>
            <a:ext cx="38862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HS·HSK 후보와 공개 세율</a:t>
            </a:r>
          </a:p>
          <a:p xmlns:a="http://schemas.openxmlformats.org/drawingml/2006/main">
            <a:pPr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환율·조건별 예상 세금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1CD27E-5301-44C7-B19A-5956678C3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172200"/>
            <a:ext cx="13525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실시간 진행 상태와 단계별 결과를 표시하고, 상세에서 출처와 추정 조건을 확인합니다.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A08C0F-B134-4B6E-87C1-C200EC8B6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439025"/>
            <a:ext cx="13525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수집값·모델 가정·미확인 항목을 구분하며, 입력 부족이나 조회 실패는 부분 결과로 남깁니다.</a:t>
            </a:r>
          </a:p>
        </p:txBody>
      </p:sp>
    </p:spTree>
    <p:extLst>
      <p:ext uri="{BB962C8B-B14F-4D97-AF65-F5344CB8AC3E}">
        <p14:creationId xmlns:p14="http://schemas.microsoft.com/office/powerpoint/2010/main" val="164801452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F22E74-4C60-4059-A86D-6863663D7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관세 실험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2FEE7B-2BB4-4FE7-94B0-B569B7832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동일한 항목으로 정리하되, 실제 URL 분석과 합성 계산 표본의 차이는 구분했습니다.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1E12B8-736B-4826-BCBA-F439BC3DA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12   윤장한 · 직구 조사와 도구 구현 · 2026.10.06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819150" y="2505075"/>
          <a:ext xmlns:a="http://schemas.openxmlformats.org/drawingml/2006/main" cx="13601700" cy="4619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33625"/>
                <a:gridCol w="5629275"/>
                <a:gridCol w="5638800"/>
              </a:tblGrid>
              <a:tr h="769938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항목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TCG 상품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주류(위스키)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769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검증 자료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메루카리 실제 판매글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2026-10-05 운영 분석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제조사 사양 + 합성 계산 입력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2026-09-30 저장 시험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9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분류·추출 결과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HSK 9504400000 후보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whisky 후보 · 700ml·43% 추출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병 수는 미확인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769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계산 조건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관측 판매가70,000JPY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기본관세8%·일반 부가세10% 가정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별도 합성 입력: $200·750ml 1병·40%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환율1,000원/$·운임0 가정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9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예상 세금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115,776 ~ 117,335원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353,696원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76993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확인한 범위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상품 분류→공개 세율→계산 연결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사양 추출과 계산 회귀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용량·병 수 경계 및 누락 입력 검사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C6DA90-5FDA-4057-BD5F-B6BF13B6C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05700"/>
            <a:ext cx="1352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실제 납부세액과 대조한 정확도 검증은 아닙니다. 주류의 사양 추출 표본과 산술 표본은 서로 다릅니다.</a:t>
            </a:r>
          </a:p>
        </p:txBody>
      </p:sp>
    </p:spTree>
    <p:extLst>
      <p:ext uri="{BB962C8B-B14F-4D97-AF65-F5344CB8AC3E}">
        <p14:creationId xmlns:p14="http://schemas.microsoft.com/office/powerpoint/2010/main" val="92431529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98FC11-7A89-49A1-9415-5F9E19910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도구 측면에서 남은 질문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29C6C6-C04B-4E2C-9E9A-15FCCB86F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이번 구현으로 확인하지 못한 범위입니다. 추가 개발·검증 일정은 잡지 않았습니다.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D757A2-D1DE-4E62-9238-78BE5328B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13   윤장한 · 직구 조사와 도구 구현 · 2026.10.06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819150" y="2724150"/>
          <a:ext xmlns:a="http://schemas.openxmlformats.org/drawingml/2006/main" cx="13601700" cy="33718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10458450"/>
              </a:tblGrid>
              <a:tr h="112395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영역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확인하지 못한 부분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추정 정확도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포장 치수·무게와 관세 추정이 실제 값과 얼마나 일치하는가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인형처럼 형태가 복잡한 상품도 적절한 포장 범위를 추정하는가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판매처 확대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라쿠텐·메루카리 밖의 사이트에서도 안정적으로 수집·파싱할 수 있는가</a:t>
                      </a:r>
                    </a:p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API가 없는 사이트의 화면 변경·접근 제한에 어떻게 대응할 것인가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52C7F5-31F3-4C29-991F-EC01E6684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686550"/>
            <a:ext cx="1352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라쿠텐은 API로 상품 정보를 가져왔습니다.</a:t>
            </a:r>
          </a:p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메루카리는 웹페이지를 크롤링하고 HTML을 파싱했습니다.</a:t>
            </a:r>
          </a:p>
        </p:txBody>
      </p:sp>
    </p:spTree>
    <p:extLst>
      <p:ext uri="{BB962C8B-B14F-4D97-AF65-F5344CB8AC3E}">
        <p14:creationId xmlns:p14="http://schemas.microsoft.com/office/powerpoint/2010/main" val="18139167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C63C29-76F4-44AD-ADEB-BD9632F6E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이번 경험과 구매대행 사업에 대한 질문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2E600B-0D89-4E68-BF92-D5DFC21BC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입력 과정의 간소화와 배송비의 경제성은 별도로 보게 됐습니다.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3D731C-2CB5-4D69-BFCD-7F7C7BC6B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14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DFC332-F1BB-4EF4-8C5B-215000E2E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28900"/>
            <a:ext cx="63341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이번 사례에서 느낀 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800A99-44AA-488C-AB63-8C1AB2F6D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76625"/>
            <a:ext cx="6334125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에이전트로 배송대행 정보 입력과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접수 확인을 간소화할 수 있었습니다.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소형·경량 상품1개에서는 직접구매의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비용 이점을 확인하지 못했습니다.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BB03F8-7A8C-4173-9A4C-2681FA82F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628900"/>
            <a:ext cx="63341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사업 측면에서 남은 질문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197609-2BCE-4884-9080-F157B6C38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476625"/>
            <a:ext cx="6334125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합배송으로 운송비를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얼마나 최적화할 수 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개별 발송과 합배송의 총비용을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포장·처리·보관 비용까지 비교해야 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2357C0-7EF6-4315-BDFC-32C00050F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591300"/>
            <a:ext cx="13525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10/6 확인 소계는 SAZO63,114원, 직접구매+tenso 약64,306원이었습니다.</a:t>
            </a:r>
          </a:p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 조건에서는 구매대행을 이용하는 편이 유리하다고 느꼈습니다.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8B0238-BB3C-4472-921F-DF5561BEB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639050"/>
            <a:ext cx="1352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운송·특전 등 조건 차이와 미확정 비용이 남아 있어 모든 소량 직구의 결론으로 일반화하지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209151726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FF3D43-F542-410E-9A75-2BD83D3F2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에이전트 커머스에 대한 생각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014A55-0516-4234-87DE-78D217F24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이번에는 브라우저를 통해 배송대행 정보를 입력했습니다.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4702E4-CE0C-4AEF-94F6-284D90686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15   윤장한 · 직구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A16573-233F-479C-8D51-A64FC701D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57475"/>
            <a:ext cx="1352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에이전트로 구매가 가능해지고, 배송대행 업체가 신청용 MCP 등을 제공한다면</a:t>
            </a:r>
          </a:p>
          <a:p xmlns:a="http://schemas.openxmlformats.org/drawingml/2006/main">
            <a:pPr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직구 과정 전체를 에이전트에 맡기는 흐름도 가능하지 않을까 생각했습니다.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B4BB0A-56B2-4CCD-AF43-CBAB5868C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5767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에이전트가 구매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ABD43A-1989-4E9C-B58A-F25E7ED25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25767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배송대행 MCP로 신청</a:t>
            </a:r>
          </a:p>
        </p:txBody>
      </p:sp>
      <p:cxnSp>
        <p:nvCxnSpPr>
          <p:cNvPr id="18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4629150" y="468630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88344C-3571-4F89-9787-092EB5362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425767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주문·배송·통관 추적</a:t>
            </a:r>
          </a:p>
        </p:txBody>
      </p:sp>
      <p:cxnSp>
        <p:nvCxnSpPr>
          <p:cNvPr id="20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9486900" y="468630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EA9E9D-C41B-43EB-84CF-A45D6C2EB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91175"/>
            <a:ext cx="135255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그때 사조 같은 구매대행 업체의 경쟁력은 구매 과정의 간편함뿐 아니라,</a:t>
            </a:r>
          </a:p>
          <a:p xmlns:a="http://schemas.openxmlformats.org/drawingml/2006/main">
            <a:pPr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합배송으로 비용을 조정하고 물류·검수·예외를 처리하는 노하우에</a:t>
            </a:r>
          </a:p>
          <a:p xmlns:a="http://schemas.openxmlformats.org/drawingml/2006/main">
            <a:pPr>
              <a:def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더 크게 남지 않을까 생각합니다.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4F6EEB-40DE-4581-B4E9-D63887851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486650"/>
            <a:ext cx="1352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공개 코드  github.com/y00nZZang/crossborder-purchase-agent  ·  github.com/y00nZZang/product-catalog</a:t>
            </a:r>
          </a:p>
        </p:txBody>
      </p:sp>
    </p:spTree>
    <p:extLst>
      <p:ext uri="{BB962C8B-B14F-4D97-AF65-F5344CB8AC3E}">
        <p14:creationId xmlns:p14="http://schemas.microsoft.com/office/powerpoint/2010/main" val="658660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2026-10-06T08:42:03.4680000Z</dcterms:created>
  <dcterms:modified xsi:type="dcterms:W3CDTF">2026-10-06T08:42:03.4680000Z</dcterms:modified>
</coreProperties>
</file>