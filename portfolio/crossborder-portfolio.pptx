
<file path=[Content_Types].xml><?xml version="1.0" encoding="utf-8"?>
<Types xmlns="http://schemas.openxmlformats.org/package/2006/content-types">
  <Default Extension="xml" ContentType="application/vnd.openxmlformats-package.core-properties+xml"/>
  <Default Extension="jpeg" ContentType="image/jpe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9daf15a9d6a44b69" /><Relationship Type="http://schemas.openxmlformats.org/officeDocument/2006/relationships/extended-properties" Target="/docProps/app.xml" Id="R529926d5c18e4f64" /><Relationship Type="http://schemas.openxmlformats.org/officeDocument/2006/relationships/officeDocument" Target="/ppt/presentation.xml" Id="R0a07767c752f4a0e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ad8a6779f1e44967"/>
  </p:sldMasterIdLst>
  <p:notesMasterIdLst>
    <p:notesMasterId xmlns:r="http://schemas.openxmlformats.org/officeDocument/2006/relationships" r:id="Re66d74b6ce18407b"/>
  </p:notesMasterIdLst>
  <p:sldIdLst>
    <p:sldId xmlns:r="http://schemas.openxmlformats.org/officeDocument/2006/relationships" id="256" r:id="R8b466ccba2b44cee"/>
    <p:sldId xmlns:r="http://schemas.openxmlformats.org/officeDocument/2006/relationships" id="257" r:id="R351d582ff7dc4433"/>
    <p:sldId xmlns:r="http://schemas.openxmlformats.org/officeDocument/2006/relationships" id="258" r:id="R250395586d3c4ec2"/>
    <p:sldId xmlns:r="http://schemas.openxmlformats.org/officeDocument/2006/relationships" id="259" r:id="Rf2ed4dc6729e4fb8"/>
    <p:sldId xmlns:r="http://schemas.openxmlformats.org/officeDocument/2006/relationships" id="260" r:id="Rb1afa4d48b4040eb"/>
    <p:sldId xmlns:r="http://schemas.openxmlformats.org/officeDocument/2006/relationships" id="261" r:id="Rcd72e8ed1cf34fcb"/>
    <p:sldId xmlns:r="http://schemas.openxmlformats.org/officeDocument/2006/relationships" id="262" r:id="R3ed6c5fac48b4430"/>
    <p:sldId xmlns:r="http://schemas.openxmlformats.org/officeDocument/2006/relationships" id="263" r:id="R1d85c9dca2e54b67"/>
    <p:sldId xmlns:r="http://schemas.openxmlformats.org/officeDocument/2006/relationships" id="264" r:id="R5d7b63fc76284acd"/>
    <p:sldId xmlns:r="http://schemas.openxmlformats.org/officeDocument/2006/relationships" id="265" r:id="R50539a2b91374dfe"/>
    <p:sldId xmlns:r="http://schemas.openxmlformats.org/officeDocument/2006/relationships" id="266" r:id="R67e5f2ce2f034873"/>
    <p:sldId xmlns:r="http://schemas.openxmlformats.org/officeDocument/2006/relationships" id="267" r:id="R8a98edd65a194c54"/>
    <p:sldId xmlns:r="http://schemas.openxmlformats.org/officeDocument/2006/relationships" id="268" r:id="R2e151335386b4809"/>
    <p:sldId xmlns:r="http://schemas.openxmlformats.org/officeDocument/2006/relationships" id="269" r:id="Rdcb44e1371bc4c91"/>
    <p:sldId xmlns:r="http://schemas.openxmlformats.org/officeDocument/2006/relationships" id="270" r:id="R7afbc7bb12804a58"/>
  </p:sldIdLst>
  <p:sldSz cx="15240000" cy="85725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fd414995b6394f63" /><Relationship Type="http://schemas.openxmlformats.org/officeDocument/2006/relationships/slideMaster" Target="/ppt/slideMasters/slideMaster1.xml" Id="Rad8a6779f1e44967" /><Relationship Type="http://schemas.openxmlformats.org/officeDocument/2006/relationships/notesMaster" Target="/ppt/notesMasters/notesMaster1.xml" Id="Re66d74b6ce18407b" /><Relationship Type="http://schemas.openxmlformats.org/officeDocument/2006/relationships/presProps" Target="/ppt/presProps.xml" Id="Rd5ea6ecdc7364a79" /><Relationship Type="http://schemas.openxmlformats.org/officeDocument/2006/relationships/tableStyles" Target="/ppt/tableStyles.xml" Id="Re0159c6ea0884970" /><Relationship Type="http://schemas.openxmlformats.org/officeDocument/2006/relationships/slide" Target="/ppt/slides/slide1.xml" Id="R8b466ccba2b44cee" /><Relationship Type="http://schemas.openxmlformats.org/officeDocument/2006/relationships/slide" Target="/ppt/slides/slide2.xml" Id="R351d582ff7dc4433" /><Relationship Type="http://schemas.openxmlformats.org/officeDocument/2006/relationships/slide" Target="/ppt/slides/slide3.xml" Id="R250395586d3c4ec2" /><Relationship Type="http://schemas.openxmlformats.org/officeDocument/2006/relationships/slide" Target="/ppt/slides/slide4.xml" Id="Rf2ed4dc6729e4fb8" /><Relationship Type="http://schemas.openxmlformats.org/officeDocument/2006/relationships/slide" Target="/ppt/slides/slide5.xml" Id="Rb1afa4d48b4040eb" /><Relationship Type="http://schemas.openxmlformats.org/officeDocument/2006/relationships/slide" Target="/ppt/slides/slide6.xml" Id="Rcd72e8ed1cf34fcb" /><Relationship Type="http://schemas.openxmlformats.org/officeDocument/2006/relationships/slide" Target="/ppt/slides/slide7.xml" Id="R3ed6c5fac48b4430" /><Relationship Type="http://schemas.openxmlformats.org/officeDocument/2006/relationships/slide" Target="/ppt/slides/slide8.xml" Id="R1d85c9dca2e54b67" /><Relationship Type="http://schemas.openxmlformats.org/officeDocument/2006/relationships/slide" Target="/ppt/slides/slide9.xml" Id="R5d7b63fc76284acd" /><Relationship Type="http://schemas.openxmlformats.org/officeDocument/2006/relationships/slide" Target="/ppt/slides/slide10.xml" Id="R50539a2b91374dfe" /><Relationship Type="http://schemas.openxmlformats.org/officeDocument/2006/relationships/slide" Target="/ppt/slides/slide11.xml" Id="R67e5f2ce2f034873" /><Relationship Type="http://schemas.openxmlformats.org/officeDocument/2006/relationships/slide" Target="/ppt/slides/slide12.xml" Id="R8a98edd65a194c54" /><Relationship Type="http://schemas.openxmlformats.org/officeDocument/2006/relationships/slide" Target="/ppt/slides/slide13.xml" Id="R2e151335386b4809" /><Relationship Type="http://schemas.openxmlformats.org/officeDocument/2006/relationships/slide" Target="/ppt/slides/slide14.xml" Id="Rdcb44e1371bc4c91" /><Relationship Type="http://schemas.openxmlformats.org/officeDocument/2006/relationships/slide" Target="/ppt/slides/slide15.xml" Id="R7afbc7bb12804a58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db6ae236ce5744d7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edaf078bd6b6472b" /><Relationship Type="http://schemas.openxmlformats.org/officeDocument/2006/relationships/notesMaster" Target="/ppt/notesMasters/notesMaster1.xml" Id="R0713fd19467045d5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38693ed8bd4a42f2" /><Relationship Type="http://schemas.openxmlformats.org/officeDocument/2006/relationships/notesMaster" Target="/ppt/notesMasters/notesMaster1.xml" Id="R8bad26750401464c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5c49d6bd4ee54c7f" /><Relationship Type="http://schemas.openxmlformats.org/officeDocument/2006/relationships/notesMaster" Target="/ppt/notesMasters/notesMaster1.xml" Id="R7885db88907c4eee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d857d38a682b40a0" /><Relationship Type="http://schemas.openxmlformats.org/officeDocument/2006/relationships/notesMaster" Target="/ppt/notesMasters/notesMaster1.xml" Id="R3e9b6d9cc0374fb8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4bfff6c604db4782" /><Relationship Type="http://schemas.openxmlformats.org/officeDocument/2006/relationships/notesMaster" Target="/ppt/notesMasters/notesMaster1.xml" Id="Ra6bce8b0c7fc4ec0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e3f56ad22f244855" /><Relationship Type="http://schemas.openxmlformats.org/officeDocument/2006/relationships/notesMaster" Target="/ppt/notesMasters/notesMaster1.xml" Id="R1e6bed77a1174b2d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6407f3766cd9431f" /><Relationship Type="http://schemas.openxmlformats.org/officeDocument/2006/relationships/notesMaster" Target="/ppt/notesMasters/notesMaster1.xml" Id="Rf4efc1dcf3d54228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bee713cf000941e1" /><Relationship Type="http://schemas.openxmlformats.org/officeDocument/2006/relationships/notesMaster" Target="/ppt/notesMasters/notesMaster1.xml" Id="Rcc53bf0ccc66413f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2d134abd1e3d4f45" /><Relationship Type="http://schemas.openxmlformats.org/officeDocument/2006/relationships/notesMaster" Target="/ppt/notesMasters/notesMaster1.xml" Id="Rdd2e4531ae594bac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5890324afd4c4383" /><Relationship Type="http://schemas.openxmlformats.org/officeDocument/2006/relationships/notesMaster" Target="/ppt/notesMasters/notesMaster1.xml" Id="R9c339da71f314367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bfef9f1db5e04216" /><Relationship Type="http://schemas.openxmlformats.org/officeDocument/2006/relationships/notesMaster" Target="/ppt/notesMasters/notesMaster1.xml" Id="R08b0eb54e44c4a69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834e463494be4ddf" /><Relationship Type="http://schemas.openxmlformats.org/officeDocument/2006/relationships/notesMaster" Target="/ppt/notesMasters/notesMaster1.xml" Id="R8c7cfd08937d4bfc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4b7e19c1a7a04ac3" /><Relationship Type="http://schemas.openxmlformats.org/officeDocument/2006/relationships/notesMaster" Target="/ppt/notesMasters/notesMaster1.xml" Id="R36477b88472f470e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c86b196af5a54f16" /><Relationship Type="http://schemas.openxmlformats.org/officeDocument/2006/relationships/notesMaster" Target="/ppt/notesMasters/notesMaster1.xml" Id="R0ffeb8f6a72f4d39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ce8af8baee6e42aa" /><Relationship Type="http://schemas.openxmlformats.org/officeDocument/2006/relationships/notesMaster" Target="/ppt/notesMasters/notesMaster1.xml" Id="R128c1c89ecf94c77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개인 프로젝트. 기획·조사·검증과 도구 구현에 Codex 사용. 관측과 테스트 결과는 2026-10-05 기준, 문서 개정 2026-10-06.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https://github.com/y00nZZang/crossborder-purchase-agent/blob/main/docs/design.md ; https://github.com/y00nZZang/product-catalog/blob/main/README.md . 통관은 추적·비용 추정의 관심 범위이며 실제 통관 완료는 미검증.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https://github.com/y00nZZang/crossborder-purchase-agent/blob/main/docs/experience-notes.md ; https://github.com/y00nZZang/crossborder-purchase-agent/blob/main/docs/experiment.md . 특정 개인 경험이며 모든 해외 사용자에 대한 현행 정책 단정 아님.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https://github.com/y00nZZang/crossborder-purchase-agent/blob/main/docs/route-comparison.md ; https://www.tenso.com/jp/estimate ; https://www.worldshopping.global/simulator/ ; https://books.rakuten.co.jp/rb/18584086/ . SAZO 사용자 제공 캡처, 세부 운송·특전 조건 미확인.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https://github.com/y00nZZang/crossborder-purchase-agent/blob/main/docs/experience-notes.md ; https://github.com/y00nZZang/crossborder-purchase-agent/blob/main/docs/route-comparison.md . 사용자 체감과 합배송 가설. 실제 합배송 실측·절감액 미검증.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https://github.com/y00nZZang/crossborder-purchase-agent/blob/main/README.md ; https://github.com/y00nZZang/product-catalog/blob/main/README.md . 플러그인 실제 검증 경로는 라쿠텐 북스·몰테일. 일반 명칭은 역할 설명이며 범용 사이트 지원 의미 아님.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https://github.com/y00nZZang/crossborder-purchase-agent/tree/main/plugin ; https://github.com/y00nZZang/crossborder-purchase-agent/blob/main/docs/design.md . 실제 구현 어댑터 라쿠텐 북스·몰테일.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https://github.com/y00nZZang/crossborder-purchase-agent/blob/main/docs/interaction-count.md ; https://github.com/y00nZZang/crossborder-purchase-agent/blob/main/docs/experiment.md . 2026-10-05 실험 전체 7개 사용자 메시지 대조. 대화 횟수이며 브라우저 클릭/입력 횟수와 다름.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https://github.com/y00nZZang/crossborder-purchase-agent/blob/main/plugin/skills/crossborder-track-delivery/SKILL.md ; https://github.com/y00nZZang/crossborder-purchase-agent/blob/main/docs/daily-tracking.md . 2026-10-06 v0.1.1 동작 변경. 실거래 당시 동작과 구분.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https://github.com/y00nZZang/product-catalog/blob/main/docs/verification.md ; https://catalog.janghan.dev/ . 2026-10-06 캡처, 10/5 저장 관측 결과. 동일 페이지의 입력·결과 영역을 나누어 배치.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https://github.com/y00nZZang/product-catalog/blob/main/README.md ; https://github.com/y00nZZang/product-catalog/blob/main/docs/architecture.md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https://github.com/y00nZZang/product-catalog/blob/main/docs/alcohol-test-evidence.md ; https://github.com/y00nZZang/product-catalog/blob/main/docs/verification.md . TCG 10/5 운영 결과. 주류 9/30 제조사 사양 LLM1회와 오프라인 회귀.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https://github.com/y00nZZang/product-catalog/blob/main/docs/verification.md ; https://careers.mercari.com/mercan/articles/47692/ . 2024-11-15 공식 인터뷰의 해외 파트너 API 시스템 연동 사례. 이 프로젝트의 접근 권한 획득/사용 의미 아님.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https://github.com/y00nZZang/crossborder-purchase-agent/blob/main/docs/route-comparison.md ; https://github.com/y00nZZang/crossborder-purchase-agent/blob/main/docs/interaction-count.md . SAZO와 직접구매의 조건 차이가 남는 단일 부분 견적.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https://github.com/y00nZZang/crossborder-purchase-agent/blob/main/docs/closing-perspective.md . 사용자 의견·미래 가정이며 현재 제공되는 MCP나 사업 경쟁력의 검증 결과가 아님.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2ae5eb065954e4a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b0720e037fc7420e" /><Relationship Type="http://schemas.openxmlformats.org/officeDocument/2006/relationships/slideLayout" Target="/ppt/slideLayouts/slideLayout1.xml" Id="R7a8e6f2d8f44499a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7a8e6f2d8f44499a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dbfe0332daa4d9e" /><Relationship Type="http://schemas.openxmlformats.org/officeDocument/2006/relationships/notesSlide" Target="/ppt/notesSlides/notesSlide1.xml" Id="Ra58fbcd3b122420b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dbb92da70cd4565" /><Relationship Type="http://schemas.openxmlformats.org/officeDocument/2006/relationships/notesSlide" Target="/ppt/notesSlides/notesSlide2.xml" Id="Ra55b58dbe09e49bf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a6d6e311ba34b4c" /><Relationship Type="http://schemas.openxmlformats.org/officeDocument/2006/relationships/notesSlide" Target="/ppt/notesSlides/notesSlide3.xml" Id="R84b5525c33db417c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3ac0345c4174d37" /><Relationship Type="http://schemas.openxmlformats.org/officeDocument/2006/relationships/notesSlide" Target="/ppt/notesSlides/notesSlide4.xml" Id="R521453827a814fd7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732a4792f1c47a2" /><Relationship Type="http://schemas.openxmlformats.org/officeDocument/2006/relationships/notesSlide" Target="/ppt/notesSlides/notesSlide5.xml" Id="Ra0f217b3f5744ba2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4ff5e966ea74c07" /><Relationship Type="http://schemas.openxmlformats.org/officeDocument/2006/relationships/notesSlide" Target="/ppt/notesSlides/notesSlide6.xml" Id="R4b9f43f3a83b4d88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e36beebe9bd4900" /><Relationship Type="http://schemas.openxmlformats.org/officeDocument/2006/relationships/notesSlide" Target="/ppt/notesSlides/notesSlide7.xml" Id="Rfd521b59a39d4e9e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53f957ba9b647be" /><Relationship Type="http://schemas.openxmlformats.org/officeDocument/2006/relationships/image" Target="/ppt/media/image.jpeg" Id="Re63828790903424e" /><Relationship Type="http://schemas.openxmlformats.org/officeDocument/2006/relationships/notesSlide" Target="/ppt/notesSlides/notesSlide8.xml" Id="R30fcada2feb24dc8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2f18c641edd4fcd" /><Relationship Type="http://schemas.openxmlformats.org/officeDocument/2006/relationships/notesSlide" Target="/ppt/notesSlides/notesSlide9.xml" Id="R90ef503235ee457f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b6b4c3398f74608" /><Relationship Type="http://schemas.openxmlformats.org/officeDocument/2006/relationships/image" Target="/ppt/media/image2.jpeg" Id="R78c7359b2722432e" /><Relationship Type="http://schemas.openxmlformats.org/officeDocument/2006/relationships/image" Target="/ppt/media/image3.jpeg" Id="R2bba87df5957485c" /><Relationship Type="http://schemas.openxmlformats.org/officeDocument/2006/relationships/notesSlide" Target="/ppt/notesSlides/notesSlide10.xml" Id="Rfd17c092bc354ec1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fc9ced0b65f46e5" /><Relationship Type="http://schemas.openxmlformats.org/officeDocument/2006/relationships/notesSlide" Target="/ppt/notesSlides/notesSlide11.xml" Id="R4797c4a0280640d9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d84d4fa57154fe3" /><Relationship Type="http://schemas.openxmlformats.org/officeDocument/2006/relationships/notesSlide" Target="/ppt/notesSlides/notesSlide12.xml" Id="R754b880a7bbf4920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8cf091814214db1" /><Relationship Type="http://schemas.openxmlformats.org/officeDocument/2006/relationships/notesSlide" Target="/ppt/notesSlides/notesSlide13.xml" Id="Rdc80360522ab45f2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8a97d2315ba4ed4" /><Relationship Type="http://schemas.openxmlformats.org/officeDocument/2006/relationships/notesSlide" Target="/ppt/notesSlides/notesSlide14.xml" Id="R4a632c7b906a4e37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7cf4b6908b14493" /><Relationship Type="http://schemas.openxmlformats.org/officeDocument/2006/relationships/notesSlide" Target="/ppt/notesSlides/notesSlide15.xml" Id="Rc9090903889e474b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43F3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1E2D394-5817-494E-B2F6-B2B27495BE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609600"/>
            <a:ext cx="136207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66EA3CD-D2D1-4832-9681-67EDDA0C70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8058150"/>
            <a:ext cx="13620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rPr>
              <a:t>01   윤장한 · 직구 조사와 도구 구현 · 2026.10.06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37BD8AA-D88B-44AD-BA94-112E8121ED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028700"/>
            <a:ext cx="13335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B8D9C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0">
                <a:solidFill>
                  <a:srgbClr val="B8D9C9"/>
                </a:solidFill>
                <a:latin typeface="Apple SD Gothic Neo"/>
                <a:ea typeface="Apple SD Gothic Neo"/>
                <a:cs typeface="Apple SD Gothic Neo"/>
              </a:rPr>
              <a:t>개인 프로젝트 · 윤장한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03C889F-601B-4B80-889A-592E5234A7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771775"/>
            <a:ext cx="13430250" cy="1952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510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510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직구 과정 조사와</a:t>
            </a:r>
          </a:p>
          <a:p xmlns:a="http://schemas.openxmlformats.org/drawingml/2006/main">
            <a:pPr>
              <a:defRPr sz="510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510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두 가지 도구 구현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03937C7-6345-42AF-9435-F75962ADD1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772150"/>
            <a:ext cx="13335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700" b="0">
                <a:solidFill>
                  <a:srgbClr val="D8E7D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700" b="0">
                <a:solidFill>
                  <a:srgbClr val="D8E7DE"/>
                </a:solidFill>
                <a:latin typeface="Apple SD Gothic Neo"/>
                <a:ea typeface="Apple SD Gothic Neo"/>
                <a:cs typeface="Apple SD Gothic Neo"/>
              </a:rPr>
              <a:t>Codex 플러그인 · 상품 URL 분석기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D063543-1FFE-4EA6-8248-AB8B226F3E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934200"/>
            <a:ext cx="13335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B8D9C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B8D9C9"/>
                </a:solidFill>
                <a:latin typeface="Apple SD Gothic Neo"/>
                <a:ea typeface="Apple SD Gothic Neo"/>
                <a:cs typeface="Apple SD Gothic Neo"/>
              </a:rPr>
              <a:t>검증 질문, 관찰한 내용, 구현과 시험 결과</a:t>
            </a:r>
          </a:p>
        </p:txBody>
      </p:sp>
    </p:spTree>
    <p:extLst>
      <p:ext uri="{BB962C8B-B14F-4D97-AF65-F5344CB8AC3E}">
        <p14:creationId xmlns:p14="http://schemas.microsoft.com/office/powerpoint/2010/main" val="1006096488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8F8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0EDCC25-F2FF-4E94-B058-4B0DEE63CE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609600"/>
            <a:ext cx="136207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36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6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검증하고자 한 내용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1D7B011-4526-4582-A5CE-8ED630B327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533525"/>
            <a:ext cx="135255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rPr>
              <a:t>직접 구매 과정과, 해외 사이트 결제 이후에 추가되는 비용을 살펴봤습니다.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2E67FD1-B721-4593-94C5-2AC3AAF9FE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8058150"/>
            <a:ext cx="13620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rPr>
              <a:t>02   윤장한 · 직구 조사와 도구 구현 · 2026.10.06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1736CEE-4F54-4915-9873-11869E90D9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705100"/>
            <a:ext cx="6191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156E58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850" b="1">
                <a:solidFill>
                  <a:srgbClr val="156E58"/>
                </a:solidFill>
                <a:latin typeface="Apple SD Gothic Neo"/>
                <a:ea typeface="Apple SD Gothic Neo"/>
                <a:cs typeface="Apple SD Gothic Neo"/>
              </a:rPr>
              <a:t>구매 과정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2DCC701-EAA4-43B1-8FC4-9086BE820E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562350"/>
            <a:ext cx="6191250" cy="1619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77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77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개인이 에이전트의 도움을 받아</a:t>
            </a:r>
          </a:p>
          <a:p xmlns:a="http://schemas.openxmlformats.org/drawingml/2006/main">
            <a:pPr>
              <a:defRPr sz="277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77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상품 조사·주문·배송신청·통관을</a:t>
            </a:r>
          </a:p>
          <a:p xmlns:a="http://schemas.openxmlformats.org/drawingml/2006/main">
            <a:pPr>
              <a:defRPr sz="277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77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어디까지 진행할 수 있는가?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06464F4-68CD-42C6-A040-259219A7FB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2705100"/>
            <a:ext cx="6191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156E58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850" b="1">
                <a:solidFill>
                  <a:srgbClr val="156E58"/>
                </a:solidFill>
                <a:latin typeface="Apple SD Gothic Neo"/>
                <a:ea typeface="Apple SD Gothic Neo"/>
                <a:cs typeface="Apple SD Gothic Neo"/>
              </a:rPr>
              <a:t>구매 전 정보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A1ED267-9446-4394-9195-04898BB37C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3562350"/>
            <a:ext cx="6286500" cy="1619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70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70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해외 사이트에서 구매한 뒤</a:t>
            </a:r>
          </a:p>
          <a:p xmlns:a="http://schemas.openxmlformats.org/drawingml/2006/main">
            <a:pPr>
              <a:defRPr sz="270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70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추가로 발생하는 국제운송비와 관세를</a:t>
            </a:r>
          </a:p>
          <a:p xmlns:a="http://schemas.openxmlformats.org/drawingml/2006/main">
            <a:pPr>
              <a:defRPr sz="270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70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어떻게 추정할 수 있을까?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BCCF681-4AE2-43EA-BF66-0AE6B05B3A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6762750"/>
            <a:ext cx="135255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rPr>
              <a:t>실제 시험은 주문 확인·배송대행 접수까지 진행했습니다. 통관 완료는 아직 관측하지 않았습니다.</a:t>
            </a:r>
          </a:p>
        </p:txBody>
      </p:sp>
    </p:spTree>
    <p:extLst>
      <p:ext uri="{BB962C8B-B14F-4D97-AF65-F5344CB8AC3E}">
        <p14:creationId xmlns:p14="http://schemas.microsoft.com/office/powerpoint/2010/main" val="120576730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8F8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D94ABEB-A1CB-4EC5-84D4-6FAC4EA19B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609600"/>
            <a:ext cx="136207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36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6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직구 과정에서 확인한 불편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D537B2B-A8EA-482E-9B5C-32CEA48D72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533525"/>
            <a:ext cx="135255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rPr>
              <a:t>가격을 비교하는 것 외에도 가입·인증·입력과 확인이 필요했습니다.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D5F82DB-F4CF-4292-93C3-32AD26F2CA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8058150"/>
            <a:ext cx="13620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rPr>
              <a:t>03   윤장한 · 직구 조사와 도구 구현 · 2026.10.06</a:t>
            </a:r>
          </a:p>
        </p:txBody>
      </p:sp>
      <p:graphicFrame>
        <p:nvGraphicFramePr>
          <p:cNvPr id="9" name=""/>
          <p:cNvGraphicFramePr/>
          <p:nvPr/>
        </p:nvGraphicFramePr>
        <p:xfrm>
          <a:off xmlns:a="http://schemas.openxmlformats.org/drawingml/2006/main" x="819150" y="2667000"/>
          <a:ext xmlns:a="http://schemas.openxmlformats.org/drawingml/2006/main" cx="13601700" cy="40957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952750"/>
                <a:gridCol w="10648950"/>
              </a:tblGrid>
              <a:tr h="819150">
                <a:tc>
                  <a:txBody>
                    <a:bodyPr/>
                    <a:lstStyle/>
                    <a:p>
                      <a:r>
                        <a:rPr sz="1950" b="1">
                          <a:solidFill>
                            <a:srgbClr val="FFFFFF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과정</a:t>
                      </a:r>
                    </a:p>
                  </a:txBody>
                  <a:tcPr marL="91440" marR="91440" marT="45720" marB="45720">
                    <a:solidFill>
                      <a:srgbClr val="182C2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1">
                          <a:solidFill>
                            <a:srgbClr val="FFFFFF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겪거나 확인한 내용</a:t>
                      </a:r>
                    </a:p>
                  </a:txBody>
                  <a:tcPr marL="91440" marR="91440" marT="45720" marB="45720">
                    <a:solidFill>
                      <a:srgbClr val="182C29"/>
                    </a:solidFill>
                  </a:tcPr>
                </a:tc>
              </a:tr>
              <a:tr h="819150"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가입·이용 준비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메루카리는 해외 거주자로 직접 가입·구매하기 어려웠음</a:t>
                      </a:r>
                    </a:p>
                    <a:p>
                      <a:r>
                        <a:rPr sz="2025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tenso는 주소 증빙 보완·재제출 과정이 번거롭게 느껴졌음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819150"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비용 비교</a:t>
                      </a:r>
                    </a:p>
                  </a:txBody>
                  <a:tcPr marL="91440" marR="91440" marT="45720" marB="45720">
                    <a:solidFill>
                      <a:srgbClr val="F8F8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포장 규격·무게가 없고 운임·수수료 조건이 달라 비교가 어려웠음</a:t>
                      </a:r>
                    </a:p>
                  </a:txBody>
                  <a:tcPr marL="91440" marR="91440" marT="45720" marB="45720">
                    <a:solidFill>
                      <a:srgbClr val="F8F8F3"/>
                    </a:solidFill>
                  </a:tcPr>
                </a:tc>
              </a:tr>
              <a:tr h="819150"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주문·배송신청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이커머스와 배송대행 사이트에 정보를 옮기고 접수 결과를 대조해야 했음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819150"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진행 확인</a:t>
                      </a:r>
                    </a:p>
                  </a:txBody>
                  <a:tcPr marL="91440" marR="91440" marT="45720" marB="45720">
                    <a:solidFill>
                      <a:srgbClr val="F8F8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인증을 마친 뒤 재개하거나 메일·사이트에서 다음 상태를 확인해야 했음</a:t>
                      </a:r>
                    </a:p>
                  </a:txBody>
                  <a:tcPr marL="91440" marR="91440" marT="45720" marB="45720">
                    <a:solidFill>
                      <a:srgbClr val="F8F8F3"/>
                    </a:solidFill>
                  </a:tcPr>
                </a:tc>
              </a:tr>
            </a:tbl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E62041B-0FF6-4A66-B6C3-FBD6F5FCB5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7277100"/>
            <a:ext cx="13525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이번 직접 구매 시험은 라쿠텐 북스와 몰테일 경로로 진행했습니다.</a:t>
            </a:r>
          </a:p>
        </p:txBody>
      </p:sp>
    </p:spTree>
    <p:extLst>
      <p:ext uri="{BB962C8B-B14F-4D97-AF65-F5344CB8AC3E}">
        <p14:creationId xmlns:p14="http://schemas.microsoft.com/office/powerpoint/2010/main" val="1621930168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8F8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EDDE0B0-D2A6-42A2-957B-319968D2A5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609600"/>
            <a:ext cx="136207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36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6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구매 경로별 부분 견적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6A27F29-43B4-4596-80A0-F1C53A0BBC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533525"/>
            <a:ext cx="135255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rPr>
              <a:t>2026-09-21 · 영상 매체(Blu-ray) 1개를 기준으로 조사했습니다.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011F222-653B-4B89-A07F-3388D739ED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8058150"/>
            <a:ext cx="13620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rPr>
              <a:t>04   윤장한 · 직구 조사와 도구 구현 · 2026.10.06</a:t>
            </a:r>
          </a:p>
        </p:txBody>
      </p:sp>
      <p:graphicFrame>
        <p:nvGraphicFramePr>
          <p:cNvPr id="10" name=""/>
          <p:cNvGraphicFramePr/>
          <p:nvPr/>
        </p:nvGraphicFramePr>
        <p:xfrm>
          <a:off xmlns:a="http://schemas.openxmlformats.org/drawingml/2006/main" x="819150" y="2686050"/>
          <a:ext xmlns:a="http://schemas.openxmlformats.org/drawingml/2006/main" cx="13601700" cy="36195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5048250"/>
                <a:gridCol w="2762250"/>
                <a:gridCol w="5791200"/>
              </a:tblGrid>
              <a:tr h="723900">
                <a:tc>
                  <a:txBody>
                    <a:bodyPr/>
                    <a:lstStyle/>
                    <a:p>
                      <a:r>
                        <a:rPr sz="1950" b="1">
                          <a:solidFill>
                            <a:srgbClr val="FFFFFF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경로</a:t>
                      </a:r>
                    </a:p>
                  </a:txBody>
                  <a:tcPr marL="91440" marR="91440" marT="45720" marB="45720">
                    <a:solidFill>
                      <a:srgbClr val="182C2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1">
                          <a:solidFill>
                            <a:srgbClr val="FFFFFF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확인 비용 합계</a:t>
                      </a:r>
                    </a:p>
                  </a:txBody>
                  <a:tcPr marL="91440" marR="91440" marT="45720" marB="45720">
                    <a:solidFill>
                      <a:srgbClr val="182C2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1">
                          <a:solidFill>
                            <a:srgbClr val="FFFFFF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조건</a:t>
                      </a:r>
                    </a:p>
                  </a:txBody>
                  <a:tcPr marL="91440" marR="91440" marT="45720" marB="45720">
                    <a:solidFill>
                      <a:srgbClr val="182C29"/>
                    </a:solidFill>
                  </a:tcPr>
                </a:tc>
              </a:tr>
              <a:tr h="723900"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SAZO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약 7,228엔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63,878원 환산 · 세부 조건 미확인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723900"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라쿠텐 북스 + tenso EMS</a:t>
                      </a:r>
                    </a:p>
                  </a:txBody>
                  <a:tcPr marL="91440" marR="91440" marT="45720" marB="45720">
                    <a:solidFill>
                      <a:srgbClr val="F8F8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7,472엔</a:t>
                      </a:r>
                    </a:p>
                  </a:txBody>
                  <a:tcPr marL="91440" marR="91440" marT="45720" marB="45720">
                    <a:solidFill>
                      <a:srgbClr val="F8F8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250g · 19×14×2cm 가정</a:t>
                      </a:r>
                    </a:p>
                  </a:txBody>
                  <a:tcPr marL="91440" marR="91440" marT="45720" marB="45720">
                    <a:solidFill>
                      <a:srgbClr val="F8F8F3"/>
                    </a:solidFill>
                  </a:tcPr>
                </a:tc>
              </a:tr>
              <a:tr h="723900"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공식 스토어 + EMS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약 7,821엔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69,112원 환산 · 특전 차이 가능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723900"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라쿠텐 북스 + WorldShopping EMS</a:t>
                      </a:r>
                    </a:p>
                  </a:txBody>
                  <a:tcPr marL="91440" marR="91440" marT="45720" marB="45720">
                    <a:solidFill>
                      <a:srgbClr val="F8F8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8,189엔</a:t>
                      </a:r>
                    </a:p>
                  </a:txBody>
                  <a:tcPr marL="91440" marR="91440" marT="45720" marB="45720">
                    <a:solidFill>
                      <a:srgbClr val="F8F8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250g 가정 · 대행료 포함</a:t>
                      </a:r>
                    </a:p>
                  </a:txBody>
                  <a:tcPr marL="91440" marR="91440" marT="45720" marB="45720">
                    <a:solidFill>
                      <a:srgbClr val="F8F8F3"/>
                    </a:solidFill>
                  </a:tcPr>
                </a:tc>
              </a:tr>
            </a:tbl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4038E80-96EB-4567-97BD-CBF20A3B30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6762750"/>
            <a:ext cx="13430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비교 시 비용 합계뿐 아니라 포장·운송·특전 조건도 함께 확인해야 했습니다.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A7F7811-949B-4C38-9968-C7AAFAADB9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7553325"/>
            <a:ext cx="13525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rPr>
              <a:t>100엔=883.7원으로 환산. 당시 부분 견적이며 실측·카드 비용·세금 등은 미확정입니다.</a:t>
            </a:r>
          </a:p>
        </p:txBody>
      </p:sp>
    </p:spTree>
    <p:extLst>
      <p:ext uri="{BB962C8B-B14F-4D97-AF65-F5344CB8AC3E}">
        <p14:creationId xmlns:p14="http://schemas.microsoft.com/office/powerpoint/2010/main" val="1397717864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8F8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FB471D5-C6C2-44F4-BFED-03E16A5441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609600"/>
            <a:ext cx="136207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36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6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소량 구매의 배송비에 대한 생각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D397AF0-0D3A-418C-86C7-EBA6239FD9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533525"/>
            <a:ext cx="135255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rPr>
              <a:t>작고 가벼운 상품을 한 개 구매할 때 배송비의 부담이 크게 느껴졌습니다.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61AEB6C-701D-443E-9994-19B21697D0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8058150"/>
            <a:ext cx="13620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rPr>
              <a:t>05   윤장한 · 직구 조사와 도구 구현 · 2026.10.06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514B6D9-5D74-4A92-85CF-2717841229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647950"/>
            <a:ext cx="6286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775" b="1">
                <a:solidFill>
                  <a:srgbClr val="156E58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775" b="1">
                <a:solidFill>
                  <a:srgbClr val="156E58"/>
                </a:solidFill>
                <a:latin typeface="Apple SD Gothic Neo"/>
                <a:ea typeface="Apple SD Gothic Neo"/>
                <a:cs typeface="Apple SD Gothic Neo"/>
              </a:rPr>
              <a:t>관찰과 체감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17D9096-C936-4D25-BF2D-1244B87694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590925"/>
            <a:ext cx="62865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40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40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최소 과금 구간에 해당하는 소형 상품은</a:t>
            </a:r>
          </a:p>
          <a:p xmlns:a="http://schemas.openxmlformats.org/drawingml/2006/main">
            <a:pPr>
              <a:defRPr sz="240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40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무게가 더 작아도 배송비가 비례해서</a:t>
            </a:r>
          </a:p>
          <a:p xmlns:a="http://schemas.openxmlformats.org/drawingml/2006/main">
            <a:pPr>
              <a:defRPr sz="240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40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줄지는 않을 수 있다고 생각했습니다.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26A635D-B9AB-4A50-8F94-DBE404AE83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657850"/>
            <a:ext cx="62865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단품 구매에서는 상품 크기에 비해</a:t>
            </a:r>
          </a:p>
          <a:p xmlns:a="http://schemas.openxmlformats.org/drawingml/2006/main">
            <a:pPr>
              <a:defRPr sz="225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배송비가 크게 느껴졌습니다.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8D324C2-48E7-4BF0-B945-C991DEE9E4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2647950"/>
            <a:ext cx="6286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775" b="1">
                <a:solidFill>
                  <a:srgbClr val="156E58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775" b="1">
                <a:solidFill>
                  <a:srgbClr val="156E58"/>
                </a:solidFill>
                <a:latin typeface="Apple SD Gothic Neo"/>
                <a:ea typeface="Apple SD Gothic Neo"/>
                <a:cs typeface="Apple SD Gothic Neo"/>
              </a:rPr>
              <a:t>확인해보고 싶은 가설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46D52CC-8AA2-445F-A193-4C4027EBB1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3590925"/>
            <a:ext cx="62865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40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40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여러 상품을 한 포장으로 보내면</a:t>
            </a:r>
          </a:p>
          <a:p xmlns:a="http://schemas.openxmlformats.org/drawingml/2006/main">
            <a:pPr>
              <a:defRPr sz="240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40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기본 배송비를 나누어 부담할 수 있어</a:t>
            </a:r>
          </a:p>
          <a:p xmlns:a="http://schemas.openxmlformats.org/drawingml/2006/main">
            <a:pPr>
              <a:defRPr sz="240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40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개당 비용이 줄어들 수 있지 않을까?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37788BC-C2E7-4785-A0B2-B3D698E0EC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5657850"/>
            <a:ext cx="62865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개별 발송 합계 ↔ 합배송 총액</a:t>
            </a:r>
          </a:p>
          <a:p xmlns:a="http://schemas.openxmlformats.org/drawingml/2006/main">
            <a:pPr>
              <a:defRPr sz="225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운임 + 합포장·처리·보관 비용을 비교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735BD61-E266-4923-848D-03BE2C961C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7486650"/>
            <a:ext cx="1352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rPr>
              <a:t>합배송 이익은 아직 검증하지 않았습니다. 합친 무게·부피와 추가 수수료에 따라 달라질 수 있습니다.</a:t>
            </a:r>
          </a:p>
        </p:txBody>
      </p:sp>
    </p:spTree>
    <p:extLst>
      <p:ext uri="{BB962C8B-B14F-4D97-AF65-F5344CB8AC3E}">
        <p14:creationId xmlns:p14="http://schemas.microsoft.com/office/powerpoint/2010/main" val="1281087230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8F8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5BD1123-B8F4-4A91-8280-B2F7F726B1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609600"/>
            <a:ext cx="136207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36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6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만들어본 두 가지 도구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A4E4D6B-62E8-4F67-BBFF-7721FF55D8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533525"/>
            <a:ext cx="135255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rPr>
              <a:t>구매 실행을 보조하는 도구와, 구매 전 정보를 분석하는 도구를 별도로 구현했습니다.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7C21F0A-9884-4DDB-9330-E7BB049876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8058150"/>
            <a:ext cx="13620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rPr>
              <a:t>06   윤장한 · 직구 조사와 도구 구현 · 2026.10.06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DC62865-4E72-442C-B98C-83E4B0939F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743200"/>
            <a:ext cx="6286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156E58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150" b="1">
                <a:solidFill>
                  <a:srgbClr val="156E58"/>
                </a:solidFill>
                <a:latin typeface="Apple SD Gothic Neo"/>
                <a:ea typeface="Apple SD Gothic Neo"/>
                <a:cs typeface="Apple SD Gothic Neo"/>
              </a:rPr>
              <a:t>01  Codex 플러그인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34EE686-37E5-4DA5-B4DE-B12B9A6307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743325"/>
            <a:ext cx="6191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4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4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조사·입력·상태 확인 보조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8216169-7BCE-49CD-97DE-2BE6AA3362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552950"/>
            <a:ext cx="6334125" cy="1666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32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32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상품 조사와 배송대행 비교</a:t>
            </a:r>
          </a:p>
          <a:p xmlns:a="http://schemas.openxmlformats.org/drawingml/2006/main">
            <a:pPr>
              <a:defRPr sz="232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32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이커머스 주문 대조·배송대행 신청</a:t>
            </a:r>
          </a:p>
          <a:p xmlns:a="http://schemas.openxmlformats.org/drawingml/2006/main">
            <a:pPr>
              <a:defRPr sz="232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32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구매 확인 후 일일 메일 추적 등록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90CCF88-3F3B-4672-85FE-2A362DE9E6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72425" y="2743200"/>
            <a:ext cx="6286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156E58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150" b="1">
                <a:solidFill>
                  <a:srgbClr val="156E58"/>
                </a:solidFill>
                <a:latin typeface="Apple SD Gothic Neo"/>
                <a:ea typeface="Apple SD Gothic Neo"/>
                <a:cs typeface="Apple SD Gothic Neo"/>
              </a:rPr>
              <a:t>02  URL 분석기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20D2CD5-E304-432B-8203-3AF8820C5B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72425" y="3743325"/>
            <a:ext cx="6191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4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4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상품·배송·관세 정보 추정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C3256CF-A5B3-41A2-B75E-5FF017C002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72425" y="4552950"/>
            <a:ext cx="6191250" cy="1666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32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32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판매처별 상품 정보 수집</a:t>
            </a:r>
          </a:p>
          <a:p xmlns:a="http://schemas.openxmlformats.org/drawingml/2006/main">
            <a:pPr>
              <a:defRPr sz="232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32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이미지·검색 기반 포장 사양 추정</a:t>
            </a:r>
          </a:p>
          <a:p xmlns:a="http://schemas.openxmlformats.org/drawingml/2006/main">
            <a:pPr>
              <a:defRPr sz="232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32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공개 세율을 이용한 예상 세금 계산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1EC2535-2960-47B6-BCDE-6C211A18D3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7162800"/>
            <a:ext cx="13525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95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rPr>
              <a:t>두 도구는 독립적으로 동작합니다. 플러그인의 실제 실행 경로는 일부 서비스에서 검증했습니다.</a:t>
            </a:r>
          </a:p>
        </p:txBody>
      </p:sp>
    </p:spTree>
    <p:extLst>
      <p:ext uri="{BB962C8B-B14F-4D97-AF65-F5344CB8AC3E}">
        <p14:creationId xmlns:p14="http://schemas.microsoft.com/office/powerpoint/2010/main" val="242933026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8F8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33C03D2-E1F0-4067-9559-A1D8948856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609600"/>
            <a:ext cx="136207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36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6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Codex 플러그인 구성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436BBB6-A5C6-47DF-9E9D-24D5ABB9D6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533525"/>
            <a:ext cx="135255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rPr>
              <a:t>다섯 개 skill이 작업 절차를 안내하고, Python helper가 계산과 상태를 관리합니다.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D68437D-D4E4-408D-80A4-C31E99B852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8058150"/>
            <a:ext cx="13620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rPr>
              <a:t>07   윤장한 · 직구 조사와 도구 구현 · 2026.10.06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2FA39DC-7D53-47F3-B893-779B552CAF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714625"/>
            <a:ext cx="22860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7D0"/>
            </a:solidFill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21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상품 조사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2DBB137-312A-40D7-BB6E-FED37D1EBD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29025" y="2714625"/>
            <a:ext cx="22860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7D0"/>
            </a:solidFill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21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배송대행 비교</a:t>
            </a:r>
          </a:p>
        </p:txBody>
      </p:sp>
      <p:cxnSp>
        <p:nvCxnSpPr>
          <p:cNvPr id="25" name=""/>
          <p:cNvCxnSpPr>
            <a:stCxn xmlns:a="http://schemas.openxmlformats.org/drawingml/2006/main" id="4" idx="3"/>
            <a:endCxn xmlns:a="http://schemas.openxmlformats.org/drawingml/2006/main" id="5" idx="1"/>
          </p:cNvCxnSpPr>
          <p:nvPr/>
        </p:nvCxnSpPr>
        <p:spPr>
          <a:xfrm xmlns:a="http://schemas.openxmlformats.org/drawingml/2006/main">
            <a:off x="3105150" y="3143250"/>
            <a:ext cx="523875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56E58"/>
            </a:solidFill>
            <a:tailEnd type="arrow" w="med" len="med"/>
          </a:ln>
        </p:spPr>
      </p:cxn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DAA0788-CA8A-4812-A22D-6355226815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2714625"/>
            <a:ext cx="22860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7D0"/>
            </a:solidFill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21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이커머스 구매</a:t>
            </a:r>
          </a:p>
        </p:txBody>
      </p:sp>
      <p:cxnSp>
        <p:nvCxnSpPr>
          <p:cNvPr id="27" name=""/>
          <p:cNvCxnSpPr>
            <a:stCxn xmlns:a="http://schemas.openxmlformats.org/drawingml/2006/main" id="5" idx="3"/>
            <a:endCxn xmlns:a="http://schemas.openxmlformats.org/drawingml/2006/main" id="7" idx="1"/>
          </p:cNvCxnSpPr>
          <p:nvPr/>
        </p:nvCxnSpPr>
        <p:spPr>
          <a:xfrm xmlns:a="http://schemas.openxmlformats.org/drawingml/2006/main">
            <a:off x="5915025" y="3143250"/>
            <a:ext cx="523875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56E58"/>
            </a:solidFill>
            <a:tailEnd type="arrow" w="med" len="med"/>
          </a:ln>
        </p:spPr>
      </p:cxn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480BD3F-F6DD-468F-BD8A-D93122BA20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48775" y="2714625"/>
            <a:ext cx="22860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7D0"/>
            </a:solidFill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21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배송대행 신청</a:t>
            </a:r>
          </a:p>
        </p:txBody>
      </p:sp>
      <p:cxnSp>
        <p:nvCxnSpPr>
          <p:cNvPr id="29" name=""/>
          <p:cNvCxnSpPr>
            <a:stCxn xmlns:a="http://schemas.openxmlformats.org/drawingml/2006/main" id="7" idx="3"/>
            <a:endCxn xmlns:a="http://schemas.openxmlformats.org/drawingml/2006/main" id="9" idx="1"/>
          </p:cNvCxnSpPr>
          <p:nvPr/>
        </p:nvCxnSpPr>
        <p:spPr>
          <a:xfrm xmlns:a="http://schemas.openxmlformats.org/drawingml/2006/main">
            <a:off x="8724900" y="3143250"/>
            <a:ext cx="523875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56E58"/>
            </a:solidFill>
            <a:tailEnd type="arrow" w="med" len="med"/>
          </a:ln>
        </p:spPr>
      </p:cxn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12F4752-6A7E-45EF-AD51-063A353235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58650" y="2714625"/>
            <a:ext cx="22860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7D0"/>
            </a:solidFill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21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진행 추적</a:t>
            </a:r>
          </a:p>
        </p:txBody>
      </p:sp>
      <p:cxnSp>
        <p:nvCxnSpPr>
          <p:cNvPr id="31" name=""/>
          <p:cNvCxnSpPr>
            <a:stCxn xmlns:a="http://schemas.openxmlformats.org/drawingml/2006/main" id="9" idx="3"/>
            <a:endCxn xmlns:a="http://schemas.openxmlformats.org/drawingml/2006/main" id="11" idx="1"/>
          </p:cNvCxnSpPr>
          <p:nvPr/>
        </p:nvCxnSpPr>
        <p:spPr>
          <a:xfrm xmlns:a="http://schemas.openxmlformats.org/drawingml/2006/main">
            <a:off x="11534775" y="3143250"/>
            <a:ext cx="523875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56E58"/>
            </a:solidFill>
            <a:tailEnd type="arrow" w="med" len="med"/>
          </a:ln>
        </p:spPr>
      </p:cxn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C560C66-EF9C-415C-B38A-695C52ADBA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505325"/>
            <a:ext cx="4000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475" b="1">
                <a:solidFill>
                  <a:srgbClr val="156E58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475" b="1">
                <a:solidFill>
                  <a:srgbClr val="156E58"/>
                </a:solidFill>
                <a:latin typeface="Apple SD Gothic Neo"/>
                <a:ea typeface="Apple SD Gothic Neo"/>
                <a:cs typeface="Apple SD Gothic Neo"/>
              </a:rPr>
              <a:t>브라우저와 skills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163E2CD-6196-4F66-A627-B90162DE2C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5900" y="4505325"/>
            <a:ext cx="88582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32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32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현재 상품·폼·완료 화면을 확인하고 입력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97DEBDC-8F07-43BF-B16B-9E065F59B3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467350"/>
            <a:ext cx="4000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475" b="1">
                <a:solidFill>
                  <a:srgbClr val="156E58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475" b="1">
                <a:solidFill>
                  <a:srgbClr val="156E58"/>
                </a:solidFill>
                <a:latin typeface="Apple SD Gothic Neo"/>
                <a:ea typeface="Apple SD Gothic Neo"/>
                <a:cs typeface="Apple SD Gothic Neo"/>
              </a:rPr>
              <a:t>Python + SQLite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A8BE6BB-B18F-4467-BE74-BD3851820D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5900" y="5467350"/>
            <a:ext cx="88582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32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32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승인 조건·실행 시도·견적·상태 기록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9E46E4E-7B2B-43FD-BEEC-524AB23590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6429375"/>
            <a:ext cx="4000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475" b="1">
                <a:solidFill>
                  <a:srgbClr val="156E58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475" b="1">
                <a:solidFill>
                  <a:srgbClr val="156E58"/>
                </a:solidFill>
                <a:latin typeface="Apple SD Gothic Neo"/>
                <a:ea typeface="Apple SD Gothic Neo"/>
                <a:cs typeface="Apple SD Gothic Neo"/>
              </a:rPr>
              <a:t>사용자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A1BB1E3-BEA9-4527-910C-BA9AA9DB0C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5900" y="6429375"/>
            <a:ext cx="88582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32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32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로그인·추가 인증·최종 구매 수행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F05F920-9BBC-4473-9331-CC58A6A4B5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7524750"/>
            <a:ext cx="13525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rPr>
              <a:t>현재 실행 검증: 라쿠텐 북스 구매·몰테일 신청. 다른 서비스로의 확대는 별도 구현이 필요합니다.</a:t>
            </a:r>
          </a:p>
        </p:txBody>
      </p:sp>
    </p:spTree>
    <p:extLst>
      <p:ext uri="{BB962C8B-B14F-4D97-AF65-F5344CB8AC3E}">
        <p14:creationId xmlns:p14="http://schemas.microsoft.com/office/powerpoint/2010/main" val="1352653092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8F8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1DC6608-29F6-4360-8548-2B0EB78A8E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609600"/>
            <a:ext cx="136207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36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6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Codex 플러그인 시험 결과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ACF41FF-7650-407E-B190-D0588A849D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533525"/>
            <a:ext cx="135255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rPr>
              <a:t>상품 URL과 구매 목적을 전달한 뒤, 확인·승인 중심의 대화로 배송대행 접수까지 진행했습니다.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A142107-0578-43E2-9A88-89D529892F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8058150"/>
            <a:ext cx="13620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rPr>
              <a:t>08   윤장한 · 직구 조사와 도구 구현 · 2026.10.06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77A047F-8F7E-4FD8-BF39-D841AF33E7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571750"/>
            <a:ext cx="13525500" cy="752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3975" b="1">
                <a:solidFill>
                  <a:srgbClr val="156E58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975" b="1">
                <a:solidFill>
                  <a:srgbClr val="156E58"/>
                </a:solidFill>
                <a:latin typeface="Apple SD Gothic Neo"/>
                <a:ea typeface="Apple SD Gothic Neo"/>
                <a:cs typeface="Apple SD Gothic Neo"/>
              </a:rPr>
              <a:t>첫 요청 1회 + 후속 입력 6회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5F4373F-050C-49A4-835F-F407F706C3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705225"/>
            <a:ext cx="6858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후속 입력의 구성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E43CF40-8B64-4D4B-9C04-3BA57BAD08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429125"/>
            <a:ext cx="52387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로그인 완료 알림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39BE806-E831-4895-8AF8-1706F3A7A2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429125"/>
            <a:ext cx="109537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4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4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2회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C0010F7-6940-43F4-919D-4E919E64B2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038725"/>
            <a:ext cx="52387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입력·제출 승인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4AD563D-1331-40BF-8BA9-CA67801C6E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5038725"/>
            <a:ext cx="109537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4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4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2회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95FFC9D-86E3-4DC9-AF7B-ECEA13C977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648325"/>
            <a:ext cx="52387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구매·인증 완료 알림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AA0F6B7-791D-4C51-B920-75730FB739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5648325"/>
            <a:ext cx="109537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4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4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2회</a:t>
            </a:r>
          </a:p>
        </p:txBody>
      </p:sp>
      <p:pic>
        <p:nvPicPr>
          <p:cNvPr id="2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63828790903424e"/>
          <a:stretch xmlns:a="http://schemas.openxmlformats.org/drawingml/2006/main"/>
        </p:blipFill>
        <p:spPr>
          <a:xfrm xmlns:a="http://schemas.openxmlformats.org/drawingml/2006/main">
            <a:off x="9636125" y="3667125"/>
            <a:ext cx="3835400" cy="3048000"/>
          </a:xfrm>
          <a:prstGeom xmlns:a="http://schemas.openxmlformats.org/drawingml/2006/main" prst="rect">
            <a:avLst/>
          </a:prstGeom>
        </p:spPr>
      </p:pic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0DD0BFC-E55A-484E-B213-DFA6E543A8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6819900"/>
            <a:ext cx="13525500" cy="561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7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에이전트가 상품·배송지 확인, 주문 정보 입력과 신청 결과 대조를 수행했습니다.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24DF1CD-6494-4FF3-83C0-291C2BEC2E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7505700"/>
            <a:ext cx="1352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rPr>
              <a:t>단일 사례 · 사용자 메시지 7회 기준. 로그인·직접 구매·통관 인증의 화면 조작 횟수는 미측정입니다.</a:t>
            </a:r>
          </a:p>
        </p:txBody>
      </p:sp>
    </p:spTree>
    <p:extLst>
      <p:ext uri="{BB962C8B-B14F-4D97-AF65-F5344CB8AC3E}">
        <p14:creationId xmlns:p14="http://schemas.microsoft.com/office/powerpoint/2010/main" val="1023698119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8F8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0BEA505-1BEB-4F74-9CA9-ADE2BF529F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609600"/>
            <a:ext cx="136207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36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6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구매 확인 후 일일 메일 추적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732BEE3-0289-4333-A103-D39445616A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533525"/>
            <a:ext cx="135255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rPr>
              <a:t>구매 완료가 확인되면 Codex scheduler에 하루 한 번의 추적 작업을 등록합니다.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B8FFCF4-C6BD-44AD-BC55-C152CED3A0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8058150"/>
            <a:ext cx="13620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rPr>
              <a:t>09   윤장한 · 직구 조사와 도구 구현 · 2026.10.06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522B3D1-F422-449A-B695-BB3B5F4A58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714625"/>
            <a:ext cx="38100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7D0"/>
            </a:solidFill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21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구매 완료 확인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98BB3DA-2527-4694-B9EF-4FD82B5977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2714625"/>
            <a:ext cx="38100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7D0"/>
            </a:solidFill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21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일일 scheduler 등록</a:t>
            </a:r>
          </a:p>
        </p:txBody>
      </p:sp>
      <p:cxnSp>
        <p:nvCxnSpPr>
          <p:cNvPr id="19" name=""/>
          <p:cNvCxnSpPr>
            <a:stCxn xmlns:a="http://schemas.openxmlformats.org/drawingml/2006/main" id="4" idx="3"/>
            <a:endCxn xmlns:a="http://schemas.openxmlformats.org/drawingml/2006/main" id="5" idx="1"/>
          </p:cNvCxnSpPr>
          <p:nvPr/>
        </p:nvCxnSpPr>
        <p:spPr>
          <a:xfrm xmlns:a="http://schemas.openxmlformats.org/drawingml/2006/main">
            <a:off x="4629150" y="3143250"/>
            <a:ext cx="10477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56E58"/>
            </a:solidFill>
            <a:tailEnd type="arrow" w="med" len="med"/>
          </a:ln>
        </p:spPr>
      </p:cxn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D3AE5F0-94B9-405F-ADB1-677E682420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2714625"/>
            <a:ext cx="38100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7D0"/>
            </a:solidFill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21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주문·배송 진행 추적</a:t>
            </a:r>
          </a:p>
        </p:txBody>
      </p:sp>
      <p:cxnSp>
        <p:nvCxnSpPr>
          <p:cNvPr id="21" name=""/>
          <p:cNvCxnSpPr>
            <a:stCxn xmlns:a="http://schemas.openxmlformats.org/drawingml/2006/main" id="5" idx="3"/>
            <a:endCxn xmlns:a="http://schemas.openxmlformats.org/drawingml/2006/main" id="7" idx="1"/>
          </p:cNvCxnSpPr>
          <p:nvPr/>
        </p:nvCxnSpPr>
        <p:spPr>
          <a:xfrm xmlns:a="http://schemas.openxmlformats.org/drawingml/2006/main">
            <a:off x="9486900" y="3143250"/>
            <a:ext cx="10477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56E58"/>
            </a:solidFill>
            <a:tailEnd type="arrow" w="med" len="med"/>
          </a:ln>
        </p:spPr>
      </p:cxn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C6530D9-DE3B-4C00-AE7E-568B931B9E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057650"/>
            <a:ext cx="409575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실제 주문 접수 근거 확인</a:t>
            </a:r>
          </a:p>
          <a:p xmlns:a="http://schemas.openxmlformats.org/drawingml/2006/main">
            <a:pPr>
              <a:defRPr sz="225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배송대행 접수 전에도 시작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157C9FB-828A-4D2A-824F-88A6800FC0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4057650"/>
            <a:ext cx="409575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7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메일 단회 조회 후 등록</a:t>
            </a:r>
          </a:p>
          <a:p xmlns:a="http://schemas.openxmlformats.org/drawingml/2006/main">
            <a:pPr>
              <a:defRPr sz="217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7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기존 예약 ID가 있으면 재사용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458ECA4-79E1-4C91-AD3F-DC70527A9C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4057650"/>
            <a:ext cx="388620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주문·배송대행 메일 확인</a:t>
            </a:r>
          </a:p>
          <a:p xmlns:a="http://schemas.openxmlformats.org/drawingml/2006/main">
            <a:pPr>
              <a:defRPr sz="210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발송·입고·출고·통관 상태 대조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87F1873-0BCC-4F3C-AF30-B46988BE62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6181725"/>
            <a:ext cx="13525500" cy="962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의미 있는 변경이나 사용자 조치가 필요할 때 알리고,</a:t>
            </a:r>
          </a:p>
          <a:p xmlns:a="http://schemas.openxmlformats.org/drawingml/2006/main">
            <a:pPr>
              <a:defRPr sz="225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배송완료·취소가 확인되면 예약을 종료합니다.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7FD359B-E5EB-4676-9B89-E1F5BF86CD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7524750"/>
            <a:ext cx="13525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rPr>
              <a:t>10/6 플러그인 동작 개정. 메일·예약 도구 연결이 필요하며, 실제 예약의 장기 실행 결과는 없습니다.</a:t>
            </a:r>
          </a:p>
        </p:txBody>
      </p:sp>
    </p:spTree>
    <p:extLst>
      <p:ext uri="{BB962C8B-B14F-4D97-AF65-F5344CB8AC3E}">
        <p14:creationId xmlns:p14="http://schemas.microsoft.com/office/powerpoint/2010/main" val="268563451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8F8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F749867-58A9-4FE1-8143-9ED1F19055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609600"/>
            <a:ext cx="136207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36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6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URL 분석기 · 실행 화면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7CDA230-4F14-40C9-A0D7-70D3E372CD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533525"/>
            <a:ext cx="135255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rPr>
              <a:t>https://catalog.janghan.dev/  ·  URL 입력 → 상품 수집 → 배송·관세 추정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64A0EB7-CA4D-4A14-A59D-11104E263E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8058150"/>
            <a:ext cx="13620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rPr>
              <a:t>10   윤장한 · 직구 조사와 도구 구현 · 2026.10.06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B76EDAD-505A-40BB-9891-54FED5A5C4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1625" y="2333625"/>
            <a:ext cx="12096750" cy="5314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6E1"/>
          </a:solidFill>
          <a:ln xmlns:a="http://schemas.openxmlformats.org/drawingml/2006/main" w="19050">
            <a:solidFill>
              <a:srgbClr val="7D968A"/>
            </a:solidFill>
          </a:ln>
        </p:spPr>
      </p:sp>
      <p:pic>
        <p:nvPicPr>
          <p:cNvPr id="1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8c7359b2722432e"/>
          <a:stretch xmlns:a="http://schemas.openxmlformats.org/drawingml/2006/main"/>
        </p:blipFill>
        <p:spPr>
          <a:xfrm xmlns:a="http://schemas.openxmlformats.org/drawingml/2006/main">
            <a:off x="2958193" y="2476500"/>
            <a:ext cx="9323614" cy="1428750"/>
          </a:xfrm>
          <a:prstGeom xmlns:a="http://schemas.openxmlformats.org/drawingml/2006/main" prst="rect">
            <a:avLst/>
          </a:prstGeom>
        </p:spPr>
      </p:pic>
      <p:pic>
        <p:nvPicPr>
          <p:cNvPr id="1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bba87df5957485c"/>
          <a:stretch xmlns:a="http://schemas.openxmlformats.org/drawingml/2006/main"/>
        </p:blipFill>
        <p:spPr>
          <a:xfrm xmlns:a="http://schemas.openxmlformats.org/drawingml/2006/main">
            <a:off x="4303239" y="3981450"/>
            <a:ext cx="6633522" cy="35433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32914740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8F8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D0E81D3-042B-4EFD-B4C4-5ABF81AECC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609600"/>
            <a:ext cx="136207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36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6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URL 분석기의 처리 과정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266B5F9-0D96-44CC-960C-238F8A7BB2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533525"/>
            <a:ext cx="135255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rPr>
              <a:t>라쿠텐 이치바·북스와 메루카리의 상품 URL을 입력으로 사용합니다.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74EFE79-6C30-41F3-BD78-DCF1E85337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8058150"/>
            <a:ext cx="13620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rPr>
              <a:t>11   윤장한 · 직구 조사와 도구 구현 · 2026.10.06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B1C2E8A-684B-42E9-8057-A3FCDD5112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676525"/>
            <a:ext cx="38100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7D0"/>
            </a:solidFill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21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상품 정보 수집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9CBB4B2-45BE-446A-9858-A095CC94EF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2676525"/>
            <a:ext cx="38100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7D0"/>
            </a:solidFill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21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배송 정보 추정</a:t>
            </a:r>
          </a:p>
        </p:txBody>
      </p:sp>
      <p:cxnSp>
        <p:nvCxnSpPr>
          <p:cNvPr id="19" name=""/>
          <p:cNvCxnSpPr>
            <a:stCxn xmlns:a="http://schemas.openxmlformats.org/drawingml/2006/main" id="4" idx="3"/>
            <a:endCxn xmlns:a="http://schemas.openxmlformats.org/drawingml/2006/main" id="5" idx="1"/>
          </p:cNvCxnSpPr>
          <p:nvPr/>
        </p:nvCxnSpPr>
        <p:spPr>
          <a:xfrm xmlns:a="http://schemas.openxmlformats.org/drawingml/2006/main">
            <a:off x="4629150" y="3105150"/>
            <a:ext cx="10477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56E58"/>
            </a:solidFill>
            <a:tailEnd type="arrow" w="med" len="med"/>
          </a:ln>
        </p:spPr>
      </p:cxn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6EDBFDB-FCB2-4C81-BD65-043C90B1DA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2676525"/>
            <a:ext cx="38100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7D0"/>
            </a:solidFill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21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관세 정보 추정</a:t>
            </a:r>
          </a:p>
        </p:txBody>
      </p:sp>
      <p:cxnSp>
        <p:nvCxnSpPr>
          <p:cNvPr id="21" name=""/>
          <p:cNvCxnSpPr>
            <a:stCxn xmlns:a="http://schemas.openxmlformats.org/drawingml/2006/main" id="5" idx="3"/>
            <a:endCxn xmlns:a="http://schemas.openxmlformats.org/drawingml/2006/main" id="7" idx="1"/>
          </p:cNvCxnSpPr>
          <p:nvPr/>
        </p:nvCxnSpPr>
        <p:spPr>
          <a:xfrm xmlns:a="http://schemas.openxmlformats.org/drawingml/2006/main">
            <a:off x="9486900" y="3105150"/>
            <a:ext cx="10477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56E58"/>
            </a:solidFill>
            <a:tailEnd type="arrow" w="med" len="med"/>
          </a:ln>
        </p:spPr>
      </p:cxn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DB569DE-B65F-4898-8381-F7FCBC4EF9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952875"/>
            <a:ext cx="381000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32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32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API·HTML·브라우저</a:t>
            </a:r>
          </a:p>
          <a:p xmlns:a="http://schemas.openxmlformats.org/drawingml/2006/main">
            <a:pPr>
              <a:defRPr sz="232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32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상품명·가격·판매 상태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D4E812E-AA76-448A-8412-A196E2BC7F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3952875"/>
            <a:ext cx="381000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32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32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이미지·제품명·검색</a:t>
            </a:r>
          </a:p>
          <a:p xmlns:a="http://schemas.openxmlformats.org/drawingml/2006/main">
            <a:pPr>
              <a:defRPr sz="232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32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포장 무게·치수·운임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D1324CE-A342-4D6F-9A2E-E8A1DEAA82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3952875"/>
            <a:ext cx="388620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7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HS·HSK 후보와 공개 세율</a:t>
            </a:r>
          </a:p>
          <a:p xmlns:a="http://schemas.openxmlformats.org/drawingml/2006/main">
            <a:pPr>
              <a:defRPr sz="217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7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환율·조건별 예상 세금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7C74877-B5F3-43ED-AD39-073EE88778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6172200"/>
            <a:ext cx="135255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32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32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실시간 진행 상태와 단계별 결과를 표시하고, 상세에서 출처와 추정 조건을 확인합니다.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655C9D8-3723-420E-8C59-25B29FA441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7439025"/>
            <a:ext cx="135255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rPr>
              <a:t>수집값·모델 가정·미확인 항목을 구분하며, 입력 부족이나 조회 실패는 부분 결과로 남깁니다.</a:t>
            </a:r>
          </a:p>
        </p:txBody>
      </p:sp>
    </p:spTree>
    <p:extLst>
      <p:ext uri="{BB962C8B-B14F-4D97-AF65-F5344CB8AC3E}">
        <p14:creationId xmlns:p14="http://schemas.microsoft.com/office/powerpoint/2010/main" val="939753022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8F8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6DA9113-B5CB-4CC9-9C6E-C839A8C770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609600"/>
            <a:ext cx="136207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36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6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TCG 상품과 주류의 시험 결과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647C5D8-4349-4368-9269-D8885606D4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533525"/>
            <a:ext cx="135255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rPr>
              <a:t>라이브 분석 결과와 저장된 표본의 분류·계산 검증을 구분했습니다.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830850D-0C93-409C-92CD-063B480D84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8058150"/>
            <a:ext cx="13620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rPr>
              <a:t>12   윤장한 · 직구 조사와 도구 구현 · 2026.10.06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7094402-DD44-4EB3-A7AA-FB9AA44DAE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714625"/>
            <a:ext cx="633412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625" b="1">
                <a:solidFill>
                  <a:srgbClr val="156E58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625" b="1">
                <a:solidFill>
                  <a:srgbClr val="156E58"/>
                </a:solidFill>
                <a:latin typeface="Apple SD Gothic Neo"/>
                <a:ea typeface="Apple SD Gothic Neo"/>
                <a:cs typeface="Apple SD Gothic Neo"/>
              </a:rPr>
              <a:t>TCG 상품 · 실제 URL 분석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01A4EC7-F52A-4B8F-9B69-BBF7C61344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657600"/>
            <a:ext cx="6286500" cy="1495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47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47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HSK 9504400000 후보</a:t>
            </a:r>
          </a:p>
          <a:p xmlns:a="http://schemas.openxmlformats.org/drawingml/2006/main">
            <a:pPr>
              <a:defRPr sz="247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47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공개 기본관세 8%</a:t>
            </a:r>
          </a:p>
          <a:p xmlns:a="http://schemas.openxmlformats.org/drawingml/2006/main">
            <a:pPr>
              <a:defRPr sz="247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47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일반 부가세 10% 가정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F0E53D2-5EC3-41C1-803C-47B47FB015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724525"/>
            <a:ext cx="628650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700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예상 세금</a:t>
            </a:r>
          </a:p>
          <a:p xmlns:a="http://schemas.openxmlformats.org/drawingml/2006/main">
            <a:pPr>
              <a:defRPr sz="2700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700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115,776 ~ 117,335원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4851334-661D-4BA5-8B46-CD084B5D7A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2714625"/>
            <a:ext cx="633412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625" b="1">
                <a:solidFill>
                  <a:srgbClr val="156E58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625" b="1">
                <a:solidFill>
                  <a:srgbClr val="156E58"/>
                </a:solidFill>
                <a:latin typeface="Apple SD Gothic Neo"/>
                <a:ea typeface="Apple SD Gothic Neo"/>
                <a:cs typeface="Apple SD Gothic Neo"/>
              </a:rPr>
              <a:t>주류 · 사양·계산 표본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794AF89-4F7F-4382-B00F-7591E447C7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3657600"/>
            <a:ext cx="6334125" cy="1495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위스키 사양에서 700ml·43% 추출</a:t>
            </a:r>
          </a:p>
          <a:p xmlns:a="http://schemas.openxmlformats.org/drawingml/2006/main">
            <a:pPr>
              <a:defRPr sz="225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위스키·와인·사케 분류 회귀 통과</a:t>
            </a:r>
          </a:p>
          <a:p xmlns:a="http://schemas.openxmlformats.org/drawingml/2006/main">
            <a:pPr>
              <a:defRPr sz="225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병 수·용량 경계와 누락 입력 검사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E174B49-3D3A-4B6A-8CAD-08436565F2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5715000"/>
            <a:ext cx="6334125" cy="1171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위스키 합성 계산 예: 353,696원</a:t>
            </a:r>
          </a:p>
          <a:p xmlns:a="http://schemas.openxmlformats.org/drawingml/2006/main">
            <a:pPr>
              <a:defRPr sz="202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상품 $200 · 750ml 1병 · 40%</a:t>
            </a:r>
          </a:p>
          <a:p xmlns:a="http://schemas.openxmlformats.org/drawingml/2006/main">
            <a:pPr>
              <a:defRPr sz="202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환율 1,000원/$ · 운임 0 가정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F608329-4105-4DA6-9FBB-8F9800605E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7524750"/>
            <a:ext cx="135255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rPr>
              <a:t>실제 납부세액의 정답 검증은 아닙니다. 주류 사양 추출은9/30 당시 모델, TCG는10/5 운영 결과입니다.</a:t>
            </a:r>
          </a:p>
        </p:txBody>
      </p:sp>
    </p:spTree>
    <p:extLst>
      <p:ext uri="{BB962C8B-B14F-4D97-AF65-F5344CB8AC3E}">
        <p14:creationId xmlns:p14="http://schemas.microsoft.com/office/powerpoint/2010/main" val="1392590264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8F8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A80E304-0300-4F14-9828-3CEE457185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609600"/>
            <a:ext cx="136207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36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6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도구 측면에서 남은 질문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6D936C4-86F9-4A15-9486-A4B311966A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533525"/>
            <a:ext cx="135255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rPr>
              <a:t>이번 구현으로 확인하지 못한 범위입니다. 추가 개발·검증 일정은 잡지 않았습니다.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607ADB6-1845-411F-BB45-E483A68B52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8058150"/>
            <a:ext cx="13620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rPr>
              <a:t>13   윤장한 · 직구 조사와 도구 구현 · 2026.10.06</a:t>
            </a:r>
          </a:p>
        </p:txBody>
      </p:sp>
      <p:graphicFrame>
        <p:nvGraphicFramePr>
          <p:cNvPr id="9" name=""/>
          <p:cNvGraphicFramePr/>
          <p:nvPr/>
        </p:nvGraphicFramePr>
        <p:xfrm>
          <a:off xmlns:a="http://schemas.openxmlformats.org/drawingml/2006/main" x="819150" y="2724150"/>
          <a:ext xmlns:a="http://schemas.openxmlformats.org/drawingml/2006/main" cx="13601700" cy="33718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143250"/>
                <a:gridCol w="10458450"/>
              </a:tblGrid>
              <a:tr h="1123950">
                <a:tc>
                  <a:txBody>
                    <a:bodyPr/>
                    <a:lstStyle/>
                    <a:p>
                      <a:r>
                        <a:rPr sz="1950" b="1">
                          <a:solidFill>
                            <a:srgbClr val="FFFFFF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영역</a:t>
                      </a:r>
                    </a:p>
                  </a:txBody>
                  <a:tcPr marL="91440" marR="91440" marT="45720" marB="45720">
                    <a:solidFill>
                      <a:srgbClr val="182C2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1">
                          <a:solidFill>
                            <a:srgbClr val="FFFFFF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확인하지 못한 부분</a:t>
                      </a:r>
                    </a:p>
                  </a:txBody>
                  <a:tcPr marL="91440" marR="91440" marT="45720" marB="45720">
                    <a:solidFill>
                      <a:srgbClr val="182C29"/>
                    </a:solidFill>
                  </a:tcPr>
                </a:tc>
              </a:tr>
              <a:tr h="1123950"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추정 정확도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포장 치수·무게와 관세 추정이 실제 값과 얼마나 일치하는가</a:t>
                      </a:r>
                    </a:p>
                    <a:p>
                      <a:r>
                        <a:rPr sz="2025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인형처럼 형태가 복잡한 상품도 적절한 포장 범위를 추정하는가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1123950"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판매처 확대</a:t>
                      </a:r>
                    </a:p>
                  </a:txBody>
                  <a:tcPr marL="91440" marR="91440" marT="45720" marB="45720">
                    <a:solidFill>
                      <a:srgbClr val="F8F8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라쿠텐·메루카리 밖의 사이트에서도 안정적으로 수집·파싱할 수 있는가</a:t>
                      </a:r>
                    </a:p>
                    <a:p>
                      <a:r>
                        <a:rPr sz="2025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API가 없는 사이트의 화면 변경·접근 제한에 어떻게 대응할 것인가</a:t>
                      </a:r>
                    </a:p>
                  </a:txBody>
                  <a:tcPr marL="91440" marR="91440" marT="45720" marB="45720">
                    <a:solidFill>
                      <a:srgbClr val="F8F8F3"/>
                    </a:solidFill>
                  </a:tcPr>
                </a:tc>
              </a:tr>
            </a:tbl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B24264B-A6C6-4B7B-8D1E-321D1F24A0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6686550"/>
            <a:ext cx="135255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라쿠텐은 API로 접근했습니다. 메루카리는 공식 파트너 API 연동 사례가 있지만,</a:t>
            </a:r>
          </a:p>
          <a:p xmlns:a="http://schemas.openxmlformats.org/drawingml/2006/main">
            <a:pPr>
              <a:defRPr sz="210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이번 구현은 해당 API 권한을 사용하지 않았습니다.</a:t>
            </a:r>
          </a:p>
        </p:txBody>
      </p:sp>
    </p:spTree>
    <p:extLst>
      <p:ext uri="{BB962C8B-B14F-4D97-AF65-F5344CB8AC3E}">
        <p14:creationId xmlns:p14="http://schemas.microsoft.com/office/powerpoint/2010/main" val="1717833498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8F8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0DB98E6-620C-4434-BABC-85DE15269A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609600"/>
            <a:ext cx="136207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36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6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이번 경험과 구매대행 사업에 대한 질문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137D27F-0793-4648-A2AC-530AFCD086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533525"/>
            <a:ext cx="135255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rPr>
              <a:t>입력 과정의 간소화와 배송비의 경제성은 별도로 보게 됐습니다.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BAD3A84-40A4-41D3-AFEB-CAE1861858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8058150"/>
            <a:ext cx="13620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rPr>
              <a:t>14   윤장한 · 직구 조사와 도구 구현 · 2026.10.06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AA8F23A-762A-465A-8063-0901CE6F69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628900"/>
            <a:ext cx="6334125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156E58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700" b="1">
                <a:solidFill>
                  <a:srgbClr val="156E58"/>
                </a:solidFill>
                <a:latin typeface="Apple SD Gothic Neo"/>
                <a:ea typeface="Apple SD Gothic Neo"/>
                <a:cs typeface="Apple SD Gothic Neo"/>
              </a:rPr>
              <a:t>이번 사례에서 느낀 점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7C588A4-4867-4661-93AA-2969A3BABA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476625"/>
            <a:ext cx="6334125" cy="2333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32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32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에이전트로 배송대행 정보 입력과</a:t>
            </a:r>
          </a:p>
          <a:p xmlns:a="http://schemas.openxmlformats.org/drawingml/2006/main">
            <a:pPr>
              <a:defRPr sz="232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32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접수 확인을 간소화할 수 있었습니다.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32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32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소형·경량 상품1개에서는 직접구매의</a:t>
            </a:r>
          </a:p>
          <a:p xmlns:a="http://schemas.openxmlformats.org/drawingml/2006/main">
            <a:pPr>
              <a:defRPr sz="232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32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비용 이점을 확인하지 못했습니다.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2D81E10-5805-40CB-B0C5-238448C0D2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2628900"/>
            <a:ext cx="6334125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156E58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700" b="1">
                <a:solidFill>
                  <a:srgbClr val="156E58"/>
                </a:solidFill>
                <a:latin typeface="Apple SD Gothic Neo"/>
                <a:ea typeface="Apple SD Gothic Neo"/>
                <a:cs typeface="Apple SD Gothic Neo"/>
              </a:rPr>
              <a:t>사업 측면에서 남은 질문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1B10609-06F5-4EE1-AB59-D187162FB8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3476625"/>
            <a:ext cx="6334125" cy="2333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32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32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합배송으로 운송비를</a:t>
            </a:r>
          </a:p>
          <a:p xmlns:a="http://schemas.openxmlformats.org/drawingml/2006/main">
            <a:pPr>
              <a:defRPr sz="232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32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얼마나 최적화할 수 있을까?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32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32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개별 발송과 합배송의 총비용을</a:t>
            </a:r>
          </a:p>
          <a:p xmlns:a="http://schemas.openxmlformats.org/drawingml/2006/main">
            <a:pPr>
              <a:defRPr sz="232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32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포장·처리·보관 비용까지 비교해야 합니다.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3F1D3F9-3D35-4B90-827F-4E211B2DBC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6591300"/>
            <a:ext cx="135255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당시 확인 비용 합계는 SAZO 약7,228엔, 직접구매+tenso 7,472엔이었습니다.</a:t>
            </a:r>
          </a:p>
          <a:p xmlns:a="http://schemas.openxmlformats.org/drawingml/2006/main">
            <a:pPr>
              <a:defRPr sz="210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이 사례에서는 구매대행을 이용하는 편이 유리하다고 느꼈습니다.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BD4EB68-0806-4D09-96F1-87BEB30A21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7639050"/>
            <a:ext cx="1352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575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rPr>
              <a:t>운송·특전 등 조건 차이와 미확정 비용이 남아 있어 모든 소량 직구의 결론으로 일반화하지 않습니다.</a:t>
            </a:r>
          </a:p>
        </p:txBody>
      </p:sp>
    </p:spTree>
    <p:extLst>
      <p:ext uri="{BB962C8B-B14F-4D97-AF65-F5344CB8AC3E}">
        <p14:creationId xmlns:p14="http://schemas.microsoft.com/office/powerpoint/2010/main" val="1657057454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8F8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FF39CE6-0658-4A0D-B2F7-7430B4AF0F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609600"/>
            <a:ext cx="136207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36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6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에이전트 커머스에 대한 생각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790ED21-7096-47CB-82BD-B444CC3C1A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533525"/>
            <a:ext cx="135255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rPr>
              <a:t>이번에는 브라우저를 통해 배송대행 정보를 입력했습니다.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E2E6846-367B-4940-A1B6-7A934F90C5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8058150"/>
            <a:ext cx="13620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rPr>
              <a:t>15   윤장한 · 직구 조사와 도구 구현 · 2026.10.06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0780CEF-1C9F-438A-9272-B10E2D5AB0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657475"/>
            <a:ext cx="135255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47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47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에이전트로 구매가 가능해지고, 배송대행 업체가 신청용 MCP 등을 제공한다면</a:t>
            </a:r>
          </a:p>
          <a:p xmlns:a="http://schemas.openxmlformats.org/drawingml/2006/main">
            <a:pPr>
              <a:defRPr sz="247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47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직구 과정 전체를 에이전트에 맡기는 흐름도 가능하지 않을까 생각했습니다.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792C459-A925-40B3-9D9C-E4C78C6ED1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257675"/>
            <a:ext cx="38100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7D0"/>
            </a:solidFill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21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에이전트가 구매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99F013E-6272-43C3-82C2-BC4C59E564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4257675"/>
            <a:ext cx="38100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7D0"/>
            </a:solidFill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21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배송대행 MCP로 신청</a:t>
            </a:r>
          </a:p>
        </p:txBody>
      </p:sp>
      <p:cxnSp>
        <p:nvCxnSpPr>
          <p:cNvPr id="18" name=""/>
          <p:cNvCxnSpPr>
            <a:stCxn xmlns:a="http://schemas.openxmlformats.org/drawingml/2006/main" id="5" idx="3"/>
            <a:endCxn xmlns:a="http://schemas.openxmlformats.org/drawingml/2006/main" id="6" idx="1"/>
          </p:cNvCxnSpPr>
          <p:nvPr/>
        </p:nvCxnSpPr>
        <p:spPr>
          <a:xfrm xmlns:a="http://schemas.openxmlformats.org/drawingml/2006/main">
            <a:off x="4629150" y="4686300"/>
            <a:ext cx="10477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56E58"/>
            </a:solidFill>
            <a:tailEnd type="arrow" w="med" len="med"/>
          </a:ln>
        </p:spPr>
      </p:cxn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A4C2E24-7A16-44A1-8C52-84E7136376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4257675"/>
            <a:ext cx="38100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7D0"/>
            </a:solidFill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21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주문·배송·통관 추적</a:t>
            </a:r>
          </a:p>
        </p:txBody>
      </p:sp>
      <p:cxnSp>
        <p:nvCxnSpPr>
          <p:cNvPr id="20" name=""/>
          <p:cNvCxnSpPr>
            <a:stCxn xmlns:a="http://schemas.openxmlformats.org/drawingml/2006/main" id="6" idx="3"/>
            <a:endCxn xmlns:a="http://schemas.openxmlformats.org/drawingml/2006/main" id="8" idx="1"/>
          </p:cNvCxnSpPr>
          <p:nvPr/>
        </p:nvCxnSpPr>
        <p:spPr>
          <a:xfrm xmlns:a="http://schemas.openxmlformats.org/drawingml/2006/main">
            <a:off x="9486900" y="4686300"/>
            <a:ext cx="10477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56E58"/>
            </a:solidFill>
            <a:tailEnd type="arrow" w="med" len="med"/>
          </a:ln>
        </p:spPr>
      </p:cxn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7704AD6-A9E2-4C99-B950-D3F8A79E81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591175"/>
            <a:ext cx="13525500" cy="1371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47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47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그때 사조 같은 구매대행 업체의 경쟁력은 구매 과정의 간편함뿐 아니라,</a:t>
            </a:r>
          </a:p>
          <a:p xmlns:a="http://schemas.openxmlformats.org/drawingml/2006/main">
            <a:pPr>
              <a:defRPr sz="247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47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합배송으로 비용을 조정하고 물류·검수·예외를 처리하는 노하우에</a:t>
            </a:r>
          </a:p>
          <a:p xmlns:a="http://schemas.openxmlformats.org/drawingml/2006/main">
            <a:pPr>
              <a:defRPr sz="247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47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더 크게 남지 않을까 생각합니다.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057C7E8-F9FF-44C7-981E-0C75020DD8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7486650"/>
            <a:ext cx="13525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575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rPr>
              <a:t>공개 코드  github.com/y00nZZang/crossborder-purchase-agent  ·  github.com/y00nZZang/product-catalog</a:t>
            </a:r>
          </a:p>
        </p:txBody>
      </p:sp>
    </p:spTree>
    <p:extLst>
      <p:ext uri="{BB962C8B-B14F-4D97-AF65-F5344CB8AC3E}">
        <p14:creationId xmlns:p14="http://schemas.microsoft.com/office/powerpoint/2010/main" val="195409181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2026-10-06T07:08:23.6880000Z</dcterms:created>
  <dcterms:modified xsi:type="dcterms:W3CDTF">2026-10-06T07:08:23.6880000Z</dcterms:modified>
</coreProperties>
</file>