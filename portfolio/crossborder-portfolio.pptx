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bf863992594069" /><Relationship Type="http://schemas.openxmlformats.org/officeDocument/2006/relationships/extended-properties" Target="/docProps/app.xml" Id="R62ca3b753bfa4de5" /><Relationship Type="http://schemas.openxmlformats.org/officeDocument/2006/relationships/officeDocument" Target="/ppt/presentation.xml" Id="R5efc6301f1354e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6d68c42fbb43a4"/>
  </p:sldMasterIdLst>
  <p:notesMasterIdLst>
    <p:notesMasterId xmlns:r="http://schemas.openxmlformats.org/officeDocument/2006/relationships" r:id="R58e65546b5ec41dc"/>
  </p:notesMasterIdLst>
  <p:sldIdLst>
    <p:sldId xmlns:r="http://schemas.openxmlformats.org/officeDocument/2006/relationships" id="256" r:id="Ra4f0161fb4fd45e3"/>
    <p:sldId xmlns:r="http://schemas.openxmlformats.org/officeDocument/2006/relationships" id="257" r:id="R93324130f41847b2"/>
    <p:sldId xmlns:r="http://schemas.openxmlformats.org/officeDocument/2006/relationships" id="258" r:id="Raa59b28199364315"/>
    <p:sldId xmlns:r="http://schemas.openxmlformats.org/officeDocument/2006/relationships" id="259" r:id="R8b357fa08a984173"/>
    <p:sldId xmlns:r="http://schemas.openxmlformats.org/officeDocument/2006/relationships" id="260" r:id="R54383c14146d4815"/>
    <p:sldId xmlns:r="http://schemas.openxmlformats.org/officeDocument/2006/relationships" id="261" r:id="R717176e21e0946bb"/>
    <p:sldId xmlns:r="http://schemas.openxmlformats.org/officeDocument/2006/relationships" id="262" r:id="R0503203391ae4767"/>
    <p:sldId xmlns:r="http://schemas.openxmlformats.org/officeDocument/2006/relationships" id="263" r:id="Rcb5688d1376243b7"/>
    <p:sldId xmlns:r="http://schemas.openxmlformats.org/officeDocument/2006/relationships" id="264" r:id="R4953180543214287"/>
    <p:sldId xmlns:r="http://schemas.openxmlformats.org/officeDocument/2006/relationships" id="265" r:id="Rd6bd13580fc54007"/>
    <p:sldId xmlns:r="http://schemas.openxmlformats.org/officeDocument/2006/relationships" id="266" r:id="R047d32cdd79c4b7a"/>
    <p:sldId xmlns:r="http://schemas.openxmlformats.org/officeDocument/2006/relationships" id="267" r:id="R52b493f1e3b54f86"/>
    <p:sldId xmlns:r="http://schemas.openxmlformats.org/officeDocument/2006/relationships" id="268" r:id="Rf5024eb4406c4c88"/>
    <p:sldId xmlns:r="http://schemas.openxmlformats.org/officeDocument/2006/relationships" id="269" r:id="R25e688f042b142e9"/>
    <p:sldId xmlns:r="http://schemas.openxmlformats.org/officeDocument/2006/relationships" id="270" r:id="R0bf3e0af4376485f"/>
    <p:sldId xmlns:r="http://schemas.openxmlformats.org/officeDocument/2006/relationships" id="271" r:id="Rddfa3c180f964570"/>
    <p:sldId xmlns:r="http://schemas.openxmlformats.org/officeDocument/2006/relationships" id="272" r:id="R4268af0c7dd643d0"/>
    <p:sldId xmlns:r="http://schemas.openxmlformats.org/officeDocument/2006/relationships" id="273" r:id="R0f43f7c3c6cd44e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4260773a334d84" /><Relationship Type="http://schemas.openxmlformats.org/officeDocument/2006/relationships/slideMaster" Target="/ppt/slideMasters/slideMaster1.xml" Id="Ra56d68c42fbb43a4" /><Relationship Type="http://schemas.openxmlformats.org/officeDocument/2006/relationships/notesMaster" Target="/ppt/notesMasters/notesMaster1.xml" Id="R58e65546b5ec41dc" /><Relationship Type="http://schemas.openxmlformats.org/officeDocument/2006/relationships/presProps" Target="/ppt/presProps.xml" Id="R6e1729081f5e41ce" /><Relationship Type="http://schemas.openxmlformats.org/officeDocument/2006/relationships/tableStyles" Target="/ppt/tableStyles.xml" Id="Rbe6c6e7ca0c14819" /><Relationship Type="http://schemas.openxmlformats.org/officeDocument/2006/relationships/slide" Target="/ppt/slides/slide1.xml" Id="Ra4f0161fb4fd45e3" /><Relationship Type="http://schemas.openxmlformats.org/officeDocument/2006/relationships/slide" Target="/ppt/slides/slide2.xml" Id="R93324130f41847b2" /><Relationship Type="http://schemas.openxmlformats.org/officeDocument/2006/relationships/slide" Target="/ppt/slides/slide3.xml" Id="Raa59b28199364315" /><Relationship Type="http://schemas.openxmlformats.org/officeDocument/2006/relationships/slide" Target="/ppt/slides/slide4.xml" Id="R8b357fa08a984173" /><Relationship Type="http://schemas.openxmlformats.org/officeDocument/2006/relationships/slide" Target="/ppt/slides/slide5.xml" Id="R54383c14146d4815" /><Relationship Type="http://schemas.openxmlformats.org/officeDocument/2006/relationships/slide" Target="/ppt/slides/slide6.xml" Id="R717176e21e0946bb" /><Relationship Type="http://schemas.openxmlformats.org/officeDocument/2006/relationships/slide" Target="/ppt/slides/slide7.xml" Id="R0503203391ae4767" /><Relationship Type="http://schemas.openxmlformats.org/officeDocument/2006/relationships/slide" Target="/ppt/slides/slide8.xml" Id="Rcb5688d1376243b7" /><Relationship Type="http://schemas.openxmlformats.org/officeDocument/2006/relationships/slide" Target="/ppt/slides/slide9.xml" Id="R4953180543214287" /><Relationship Type="http://schemas.openxmlformats.org/officeDocument/2006/relationships/slide" Target="/ppt/slides/slide10.xml" Id="Rd6bd13580fc54007" /><Relationship Type="http://schemas.openxmlformats.org/officeDocument/2006/relationships/slide" Target="/ppt/slides/slide11.xml" Id="R047d32cdd79c4b7a" /><Relationship Type="http://schemas.openxmlformats.org/officeDocument/2006/relationships/slide" Target="/ppt/slides/slide12.xml" Id="R52b493f1e3b54f86" /><Relationship Type="http://schemas.openxmlformats.org/officeDocument/2006/relationships/slide" Target="/ppt/slides/slide13.xml" Id="Rf5024eb4406c4c88" /><Relationship Type="http://schemas.openxmlformats.org/officeDocument/2006/relationships/slide" Target="/ppt/slides/slide14.xml" Id="R25e688f042b142e9" /><Relationship Type="http://schemas.openxmlformats.org/officeDocument/2006/relationships/slide" Target="/ppt/slides/slide15.xml" Id="R0bf3e0af4376485f" /><Relationship Type="http://schemas.openxmlformats.org/officeDocument/2006/relationships/slide" Target="/ppt/slides/slide16.xml" Id="Rddfa3c180f964570" /><Relationship Type="http://schemas.openxmlformats.org/officeDocument/2006/relationships/slide" Target="/ppt/slides/slide17.xml" Id="R4268af0c7dd643d0" /><Relationship Type="http://schemas.openxmlformats.org/officeDocument/2006/relationships/slide" Target="/ppt/slides/slide18.xml" Id="R0f43f7c3c6cd44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51669ec90645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7419ddb2394656" /><Relationship Type="http://schemas.openxmlformats.org/officeDocument/2006/relationships/notesMaster" Target="/ppt/notesMasters/notesMaster1.xml" Id="Rac6f5733911b41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2cfb5109d64b46" /><Relationship Type="http://schemas.openxmlformats.org/officeDocument/2006/relationships/notesMaster" Target="/ppt/notesMasters/notesMaster1.xml" Id="Rc4585c5d718141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f4a2706ffd4923" /><Relationship Type="http://schemas.openxmlformats.org/officeDocument/2006/relationships/notesMaster" Target="/ppt/notesMasters/notesMaster1.xml" Id="R2035ab3d625048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1aaa32141c4720" /><Relationship Type="http://schemas.openxmlformats.org/officeDocument/2006/relationships/notesMaster" Target="/ppt/notesMasters/notesMaster1.xml" Id="R5f840012406c48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51fc89bd8541a7" /><Relationship Type="http://schemas.openxmlformats.org/officeDocument/2006/relationships/notesMaster" Target="/ppt/notesMasters/notesMaster1.xml" Id="Re55a4c6662e144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a3fd18199449c5" /><Relationship Type="http://schemas.openxmlformats.org/officeDocument/2006/relationships/notesMaster" Target="/ppt/notesMasters/notesMaster1.xml" Id="R480d288541da4e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48b213ff6c4f27" /><Relationship Type="http://schemas.openxmlformats.org/officeDocument/2006/relationships/notesMaster" Target="/ppt/notesMasters/notesMaster1.xml" Id="Rf68f2521d7be4c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9d32d12aae454b" /><Relationship Type="http://schemas.openxmlformats.org/officeDocument/2006/relationships/notesMaster" Target="/ppt/notesMasters/notesMaster1.xml" Id="Rb4b9da65f92443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13ed829b5546da" /><Relationship Type="http://schemas.openxmlformats.org/officeDocument/2006/relationships/notesMaster" Target="/ppt/notesMasters/notesMaster1.xml" Id="R6ea3f9a7cd7d4c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47b202eb2142b5" /><Relationship Type="http://schemas.openxmlformats.org/officeDocument/2006/relationships/notesMaster" Target="/ppt/notesMasters/notesMaster1.xml" Id="Rf3821c11ec4d46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3734110a124cdf" /><Relationship Type="http://schemas.openxmlformats.org/officeDocument/2006/relationships/notesMaster" Target="/ppt/notesMasters/notesMaster1.xml" Id="R5cae7532de2d43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a0b6952ac1480e" /><Relationship Type="http://schemas.openxmlformats.org/officeDocument/2006/relationships/notesMaster" Target="/ppt/notesMasters/notesMaster1.xml" Id="R3fb1a373bf7c4e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79f4b3918b4c96" /><Relationship Type="http://schemas.openxmlformats.org/officeDocument/2006/relationships/notesMaster" Target="/ppt/notesMasters/notesMaster1.xml" Id="R14350f891c8b42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85e9db59034121" /><Relationship Type="http://schemas.openxmlformats.org/officeDocument/2006/relationships/notesMaster" Target="/ppt/notesMasters/notesMaster1.xml" Id="R2ad45af6d55d43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26c54551894556" /><Relationship Type="http://schemas.openxmlformats.org/officeDocument/2006/relationships/notesMaster" Target="/ppt/notesMasters/notesMaster1.xml" Id="Rca58cba45ff842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bea746fbbc4625" /><Relationship Type="http://schemas.openxmlformats.org/officeDocument/2006/relationships/notesMaster" Target="/ppt/notesMasters/notesMaster1.xml" Id="R20f2bb70b62e49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6662271d264538" /><Relationship Type="http://schemas.openxmlformats.org/officeDocument/2006/relationships/notesMaster" Target="/ppt/notesMasters/notesMaster1.xml" Id="R8271d00df73b4a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d58eca99d14fa9" /><Relationship Type="http://schemas.openxmlformats.org/officeDocument/2006/relationships/notesMaster" Target="/ppt/notesMasters/notesMaster1.xml" Id="Re8c41f90ebe245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프로젝트. 기획·조사·검증과 도구 구현에 Codex 사용. 관측과 테스트 결과는 2026-10-05 기준, 문서 개정 2026-10-06.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https://github.com/y00nZZang/crossborder-purchase-agent/blob/main/docs/design.md ; https://github.com/y00nZZang/product-catalog/blob/main/README.md . 통관은 추적·비용 추정의 관심 범위이며 실제 통관 완료는 미검증.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https://github.com/y00nZZang/crossborder-purchase-agent/blob/main/docs/experience-notes.md ; https://github.com/y00nZZang/crossborder-purchase-agent/blob/main/docs/experiment.md . 특정 개인 경험이며 모든 해외 사용자에 대한 현행 정책 단정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https://github.com/y00nZZang/crossborder-purchase-agent/blob/main/docs/route-comparison-2026-10-06.md . 가격과 환율·가정은 동일 문서 참조. SAZO 결제 전 견적, 라쿠텐 상품페이지·주문메일, tenso/WorldShopping 계산기, 몰테일 공개요율을 대조. 공식스토어는 사용자 제공10/6 결제 전 캡처: 상품51,868원+배송14,419원=66,287원. 첨부에는 EMS 등 운송방식 미표기. 원화 환산은 카드 청구액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https://github.com/y00nZZang/crossborder-purchase-agent/blob/main/docs/experience-notes.md ; https://github.com/y00nZZang/crossborder-purchase-agent/blob/main/docs/route-comparison.md . 사용자 체감과 합배송 가설. 실제 합배송 실측·절감액 미검증.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https://github.com/y00nZZang/crossborder-purchase-agent/blob/main/README.md ; https://github.com/y00nZZang/product-catalog/blob/main/README.md . 플러그인 실제 검증 경로는 라쿠텐 북스·몰테일. 일반 명칭은 역할 설명이며 범용 사이트 지원 의미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https://github.com/y00nZZang/crossborder-purchase-agent/tree/main/plugin ; https://github.com/y00nZZang/crossborder-purchase-agent/blob/main/docs/design.md . 실제 구현 어댑터 라쿠텐 북스·몰테일.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https://github.com/y00nZZang/crossborder-purchase-agent/blob/main/docs/interaction-count.md ; https://github.com/y00nZZang/crossborder-purchase-agent/blob/main/docs/experiment.md . 실제 대화 요약. 로그인2회·승인2회·구매/인증 완료2회를 묶어 표현. 사용자 첨부 대화 스타일 참고, 실제 접수 캡처 유지.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https://github.com/y00nZZang/crossborder-purchase-agent/blob/main/plugin/skills/crossborder-track-delivery/SKILL.md ; https://github.com/y00nZZang/crossborder-purchase-agent/blob/main/docs/daily-tracking.md . 2026-10-06 v0.1.1 동작 변경. 실거래 당시 동작과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https://github.com/y00nZZang/product-catalog/blob/main/docs/verification.md . 사용자 제공 상품 분석 캡처 원본을 자르지 않고 삽입. 관측·추정값이며 실제 결제액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https://github.com/y00nZZang/product-catalog/blob/main/README.md ; https://github.com/y00nZZang/product-catalog/blob/main/docs/architecture.md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https://github.com/y00nZZang/product-catalog/blob/main/docs/alcohol-test-evidence.md ; https://github.com/y00nZZang/product-catalog/blob/main/docs/verification.md . TCG 10/5 운영 결과와 주류9/30 제조사 사양 추출/합성 계산은 별도 시험.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https://github.com/y00nZZang/product-catalog/blob/main/docs/verification.md ; https://careers.mercari.com/mercan/articles/47692/ . 2024-11-15 공식 인터뷰의 해외 파트너 API 시스템 연동 사례. 이 프로젝트의 접근 권한 획득/사용 의미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https://github.com/y00nZZang/crossborder-purchase-agent/blob/main/docs/route-comparison.md ; https://github.com/y00nZZang/crossborder-purchase-agent/blob/main/docs/interaction-count.md . SAZO와 직접구매의 조건 차이가 남는 단일 부분 견적.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https://github.com/y00nZZang/crossborder-purchase-agent/blob/main/docs/closing-perspective.md . 사용자 의견·미래 가정이며 현재 제공되는 MCP나 사업 경쟁력의 검증 결과가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https://github.com/y00nZZang/product-catalog/blob/main/docs/service-scope-jev-experiment-2026-10-07.md ; https://huggingface.co/datasets/ATH-MaaS/HSCodeComp ; https://docs.typesafe.ai/primitives/choice . 서비스 범위는 연구 초안으로 사조의 검증된 정책이 아니다. 기존 단일 경로 Jev와 Luna만 비교. 정답/보류/실패는 공개 레포에서 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https://github.com/y00nZZang/product-catalog/blob/main/docs/service-scope-jev-experiment-2026-10-07.md ; https://github.com/y00nZZang/product-catalog/blob/main/notebooks/service-scope-results-2026-10-07.json . 새로운93개 단일 경로 계층 탐색. Jev중앙0.6449865829199553초/Luna4.510487750987522초(반올림값, 상세JSON참조). 비용0.022579830000000002/0.052664375USD. 시간은 순차 HTTP+파싱+검증 합. 두 제공자는 같은 상품에서 동시 실행. 수집·큐·배송·세금 단계 제외. 비용usage기반 추정으로 실제 청구서 확정 아님. 품질/답변률/실패는 공개 레포에 별도기록, 비용이 판단품질을 의미하지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https://github.com/y00nZZang/product-catalog/blob/main/docs/service-scope-jev-experiment-2026-10-07.md ; https://github.com/y00nZZang/product-catalog/blob/main/notebooks/service-scope-failures-2026-10-07.json . 판단 품질의 동일성을 입증한 실험이 아니다. 후보 판단 단계 적용은 제안이며 서비스운영도입 아님. 과거전체94개, 범위안78개, 새93개를 레포에 구분 보존. 신규모델·복수경로·혼합방법은 후속실험에서 제외.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a2108e79346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c6450f2bc4471b" /><Relationship Type="http://schemas.openxmlformats.org/officeDocument/2006/relationships/slideLayout" Target="/ppt/slideLayouts/slideLayout1.xml" Id="Rfe025f4721fd40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025f4721fd40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bec257709493d" /><Relationship Type="http://schemas.openxmlformats.org/officeDocument/2006/relationships/notesSlide" Target="/ppt/notesSlides/notesSlide1.xml" Id="R0fb9a350380047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0c39efec44cdc" /><Relationship Type="http://schemas.openxmlformats.org/officeDocument/2006/relationships/notesSlide" Target="/ppt/notesSlides/notesSlide2.xml" Id="Rf1ab37ea97e349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2f76155ab47f9" /><Relationship Type="http://schemas.openxmlformats.org/officeDocument/2006/relationships/notesSlide" Target="/ppt/notesSlides/notesSlide3.xml" Id="R6c9ae247fa5541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14d5097584bf1" /><Relationship Type="http://schemas.openxmlformats.org/officeDocument/2006/relationships/image" Target="/ppt/media/image.png" Id="Rc867388c9d57432b" /><Relationship Type="http://schemas.openxmlformats.org/officeDocument/2006/relationships/notesSlide" Target="/ppt/notesSlides/notesSlide4.xml" Id="Rc11ac4560d414e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1f436e9be43e0" /><Relationship Type="http://schemas.openxmlformats.org/officeDocument/2006/relationships/notesSlide" Target="/ppt/notesSlides/notesSlide5.xml" Id="R6e8513be07d743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ede502c664d02" /><Relationship Type="http://schemas.openxmlformats.org/officeDocument/2006/relationships/notesSlide" Target="/ppt/notesSlides/notesSlide6.xml" Id="R9a1a11627bb046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6a4dca7f34f91" /><Relationship Type="http://schemas.openxmlformats.org/officeDocument/2006/relationships/notesSlide" Target="/ppt/notesSlides/notesSlide7.xml" Id="Rea7bff5af3df40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3e8b5d80a4eda" /><Relationship Type="http://schemas.openxmlformats.org/officeDocument/2006/relationships/image" Target="/ppt/media/image.jpeg" Id="Reae30a489f91448a" /><Relationship Type="http://schemas.openxmlformats.org/officeDocument/2006/relationships/notesSlide" Target="/ppt/notesSlides/notesSlide8.xml" Id="Rbd4a2b0d07f041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d035c2b4144a9" /><Relationship Type="http://schemas.openxmlformats.org/officeDocument/2006/relationships/notesSlide" Target="/ppt/notesSlides/notesSlide9.xml" Id="R5d7d8b3ccec540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90abec7e2454e" /><Relationship Type="http://schemas.openxmlformats.org/officeDocument/2006/relationships/image" Target="/ppt/media/image2.png" Id="R28a6c3b97fa147f7" /><Relationship Type="http://schemas.openxmlformats.org/officeDocument/2006/relationships/notesSlide" Target="/ppt/notesSlides/notesSlide10.xml" Id="Rb26d2848cdb84d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79e8e6cf04f89" /><Relationship Type="http://schemas.openxmlformats.org/officeDocument/2006/relationships/notesSlide" Target="/ppt/notesSlides/notesSlide11.xml" Id="R0702ec17efa049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ba4bd84cd45a0" /><Relationship Type="http://schemas.openxmlformats.org/officeDocument/2006/relationships/notesSlide" Target="/ppt/notesSlides/notesSlide12.xml" Id="Rd553eefa8cf245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857908061401b" /><Relationship Type="http://schemas.openxmlformats.org/officeDocument/2006/relationships/notesSlide" Target="/ppt/notesSlides/notesSlide13.xml" Id="R2c7702fa4ac14d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e8f81cb1e43d2" /><Relationship Type="http://schemas.openxmlformats.org/officeDocument/2006/relationships/notesSlide" Target="/ppt/notesSlides/notesSlide14.xml" Id="Rbe786373058d46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48d30e716412f" /><Relationship Type="http://schemas.openxmlformats.org/officeDocument/2006/relationships/notesSlide" Target="/ppt/notesSlides/notesSlide15.xml" Id="R142c46566c0c4d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dd2c16efe44a5" /><Relationship Type="http://schemas.openxmlformats.org/officeDocument/2006/relationships/hyperlink" Target="https://huggingface.co/datasets/ATH-MaaS/HSCodeComp" TargetMode="External" Id="R50a12f88ed144c3b" /><Relationship Type="http://schemas.openxmlformats.org/officeDocument/2006/relationships/notesSlide" Target="/ppt/notesSlides/notesSlide16.xml" Id="Recaa6eabb59342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8fee4f65d4751" /><Relationship Type="http://schemas.openxmlformats.org/officeDocument/2006/relationships/chart" Target="/ppt/slides/charts/chart1.xml" Id="R774ca97f29534967" /><Relationship Type="http://schemas.openxmlformats.org/officeDocument/2006/relationships/notesSlide" Target="/ppt/notesSlides/notesSlide17.xml" Id="Rf3d77b27b80845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c4f19270d43d5" /><Relationship Type="http://schemas.openxmlformats.org/officeDocument/2006/relationships/hyperlink" Target="https://github.com/y00nZZang/product-catalog/blob/main/docs/service-scope-jev-experiment-2026-10-07.md" TargetMode="External" Id="Raf335aa5e8c24561" /><Relationship Type="http://schemas.openxmlformats.org/officeDocument/2006/relationships/notesSlide" Target="/ppt/notesSlides/notesSlide18.xml" Id="Re223f6dffc9645d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Jev</c:v>
          </c:tx>
          <c:spPr>
            <a:solidFill xmlns:a="http://schemas.openxmlformats.org/drawingml/2006/main">
              <a:srgbClr val="156E58"/>
            </a:solidFill>
          </c:spPr>
          <c:cat>
            <c:strRef>
              <c:f>'Chart Data'!$A$2:$A$2</c:f>
              <c:strCache>
                <c:ptCount val="1"/>
                <c:pt idx="0">
                  <c:v>새 서비스 범위93개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0.645</c:v>
                </c:pt>
              </c:numCache>
            </c:numRef>
          </c:val>
        </c:ser>
        <c:ser>
          <c:idx val="1"/>
          <c:order val="1"/>
          <c:tx>
            <c:v>GPT-6 Luna</c:v>
          </c:tx>
          <c:spPr>
            <a:solidFill xmlns:a="http://schemas.openxmlformats.org/drawingml/2006/main">
              <a:srgbClr val="85948D"/>
            </a:solidFill>
          </c:spPr>
          <c:cat>
            <c:strRef>
              <c:f>'Chart Data'!$C$2:$C$2</c:f>
              <c:strCache>
                <c:ptCount val="1"/>
                <c:pt idx="0">
                  <c:v>새 서비스 범위93개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4.51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82C29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950">
                    <a:solidFill>
                      <a:srgbClr val="182C29"/>
                    </a:solidFill>
                    <a:latin typeface="Apple SD Gothic Neo"/>
                    <a:ea typeface="Apple SD Gothic Neo"/>
                    <a:cs typeface="Apple SD Gothic Neo"/>
                  </a:rPr>
                  <a:t>중앙 처리시간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182C29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8F8F3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82C29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8F8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E4F86-F687-43E4-A181-E8011620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57213-3DB8-48A6-AE35-F3D38C11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01   윤장한 · 직구 조사와 도구 구현 · 2026.10.06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4BE70-8DB2-445B-984A-F5C3C3AC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B8D9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B8D9C9"/>
                </a:solidFill>
                <a:latin typeface="Apple SD Gothic Neo"/>
                <a:ea typeface="Apple SD Gothic Neo"/>
                <a:cs typeface="Apple SD Gothic Neo"/>
              </a:rPr>
              <a:t>개인 프로젝트 · 윤장한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80039-139B-4DA8-9C5A-D79EFF66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13430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직구 과정 조사와</a:t>
            </a:r>
          </a:p>
          <a:p xmlns:a="http://schemas.openxmlformats.org/drawingml/2006/main">
            <a:pPr>
              <a:buNone/>
              <a:defRPr sz="5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두 가지 도구 구현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D2A49-32B8-42C1-8D5D-A649403C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D8E7D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D8E7DE"/>
                </a:solidFill>
                <a:latin typeface="Apple SD Gothic Neo"/>
                <a:ea typeface="Apple SD Gothic Neo"/>
                <a:cs typeface="Apple SD Gothic Neo"/>
              </a:rPr>
              <a:t>Codex 플러그인 · 상품 URL 분석기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6B85A-023C-495E-8E9F-CB3E0DAA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34200"/>
            <a:ext cx="1333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B8D9C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B8D9C9"/>
                </a:solidFill>
                <a:latin typeface="Apple SD Gothic Neo"/>
                <a:ea typeface="Apple SD Gothic Neo"/>
                <a:cs typeface="Apple SD Gothic Neo"/>
              </a:rPr>
              <a:t>검증 질문, 관찰한 내용, 구현과 시험 결과</a:t>
            </a:r>
          </a:p>
        </p:txBody>
      </p:sp>
    </p:spTree>
    <p:extLst>
      <p:ext uri="{BB962C8B-B14F-4D97-AF65-F5344CB8AC3E}">
        <p14:creationId xmlns:p14="http://schemas.microsoft.com/office/powerpoint/2010/main" val="960599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CFF89-58ED-4229-9D86-BDA82A0B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검증하고자 한 내용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577E2-16E5-4715-9D41-347C4211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직접 구매 과정과, 해외 사이트 결제 이후에 추가되는 비용을 살펴봤습니다.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C7D6D-7AFC-4FBF-86E3-F7758A50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02   윤장한 · 직구 조사와 도구 구현 · 2026.10.06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6FC36-77EE-46F6-B912-DD39C2C9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구매 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52D0B-73D8-4890-8A38-C821BDD1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개인이 에이전트의 도움을 받아</a:t>
            </a:r>
          </a:p>
          <a:p xmlns:a="http://schemas.openxmlformats.org/drawingml/2006/main">
            <a:pPr>
              <a:buNone/>
              <a:defRPr sz="27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상품 조사·주문·배송신청·통관을</a:t>
            </a:r>
          </a:p>
          <a:p xmlns:a="http://schemas.openxmlformats.org/drawingml/2006/main">
            <a:pPr>
              <a:buNone/>
              <a:defRPr sz="27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어디까지 진행할 수 있는가?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52A63-3FAC-4CC9-88A9-2FD9AA5F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051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구매 전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4CDDB-E98A-4573-8D64-0C8CF59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해외 사이트에서 구매한 뒤</a:t>
            </a:r>
          </a:p>
          <a:p xmlns:a="http://schemas.openxmlformats.org/drawingml/2006/main">
            <a:pPr>
              <a:buNone/>
              <a:defRPr sz="27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추가로 발생하는 국제운송비와 관세를</a:t>
            </a:r>
          </a:p>
          <a:p xmlns:a="http://schemas.openxmlformats.org/drawingml/2006/main">
            <a:pPr>
              <a:buNone/>
              <a:defRPr sz="27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어떻게 추정할 수 있을까?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6806A-D177-47FF-9728-DBCCCC1E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62750"/>
            <a:ext cx="1352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실제 시험은 주문 확인·배송대행 접수까지 진행했습니다. 통관 완료는 아직 관측하지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995457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0D0A1-BAC3-47A7-AD4B-E17B2F8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직구 과정에서 확인한 불편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8AD13-C90A-4E03-84F0-6DABFA90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가격을 비교하는 것 외에도 가입·인증·입력과 확인이 필요했습니다.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6D04A-AFE4-42C3-9200-6180C318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03   윤장한 · 직구 조사와 도구 구현 · 2026.10.06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19150" y="2667000"/>
          <a:ext xmlns:a="http://schemas.openxmlformats.org/drawingml/2006/main" cx="136017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0648950"/>
              </a:tblGrid>
              <a:tr h="8191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과정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겪거나 확인한 내용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가입·이용 준비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메루카리는 해외 거주자로 직접 가입·구매하기 어려웠음</a:t>
                      </a:r>
                    </a:p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tenso는 주소 증빙 보완·재제출 과정이 번거롭게 느껴졌음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 비교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포장 규격·무게가 없고 운임·수수료 조건이 달라 비교가 어려웠음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주문·배송신청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이커머스와 배송대행 사이트에 정보를 옮기고 접수 결과를 대조해야 했음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진행 확인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인증을 마친 뒤 재개하거나 메일·사이트에서 다음 상태를 확인해야 했음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F1C82-B032-455A-BD30-4717D8F0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77100"/>
            <a:ext cx="1352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이번 직접 구매 시험은 라쿠텐 북스와 몰테일 경로로 진행했습니다.</a:t>
            </a:r>
          </a:p>
        </p:txBody>
      </p:sp>
    </p:spTree>
    <p:extLst>
      <p:ext uri="{BB962C8B-B14F-4D97-AF65-F5344CB8AC3E}">
        <p14:creationId xmlns:p14="http://schemas.microsoft.com/office/powerpoint/2010/main" val="664473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6B4B8-188F-4818-9B33-6D66B824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구매 경로별 비용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36C80-2506-4E87-A58E-38336B94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2026-10-06 확인 · 영상 매체(Blu-ray) 1개 · 원화 비교 환산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3B9B0-0E2A-4760-AEE6-DC0EBD54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04   윤장한 · 직구 조사와 도구 구현 · 2026.10.06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7388c9d57432b"/>
          <a:stretch xmlns:a="http://schemas.openxmlformats.org/drawingml/2006/main"/>
        </p:blipFill>
        <p:spPr>
          <a:xfrm xmlns:a="http://schemas.openxmlformats.org/drawingml/2006/main">
            <a:off x="13006595" y="361950"/>
            <a:ext cx="1371185" cy="19526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6" name=""/>
          <p:cNvGraphicFramePr/>
          <p:nvPr/>
        </p:nvGraphicFramePr>
        <p:xfrm>
          <a:off xmlns:a="http://schemas.openxmlformats.org/drawingml/2006/main" x="819150" y="2638425"/>
          <a:ext xmlns:a="http://schemas.openxmlformats.org/drawingml/2006/main" cx="136017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000375"/>
                <a:gridCol w="2476500"/>
                <a:gridCol w="1809750"/>
                <a:gridCol w="2219325"/>
              </a:tblGrid>
              <a:tr h="63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구매 경로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커머스 구매 비용¹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배송 비용²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별도 표시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소계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SAZO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50,363원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7,715원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5,036원³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63,114원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라쿠텐 북스 + tenso EMS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약48,802원</a:t>
                      </a:r>
                    </a:p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(5,666엔)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약15,504원</a:t>
                      </a:r>
                    </a:p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(1,800엔)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추가비 별도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약64,306원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라쿠텐 북스 + 몰테일 항공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약48,371원</a:t>
                      </a:r>
                    </a:p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(주문5,616엔)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약21,212원</a:t>
                      </a:r>
                    </a:p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($15.63)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추가비 별도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약69,583원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라쿠텐 북스 + WorldShopping EMS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약53,682원</a:t>
                      </a:r>
                    </a:p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(상품+대행료10%)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약16,796원</a:t>
                      </a:r>
                    </a:p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(1,950엔)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추가비 별도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약70,478원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스토어 + 국제배송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51,868원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14,419원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추가비 별도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66,287원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FED69-D6F1-4505-B168-DF65E260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43700"/>
            <a:ext cx="1352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¹ 몰테일 경로는50엔 쿠폰 적용 주문. WorldShopping은 대행료 포함. ² 운임·취급료 포함. 공식 스토어 운송사 미표기.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37F15-F0F6-45B5-8BE6-5A52A2C4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72325"/>
            <a:ext cx="1352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³ SAZO의 ‘통관·관세’ 표시 항목. tenso·WorldShopping은250g·19×14×2cm, 몰테일은0.5kg 최저 구간 가정.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07CF2-D29B-4DF6-A07A-E45773F9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10475"/>
            <a:ext cx="135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환산: 1엔=8.6131원·1달러=1,357.14원(10/4~10 과세환율). 실측·보험·세금·카드비용에 따라 달라질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80010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238FC-806C-44B5-98EF-47B565B5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소량 구매의 배송비에 대한 생각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20949-A8D1-4948-B773-551ECA76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작고 가벼운 상품을 한 개 구매할 때 배송비의 부담이 크게 느껴졌습니다.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341F5-64A0-490E-B721-B69C7D5D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05   윤장한 · 직구 조사와 도구 구현 · 2026.10.06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CBC94-C34C-409A-BA0B-F60D637C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관찰과 체감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916E5-C849-4BC0-8A99-DB04DBCF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628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최소 과금 구간에 해당하는 소형 상품은</a:t>
            </a:r>
          </a:p>
          <a:p xmlns:a="http://schemas.openxmlformats.org/drawingml/2006/main">
            <a:pPr>
              <a:buNone/>
              <a:def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무게가 더 작아도 배송비가 비례해서</a:t>
            </a:r>
          </a:p>
          <a:p xmlns:a="http://schemas.openxmlformats.org/drawingml/2006/main">
            <a:pPr>
              <a:buNone/>
              <a:def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줄지는 않을 수 있다고 생각했습니다.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DBE2B-3C7C-4971-9475-2F578F4D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628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단품 구매에서는 상품 크기에 비해</a:t>
            </a:r>
          </a:p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배송비가 크게 느껴졌습니다.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4E9BD-2231-4D61-9606-4BFC3A80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47950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확인해보고 싶은 가설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008E2-260D-4FA4-B467-B6288498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90925"/>
            <a:ext cx="628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여러 상품을 한 포장으로 보내면</a:t>
            </a:r>
          </a:p>
          <a:p xmlns:a="http://schemas.openxmlformats.org/drawingml/2006/main">
            <a:pPr>
              <a:buNone/>
              <a:def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기본 배송비를 나누어 부담할 수 있어</a:t>
            </a:r>
          </a:p>
          <a:p xmlns:a="http://schemas.openxmlformats.org/drawingml/2006/main">
            <a:pPr>
              <a:buNone/>
              <a:def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개당 비용이 줄어들 수 있지 않을까?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FE465-C82A-4E51-9DFC-9A13C01F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57850"/>
            <a:ext cx="628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개별 발송 합계 ↔ 합배송 총액</a:t>
            </a:r>
          </a:p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운임 + 합포장·처리·보관 비용을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415C6-D797-4C1D-A747-39160FA7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8665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합배송 이익은 아직 검증하지 않았습니다. 합친 무게·부피와 추가 수수료에 따라 달라질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48104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CD8E2-6B88-46D4-8CE6-DACEDF0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만들어본 두 가지 도구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F6D19-FEF8-4EC6-B560-97203268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구매 실행을 보조하는 도구와, 구매 전 정보를 분석하는 도구를 별도로 구현했습니다.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FDF17-8E81-4DD1-9B71-43EC1646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06   윤장한 · 직구 조사와 도구 구현 · 2026.10.06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2E8E4-ADCF-4DD3-B0E9-E946A384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01  Codex 플러그인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7EB12-47F0-4FC8-A598-E5A1000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조사·입력·상태 확인 보조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919F4-457E-4951-88AE-772DE755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6334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상품 조사와 배송대행 비교</a:t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이커머스 주문 대조·배송대행 신청</a:t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구매 확인 후 일일 메일 추적 등록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D4D80-0F9C-410C-822D-0F21507B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43200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02  URL 분석기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E0DA8-2F53-4013-BF90-3B3EE6CD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433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상품·배송·관세 정보 추정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84C0C-9946-4A8B-9A71-7A8E74F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552950"/>
            <a:ext cx="6191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판매처별 상품 정보 수집</a:t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이미지·검색 기반 포장 사양 추정</a:t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공개 세율을 이용한 예상 세금 계산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33A90-B866-4A31-ADD2-4B76896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6280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두 도구는 독립적으로 동작합니다. 플러그인의 실제 실행 경로는 일부 서비스에서 검증했습니다.</a:t>
            </a:r>
          </a:p>
        </p:txBody>
      </p:sp>
    </p:spTree>
    <p:extLst>
      <p:ext uri="{BB962C8B-B14F-4D97-AF65-F5344CB8AC3E}">
        <p14:creationId xmlns:p14="http://schemas.microsoft.com/office/powerpoint/2010/main" val="581407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C614E-3F82-4D5B-A4CE-107EBEF0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Codex 플러그인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2BFA9-9071-4231-87A8-715CDA50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다섯 개 skill이 작업 절차를 안내하고, Python helper가 계산과 상태를 관리합니다.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CE9D-7C14-41E1-8C26-195EB1AC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07   윤장한 · 직구 조사와 도구 구현 · 2026.10.06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83669-6D46-444C-ABEA-79830075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상품 조사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9E573-DC53-458A-B986-5E6CE5ED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146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배송대행 비교</a:t>
            </a:r>
          </a:p>
        </p:txBody>
      </p: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05150" y="3143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E58"/>
            </a:solidFill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0E10B-2701-4395-8837-7F599B74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146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이커머스 구매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15025" y="3143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E58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3A420-328D-4FEC-902D-D85FBC54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146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배송대행 신청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24900" y="3143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E58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3B048-7A63-4039-8EBE-0B39347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7146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진행 추적</a:t>
            </a:r>
          </a:p>
        </p:txBody>
      </p: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1534775" y="3143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E58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4BDE8-0B4D-4234-97FD-545D971E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브라우저와 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ED361-7FC4-454C-BEC8-195429E3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0532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현재 상품·폼·완료 화면을 확인하고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D7DE1-7033-4938-9306-DE226A03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Python + SQLite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D44EE-11E5-4F0D-B8F4-9CBFFDB0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673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승인 조건·실행 시도·견적·상태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98431-0E35-49D5-ABAC-B9D6B032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293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70CA5-AD6D-4E45-AAA7-40E984E2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42937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로그인·추가 인증·최종 구매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662DA-8E8E-44C7-95E9-822A67DA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24750"/>
            <a:ext cx="1352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현재 실행 검증: 라쿠텐 북스 구매·몰테일 신청. 다른 서비스로의 확대는 별도 구현이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656478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622E8-CCF8-4755-822B-F67751AA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Codex 플러그인 시험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7E4B9-A945-4B5F-99FB-553BB3AF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첫 요청 1회 + 후속 입력 6회로 배송대행 접수까지 진행했습니다.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0BC28-7FE1-4EEB-8AB0-7A72AF0F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08   윤장한 · 직구 조사와 도구 구현 · 2026.10.06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4BC91-A076-4411-8719-DE708FA1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09850"/>
            <a:ext cx="542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3E34"/>
          </a:solidFill>
          <a:ln xmlns:a="http://schemas.openxmlformats.org/drawingml/2006/main" w="19050">
            <a:solidFill>
              <a:srgbClr val="183E34"/>
            </a:solidFill>
          </a:ln>
        </p:spPr>
        <p:txBody>
          <a:bodyPr xmlns:a="http://schemas.openxmlformats.org/drawingml/2006/main" lIns="228600" tIns="114300" rIns="209550" bIns="11430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상품을 구매하고</a:t>
            </a:r>
          </a:p>
          <a:p xmlns:a="http://schemas.openxmlformats.org/drawingml/2006/main">
            <a:pPr>
              <a:buNone/>
              <a:defRPr sz="21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배송대행 신청까지 진행해줘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4309E-CC0D-47B6-B46E-E205806F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4D975-14B7-4D4C-A0BE-DD6AF4DA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24275"/>
            <a:ext cx="581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E34"/>
            </a:solidFill>
          </a:ln>
        </p:spPr>
        <p:txBody>
          <a:bodyPr xmlns:a="http://schemas.openxmlformats.org/drawingml/2006/main" lIns="228600" tIns="114300" rIns="209550" bIns="11430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상품·배송 조건 확인 후</a:t>
            </a:r>
          </a:p>
          <a:p xmlns:a="http://schemas.openxmlformats.org/drawingml/2006/main">
            <a:pPr>
              <a:buNone/>
              <a:defRPr sz="210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로그인과 정보 입력 승인을 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EA5FC-9821-40C0-9333-0E846E19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71925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에이전트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95481-70B1-4070-9D0C-F49A58BA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38700"/>
            <a:ext cx="542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3E34"/>
          </a:solidFill>
          <a:ln xmlns:a="http://schemas.openxmlformats.org/drawingml/2006/main" w="19050">
            <a:solidFill>
              <a:srgbClr val="183E34"/>
            </a:solidFill>
          </a:ln>
        </p:spPr>
        <p:txBody>
          <a:bodyPr xmlns:a="http://schemas.openxmlformats.org/drawingml/2006/main" lIns="228600" tIns="114300" rIns="209550" bIns="11430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로그인 완료 · 입력/제출 승인</a:t>
            </a:r>
          </a:p>
          <a:p xmlns:a="http://schemas.openxmlformats.org/drawingml/2006/main">
            <a:pPr>
              <a:buNone/>
              <a:defRPr sz="21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구매/인증 완료 알림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E823B-4883-44D4-8AD8-94903ED7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86350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90B67-C69C-4211-AA4B-6D76A0D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53125"/>
            <a:ext cx="581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E34"/>
            </a:solidFill>
          </a:ln>
        </p:spPr>
        <p:txBody>
          <a:bodyPr xmlns:a="http://schemas.openxmlformats.org/drawingml/2006/main" lIns="228600" tIns="114300" rIns="209550" bIns="114300" anchor="ctr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주문 정보를 대조하고 신청서 작성</a:t>
            </a:r>
          </a:p>
          <a:p xmlns:a="http://schemas.openxmlformats.org/drawingml/2006/main">
            <a:pPr>
              <a:buNone/>
              <a:defRPr sz="210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인증 후 같은 신청서로 접수 완료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133CB-A9AB-49AA-BFB6-94453BAD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00775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에이전트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DE6E7-0F49-47F8-B2C1-C7906294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실제 접수 결과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30a489f91448a"/>
          <a:stretch xmlns:a="http://schemas.openxmlformats.org/drawingml/2006/main"/>
        </p:blipFill>
        <p:spPr>
          <a:xfrm xmlns:a="http://schemas.openxmlformats.org/drawingml/2006/main">
            <a:off x="9858375" y="3422061"/>
            <a:ext cx="4572000" cy="3633377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E33A3-3292-4F4A-A444-A91F53FB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00925"/>
            <a:ext cx="1352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대화는 실제 기록의 요약입니다. 후속 입력은 로그인2회·승인2회·구매/인증 완료 알림2회입니다.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EE6A5-D0C0-4039-8D7B-AFB3A0BF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81925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메시지 수 기준이며, 로그인·구매·인증 화면의 클릭과 입력 횟수는 별도로 측정하지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997799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BC463-8BB3-40D6-A429-EE81D822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구매 확인 후 일일 메일 추적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0F578-1C34-4413-8E58-0B6DF11D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구매 완료가 확인되면 Codex scheduler에 하루 한 번의 추적 작업을 등록합니다.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1B4DF-02EC-450B-81FD-1D4D2EC8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09   윤장한 · 직구 조사와 도구 구현 · 2026.10.06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1B909-54A3-41C3-95AA-7BD044E6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구매 완료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33D1B-322A-4799-B9EB-9D406B3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1462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일일 scheduler 등록</a:t>
            </a:r>
          </a:p>
        </p:txBody>
      </p: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29150" y="31432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E58"/>
            </a:solidFill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EF7B9-7553-4DC5-A105-D03E071C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1462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주문·배송 진행 추적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86900" y="31432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E58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F6075-7705-40DA-9D6B-0AE4E4B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실제 주문 접수 근거 확인</a:t>
            </a:r>
          </a:p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배송대행 접수 전에도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EDCA9-A882-4D8A-9271-8019BA1C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57650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메일 단회 조회 후 등록</a:t>
            </a:r>
          </a:p>
          <a:p xmlns:a="http://schemas.openxmlformats.org/drawingml/2006/main">
            <a:pPr>
              <a:buNone/>
              <a:defRPr sz="21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기존 예약 ID가 있으면 재사용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3C545-B012-4DCD-BD67-95E657C2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057650"/>
            <a:ext cx="3886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주문·배송대행 메일 확인</a:t>
            </a:r>
          </a:p>
          <a:p xmlns:a="http://schemas.openxmlformats.org/drawingml/2006/main">
            <a:pPr>
              <a:buNone/>
              <a:def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발송·입고·출고·통관 상태 대조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D9275-FA19-4AE0-AC08-CE5096A1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81725"/>
            <a:ext cx="13525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의미 있는 변경이나 사용자 조치가 필요할 때 알리고,</a:t>
            </a:r>
          </a:p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배송완료·취소가 확인되면 예약을 종료합니다.</a:t>
            </a:r>
          </a:p>
        </p:txBody>
      </p:sp>
    </p:spTree>
    <p:extLst>
      <p:ext uri="{BB962C8B-B14F-4D97-AF65-F5344CB8AC3E}">
        <p14:creationId xmlns:p14="http://schemas.microsoft.com/office/powerpoint/2010/main" val="9995724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54C67-149C-461B-B36F-F2E406CE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URL 분석기 · 실행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62A97-611E-4780-857E-2A44E34E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https://catalog.janghan.dev/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770DD-491C-45F6-939E-1E8F3391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10   윤장한 · 직구 조사와 도구 구현 · 2026.10.06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E2721-CC25-4C3E-AD1F-5AEFBDC5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5619750" cy="573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8ACA2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6c3b97fa147f7"/>
          <a:stretch xmlns:a="http://schemas.openxmlformats.org/drawingml/2006/main"/>
        </p:blipFill>
        <p:spPr>
          <a:xfrm xmlns:a="http://schemas.openxmlformats.org/drawingml/2006/main">
            <a:off x="5059326" y="2238375"/>
            <a:ext cx="5121349" cy="5505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15995-CD4E-4ACE-9282-4A1EFA66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337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URL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0D93B-6383-40F2-85AC-DFCA111E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766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상품 링크 하나로</a:t>
            </a:r>
          </a:p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분석을 시작합니다.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8C2C6-1AD6-49FC-8D9B-CC5B0E76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0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결과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62222-1D9F-4C9A-988F-72E63029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562600"/>
            <a:ext cx="3333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상품·배송·세금과</a:t>
            </a:r>
          </a:p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미확인 조건을</a:t>
            </a:r>
          </a:p>
          <a:p xmlns:a="http://schemas.openxmlformats.org/drawingml/2006/main">
            <a:pPr>
              <a:buNone/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함께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755736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8FC16-50E8-40A7-9F98-CF473474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URL 분석기의 처리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71BD6-A549-4DB3-A022-1F712696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라쿠텐 이치바·북스와 메루카리의 상품 URL을 입력으로 사용합니다.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43D07-BA79-4F16-832B-41BE39E4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11   윤장한 · 직구 조사와 도구 구현 · 2026.10.06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CDBE3-406C-4B83-96A2-77DF3AA3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상품 정보 수집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179FB-80AE-4E5D-8720-9BF7189D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7652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배송 정보 추정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29150" y="31051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E58"/>
            </a:solidFill>
            <a:tail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6A0D9-6598-4AC3-B3D5-5076FB1B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67652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관세 정보 추정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86900" y="31051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E58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41AE7-8CF4-44E0-B5B8-58B17B34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API·HTML·브라우저</a:t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상품명·가격·판매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F2C24-963C-4CA8-9147-0F9D52E5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52875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이미지·제품명·검색</a:t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포장 무게·치수·운임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7D310-6BDF-49D6-B5AC-2290B460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52875"/>
            <a:ext cx="3886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HS·HSK 후보와 공개 세율</a:t>
            </a:r>
          </a:p>
          <a:p xmlns:a="http://schemas.openxmlformats.org/drawingml/2006/main">
            <a:pPr>
              <a:buNone/>
              <a:defRPr sz="21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환율·조건별 예상 세금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CD27E-5301-44C7-B19A-5956678C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1352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실시간 진행 상태와 단계별 결과를 표시하고, 상세에서 출처와 추정 조건을 확인합니다.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08C0F-B134-4B6E-87C1-C200EC8B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39025"/>
            <a:ext cx="1352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수집값·모델 가정·미확인 항목을 구분하며, 입력 부족이나 조회 실패는 부분 결과로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6480145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22E74-4C60-4059-A86D-6863663D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관세 실험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FEE7B-2BB4-4FE7-94B0-B569B783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동일한 항목으로 정리하되, 실제 URL 분석과 합성 계산 표본의 차이는 구분했습니다.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E12B8-736B-4826-BCBA-F439BC3D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12   윤장한 · 직구 조사와 도구 구현 · 2026.10.06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19150" y="2505075"/>
          <a:ext xmlns:a="http://schemas.openxmlformats.org/drawingml/2006/main" cx="136017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629275"/>
                <a:gridCol w="5638800"/>
              </a:tblGrid>
              <a:tr h="769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TCG 상품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주류(위스키)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자료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메루카리 실제 판매글</a:t>
                      </a:r>
                    </a:p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2026-10-05 운영 분석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제조사 사양 + 합성 계산 입력</a:t>
                      </a:r>
                    </a:p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2026-09-30 저장 시험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분류·추출 결과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HSK 9504400000 후보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whisky 후보 · 700ml·43% 추출</a:t>
                      </a:r>
                    </a:p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병 수는 미확인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계산 조건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 판매가70,000JPY</a:t>
                      </a:r>
                    </a:p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기본관세8%·일반 부가세10% 가정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별도 합성 입력: $200·750ml 1병·40%</a:t>
                      </a:r>
                    </a:p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환율1,000원/$·운임0 가정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예상 세금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115,776 ~ 117,335원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353,696원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확인한 범위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상품 분류→공개 세율→계산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사양 추출과 계산 회귀</a:t>
                      </a:r>
                    </a:p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용량·병 수 경계 및 누락 입력 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DA90-5FDA-4057-BD5F-B6BF13B6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05700"/>
            <a:ext cx="1352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실제 납부세액과 대조한 정확도 검증은 아닙니다. 주류의 사양 추출 표본과 산술 표본은 서로 다릅니다.</a:t>
            </a:r>
          </a:p>
        </p:txBody>
      </p:sp>
    </p:spTree>
    <p:extLst>
      <p:ext uri="{BB962C8B-B14F-4D97-AF65-F5344CB8AC3E}">
        <p14:creationId xmlns:p14="http://schemas.microsoft.com/office/powerpoint/2010/main" val="9243152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8FC11-7A89-49A1-9415-5F9E1991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도구 측면에서 남은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9C6C6-C04B-4E2C-9E9A-15FCCB86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이번 구현으로 확인하지 못한 범위입니다. 추가 개발·검증 일정은 잡지 않았습니다.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757A2-D1DE-4E62-9238-78BE5328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13   윤장한 · 직구 조사와 도구 구현 · 2026.10.06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19150" y="2724150"/>
          <a:ext xmlns:a="http://schemas.openxmlformats.org/drawingml/2006/main" cx="13601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0458450"/>
              </a:tblGrid>
              <a:tr h="11239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확인하지 못한 부분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추정 정확도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포장 치수·무게와 관세 추정이 실제 값과 얼마나 일치하는가</a:t>
                      </a:r>
                    </a:p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인형처럼 형태가 복잡한 상품도 적절한 포장 범위를 추정하는가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판매처 확대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라쿠텐·메루카리 밖의 사이트에서도 안정적으로 수집·파싱할 수 있는가</a:t>
                      </a:r>
                    </a:p>
                    <a:p>
                      <a:r>
                        <a:rPr sz="202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API가 없는 사이트의 화면 변경·접근 제한에 어떻게 대응할 것인가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2C7F5-31F3-4C29-991F-EC01E668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86550"/>
            <a:ext cx="1352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라쿠텐은 API로 상품 정보를 가져왔습니다.</a:t>
            </a:r>
          </a:p>
          <a:p xmlns:a="http://schemas.openxmlformats.org/drawingml/2006/main">
            <a:pPr>
              <a:buNone/>
              <a:def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메루카리는 웹페이지를 크롤링하고 HTML을 파싱했습니다.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139167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63C29-76F4-44AD-ADEB-BD9632F6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이번 경험과 구매대행 사업에 대한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E600B-0D89-4E68-BF92-D5DFC21B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입력 과정의 간소화와 배송비의 경제성은 별도로 보게 됐습니다.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D731C-2CB5-4D69-BFCD-7F7C7BC6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14   윤장한 · 직구 조사와 도구 구현 · 2026.10.06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FC332-F1BB-4EF4-8C5B-215000E2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633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이번 사례에서 느낀 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00A99-44AA-488C-AB63-8C1AB2F6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6334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에이전트로 배송대행 정보 입력과</a:t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접수 확인을 간소화할 수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소형·경량 상품1개에서는 직접구매의</a:t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비용 이점을 확인하지 못했습니다.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B03F8-7A8C-4173-9A4C-2681FA82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6334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사업 측면에서 남은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97609-2BCE-4884-9080-F157B6C3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76625"/>
            <a:ext cx="6334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합배송으로 운송비를</a:t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얼마나 최적화할 수 있을까?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개별 발송과 합배송의 총비용을</a:t>
            </a:r>
          </a:p>
          <a:p xmlns:a="http://schemas.openxmlformats.org/drawingml/2006/main">
            <a:pPr>
              <a:buNone/>
              <a:def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포장·처리·보관 비용까지 비교해야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357C0-7EF6-4315-BDFC-32C00050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91300"/>
            <a:ext cx="1352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10/6 확인 소계는 SAZO63,114원, 직접구매+tenso 약64,306원이었습니다.</a:t>
            </a:r>
          </a:p>
          <a:p xmlns:a="http://schemas.openxmlformats.org/drawingml/2006/main">
            <a:pPr>
              <a:buNone/>
              <a:def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이 조건에서는 구매대행을 이용하는 편이 유리하다고 느꼈습니다.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B0238-BB3C-4472-921F-DF5561BE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39050"/>
            <a:ext cx="1352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운송·특전 등 조건 차이와 미확정 비용이 남아 있어 모든 소량 직구의 결론으로 일반화하지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915172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F3D43-F542-410E-9A75-2BD83D3F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에이전트 커머스에 대한 생각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14A55-0516-4234-87DE-78D217F2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이번에는 브라우저를 통해 배송대행 정보를 입력했습니다.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702E4-CE0C-4AEF-94F6-284D9068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15   윤장한 · 직구 조사와 도구 구현 · 2026.10.06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16573-233F-479C-8D51-A64FC701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1352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에이전트로 구매가 가능해지고, 배송대행 업체가 신청용 MCP 등을 제공한다면</a:t>
            </a:r>
          </a:p>
          <a:p xmlns:a="http://schemas.openxmlformats.org/drawingml/2006/main">
            <a:pPr>
              <a:buNone/>
              <a:defRPr sz="24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직구 과정 전체를 에이전트에 맡기는 흐름도 가능하지 않을까 생각했습니다.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4BB0A-56B2-4CCD-AF43-CBAB5868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5767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에이전트가 구매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BD43A-1989-4E9C-B58A-F25E7ED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5767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배송대행 MCP로 신청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629150" y="46863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E58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8344C-3571-4F89-9787-092EB536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25767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주문·배송·통관 추적</a:t>
            </a:r>
          </a:p>
        </p:txBody>
      </p: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486900" y="46863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6E58"/>
            </a:solidFill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A9E9D-C41B-43EB-84CF-A45D6C2E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91175"/>
            <a:ext cx="13525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그때 사조 같은 구매대행 업체의 경쟁력은 구매 과정의 간편함뿐 아니라,</a:t>
            </a:r>
          </a:p>
          <a:p xmlns:a="http://schemas.openxmlformats.org/drawingml/2006/main">
            <a:pPr>
              <a:buNone/>
              <a:defRPr sz="24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합배송으로 비용을 조정하고 물류·검수·예외를 처리하는 노하우에</a:t>
            </a:r>
          </a:p>
          <a:p xmlns:a="http://schemas.openxmlformats.org/drawingml/2006/main">
            <a:pPr>
              <a:buNone/>
              <a:defRPr sz="24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더 크게 남지 않을까 생각합니다.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F6EEB-40DE-4581-B4E9-D6388785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86650"/>
            <a:ext cx="135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공개 코드  github.com/y00nZZang/crossborder-purchase-agent  ·  github.com/y00nZZang/product-catalog</a:t>
            </a:r>
          </a:p>
        </p:txBody>
      </p:sp>
    </p:spTree>
    <p:extLst>
      <p:ext uri="{BB962C8B-B14F-4D97-AF65-F5344CB8AC3E}">
        <p14:creationId xmlns:p14="http://schemas.microsoft.com/office/powerpoint/2010/main" val="658660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E9C89-36F8-44F5-9A6D-3FA9FE32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부록 · Jev 판단 모델 비교 실험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63259-6DB3-4276-946A-81F3A6C6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가정용·취미 상품의 HS 후보 선택시간과 비용을 비교했습니다.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C3CF6-1C90-41B1-B0A3-F0B83D62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16   윤장한 · 직구 조사와 도구 구현 · 부록 · 2026.10.07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A043A-B990-499F-B282-A1D59D3E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352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HSCodeComp는 실제 전자상거래 상품632개에 전문가가 HS 코드를 붙인 공개 평가셋입니다.</a:t>
            </a:r>
          </a:p>
          <a:p xmlns:a="http://schemas.openxmlformats.org/drawingml/2006/main">
            <a:pPr>
              <a:def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가정용·취미 범위에서 이전 실험과 겹치지 않는 새 상품93개를 평가했습니다.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19150" y="4124325"/>
          <a:ext xmlns:a="http://schemas.openxmlformats.org/drawingml/2006/main" cx="136017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143500"/>
                <a:gridCol w="5791200"/>
              </a:tblGrid>
              <a:tr h="5667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실험 조건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선별·평가 원칙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생활·주방 / 의류 / 취미 / 전자기기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상품 용도를 기준으로 선별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Jev1.13 ↔ GPT-6 Luna low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동일한 상품명·속성·HS 목록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단일 경로 HS2 → HS4 → HS6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정보 부족·복합 재질·세트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A524F-98D4-4099-9EF4-56CADF8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29425"/>
            <a:ext cx="1352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HSCodeComp 원본: </a:t>
            </a:r>
            <a:r>
              <a:rPr sz="1875" b="0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  <a:hlinkClick xmlns:r="http://schemas.openxmlformats.org/officeDocument/2006/relationships" r:id="R50a12f88ed144c3b"/>
              </a:rPr>
              <a:t>huggingface.co/datasets/ATH-MaaS/HSCodeComp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1DE84-6F71-428E-B7A9-03E9308E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24750"/>
            <a:ext cx="1352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텍스트만 사용했습니다. 웹 검색·이미지 분석·복수 경로 재선택은 이번 비교에서 제외했습니다.</a:t>
            </a:r>
          </a:p>
        </p:txBody>
      </p:sp>
    </p:spTree>
    <p:extLst>
      <p:ext uri="{BB962C8B-B14F-4D97-AF65-F5344CB8AC3E}">
        <p14:creationId xmlns:p14="http://schemas.microsoft.com/office/powerpoint/2010/main" val="17532307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A9B6B-FFBE-4769-8FD8-78C260F3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HS 후보 판단시간을 약7배 줄였습니다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B1DE0-2524-4100-8CF6-7BEE21F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새 서비스 범위93개에서 Jev의 중앙 처리시간과 추정 비용이 더 낮았습니다.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1D405-F07D-43A3-962D-4374BD2D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17   윤장한 · 직구 조사와 도구 구현 · 부록 · 2026.10.07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19150" y="2647950"/>
          <a:ext xmlns:a="http://schemas.openxmlformats.org/drawingml/2006/main" cx="87153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4ca97f2953496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8A43C-DB18-4CEA-99D3-90D9037E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813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판단시간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35CC9-F8DD-48F2-AE0B-DD732F7A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718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약7배 빠르게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01935-53BF-405C-8716-1867321D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862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0.645초 ↔ 4.510초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3A803-5A86-42C3-A064-71C775AB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추정 API 비용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4D6CB-1B40-40E6-9B2A-5AAB85B4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435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57.1% 감소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321F8-FCBF-4850-9DD8-96507F6D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93개 합계 $0.0226 ↔ $0.0527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5420C-E203-4A55-AD94-948D72B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58050"/>
            <a:ext cx="1352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분류 단계의 실험 수치입니다. 전체 URL 분석시간이나 운영 서비스 개선율이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7551622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82C56-FD94-4B62-B649-C3276BB9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362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182C29"/>
                </a:solidFill>
                <a:latin typeface="Apple SD Gothic Neo"/>
                <a:ea typeface="Apple SD Gothic Neo"/>
                <a:cs typeface="Apple SD Gothic Neo"/>
              </a:rPr>
              <a:t>빠른 후보 판단과 최종 검토를 구분했습니다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ED953-A43C-4932-A8AA-B0CBA276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33525"/>
            <a:ext cx="1352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처리시간·비용 이점과 함께, 재질·용도·정보 부족에 따른 판단 한계를 확인했습니다.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62081-D92A-45D5-ABA9-2207BC89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58150"/>
            <a:ext cx="1362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18   윤장한 · 직구 조사와 도구 구현 · 부록 · 2026.10.07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19150" y="2695575"/>
          <a:ext xmlns:a="http://schemas.openxmlformats.org/drawingml/2006/main" cx="136017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048250"/>
                <a:gridCol w="5314950"/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검토 항목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관찰한 사례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적용 범위 (제안)</a:t>
                      </a:r>
                    </a:p>
                  </a:txBody>
                  <a:tcPr marL="91440" marR="91440" marT="45720" marB="45720">
                    <a:solidFill>
                      <a:srgbClr val="182C2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재질·제품 용도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PU 인조가죽 / 인형용 모자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 근거를 확인해 분류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복합 재질·세트·부품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제목·속성·용도가 서로 충돌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불충분한 정보는 보류</a:t>
                      </a:r>
                    </a:p>
                  </a:txBody>
                  <a:tcPr marL="91440" marR="91440" marT="45720" marB="45720">
                    <a:solidFill>
                      <a:srgbClr val="F8F8F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입력과 참조 라벨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상품 정보와 라벨의 불일치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82C29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분류 결과와 데이터 함께 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8C92F-5FCE-4341-9265-E987EBAA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5E706B"/>
                </a:solidFill>
                <a:latin typeface="Apple SD Gothic Neo"/>
                <a:ea typeface="Apple SD Gothic Neo"/>
                <a:cs typeface="Apple SD Gothic Neo"/>
              </a:rPr>
              <a:t>판단 품질과 답변률에는 차이가 있습니다. 최종 관세 분류를 자동 확정하는 근거로 쓰지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C2F91-F13D-4AE3-B727-98FFA562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48450"/>
            <a:ext cx="1352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검증 결과: 정확도·답변률·토큰·실패 사례를 공개 레포에서 확인할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5D73E-900A-49F2-B93C-95B6BCA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0"/>
            <a:ext cx="1352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</a:rPr>
              <a:t>공개 실험 기록 · </a:t>
            </a:r>
            <a:r>
              <a:rPr sz="1875" b="0">
                <a:solidFill>
                  <a:srgbClr val="156E58"/>
                </a:solidFill>
                <a:latin typeface="Apple SD Gothic Neo"/>
                <a:ea typeface="Apple SD Gothic Neo"/>
                <a:cs typeface="Apple SD Gothic Neo"/>
                <a:hlinkClick xmlns:r="http://schemas.openxmlformats.org/officeDocument/2006/relationships" r:id="Raf335aa5e8c24561"/>
              </a:rPr>
              <a:t>github.com/y00nZZang/product-catalog</a:t>
            </a:r>
          </a:p>
        </p:txBody>
      </p:sp>
    </p:spTree>
    <p:extLst>
      <p:ext uri="{BB962C8B-B14F-4D97-AF65-F5344CB8AC3E}">
        <p14:creationId xmlns:p14="http://schemas.microsoft.com/office/powerpoint/2010/main" val="1964270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2026-10-07T02:05:38.8200000Z</dcterms:created>
  <dcterms:modified xsi:type="dcterms:W3CDTF">2026-10-07T02:05:38.8200000Z</dcterms:modified>
</coreProperties>
</file>