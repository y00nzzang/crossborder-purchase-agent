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1b91ea3de94432" /><Relationship Type="http://schemas.openxmlformats.org/officeDocument/2006/relationships/extended-properties" Target="/docProps/app.xml" Id="Rbb10844b089942a0" /><Relationship Type="http://schemas.openxmlformats.org/officeDocument/2006/relationships/officeDocument" Target="/ppt/presentation.xml" Id="Rb571256542a841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73e56126214a4d"/>
  </p:sldMasterIdLst>
  <p:notesMasterIdLst>
    <p:notesMasterId xmlns:r="http://schemas.openxmlformats.org/officeDocument/2006/relationships" r:id="R6620ae9930944070"/>
  </p:notesMasterIdLst>
  <p:sldIdLst>
    <p:sldId xmlns:r="http://schemas.openxmlformats.org/officeDocument/2006/relationships" id="256" r:id="R4620abbc58554d17"/>
    <p:sldId xmlns:r="http://schemas.openxmlformats.org/officeDocument/2006/relationships" id="257" r:id="R2ab673175a354639"/>
    <p:sldId xmlns:r="http://schemas.openxmlformats.org/officeDocument/2006/relationships" id="258" r:id="R8ca2ada2006344a6"/>
    <p:sldId xmlns:r="http://schemas.openxmlformats.org/officeDocument/2006/relationships" id="259" r:id="R71d6a37f70814a9a"/>
    <p:sldId xmlns:r="http://schemas.openxmlformats.org/officeDocument/2006/relationships" id="260" r:id="R797e253fc39e47b8"/>
    <p:sldId xmlns:r="http://schemas.openxmlformats.org/officeDocument/2006/relationships" id="261" r:id="Raafd823886724e21"/>
    <p:sldId xmlns:r="http://schemas.openxmlformats.org/officeDocument/2006/relationships" id="262" r:id="Reda0ddb6f15345fa"/>
    <p:sldId xmlns:r="http://schemas.openxmlformats.org/officeDocument/2006/relationships" id="263" r:id="Rd82faf79885e4808"/>
    <p:sldId xmlns:r="http://schemas.openxmlformats.org/officeDocument/2006/relationships" id="264" r:id="R14b781f27b6a4565"/>
    <p:sldId xmlns:r="http://schemas.openxmlformats.org/officeDocument/2006/relationships" id="265" r:id="R26ff4dc103e84640"/>
    <p:sldId xmlns:r="http://schemas.openxmlformats.org/officeDocument/2006/relationships" id="266" r:id="R4772e337f96f45e0"/>
    <p:sldId xmlns:r="http://schemas.openxmlformats.org/officeDocument/2006/relationships" id="267" r:id="Ra2fb7ba48b654043"/>
    <p:sldId xmlns:r="http://schemas.openxmlformats.org/officeDocument/2006/relationships" id="268" r:id="Rd523a707c0284741"/>
    <p:sldId xmlns:r="http://schemas.openxmlformats.org/officeDocument/2006/relationships" id="269" r:id="R5c6686d4688c4b21"/>
    <p:sldId xmlns:r="http://schemas.openxmlformats.org/officeDocument/2006/relationships" id="270" r:id="R904f62015ba6407d"/>
    <p:sldId xmlns:r="http://schemas.openxmlformats.org/officeDocument/2006/relationships" id="271" r:id="R81acc5ce41114022"/>
    <p:sldId xmlns:r="http://schemas.openxmlformats.org/officeDocument/2006/relationships" id="272" r:id="Rd6d16cc6f8014e6f"/>
    <p:sldId xmlns:r="http://schemas.openxmlformats.org/officeDocument/2006/relationships" id="273" r:id="Rd18ecd584ff941d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a76f296d9e4834" /><Relationship Type="http://schemas.openxmlformats.org/officeDocument/2006/relationships/slideMaster" Target="/ppt/slideMasters/slideMaster1.xml" Id="Rfc73e56126214a4d" /><Relationship Type="http://schemas.openxmlformats.org/officeDocument/2006/relationships/notesMaster" Target="/ppt/notesMasters/notesMaster1.xml" Id="R6620ae9930944070" /><Relationship Type="http://schemas.openxmlformats.org/officeDocument/2006/relationships/presProps" Target="/ppt/presProps.xml" Id="R5cb5504bcdfb414c" /><Relationship Type="http://schemas.openxmlformats.org/officeDocument/2006/relationships/tableStyles" Target="/ppt/tableStyles.xml" Id="Rb1f26e90f56f472a" /><Relationship Type="http://schemas.openxmlformats.org/officeDocument/2006/relationships/slide" Target="/ppt/slides/slide1.xml" Id="R4620abbc58554d17" /><Relationship Type="http://schemas.openxmlformats.org/officeDocument/2006/relationships/slide" Target="/ppt/slides/slide2.xml" Id="R2ab673175a354639" /><Relationship Type="http://schemas.openxmlformats.org/officeDocument/2006/relationships/slide" Target="/ppt/slides/slide3.xml" Id="R8ca2ada2006344a6" /><Relationship Type="http://schemas.openxmlformats.org/officeDocument/2006/relationships/slide" Target="/ppt/slides/slide4.xml" Id="R71d6a37f70814a9a" /><Relationship Type="http://schemas.openxmlformats.org/officeDocument/2006/relationships/slide" Target="/ppt/slides/slide5.xml" Id="R797e253fc39e47b8" /><Relationship Type="http://schemas.openxmlformats.org/officeDocument/2006/relationships/slide" Target="/ppt/slides/slide6.xml" Id="Raafd823886724e21" /><Relationship Type="http://schemas.openxmlformats.org/officeDocument/2006/relationships/slide" Target="/ppt/slides/slide7.xml" Id="Reda0ddb6f15345fa" /><Relationship Type="http://schemas.openxmlformats.org/officeDocument/2006/relationships/slide" Target="/ppt/slides/slide8.xml" Id="Rd82faf79885e4808" /><Relationship Type="http://schemas.openxmlformats.org/officeDocument/2006/relationships/slide" Target="/ppt/slides/slide9.xml" Id="R14b781f27b6a4565" /><Relationship Type="http://schemas.openxmlformats.org/officeDocument/2006/relationships/slide" Target="/ppt/slides/slide10.xml" Id="R26ff4dc103e84640" /><Relationship Type="http://schemas.openxmlformats.org/officeDocument/2006/relationships/slide" Target="/ppt/slides/slide11.xml" Id="R4772e337f96f45e0" /><Relationship Type="http://schemas.openxmlformats.org/officeDocument/2006/relationships/slide" Target="/ppt/slides/slide12.xml" Id="Ra2fb7ba48b654043" /><Relationship Type="http://schemas.openxmlformats.org/officeDocument/2006/relationships/slide" Target="/ppt/slides/slide13.xml" Id="Rd523a707c0284741" /><Relationship Type="http://schemas.openxmlformats.org/officeDocument/2006/relationships/slide" Target="/ppt/slides/slide14.xml" Id="R5c6686d4688c4b21" /><Relationship Type="http://schemas.openxmlformats.org/officeDocument/2006/relationships/slide" Target="/ppt/slides/slide15.xml" Id="R904f62015ba6407d" /><Relationship Type="http://schemas.openxmlformats.org/officeDocument/2006/relationships/slide" Target="/ppt/slides/slide16.xml" Id="R81acc5ce41114022" /><Relationship Type="http://schemas.openxmlformats.org/officeDocument/2006/relationships/slide" Target="/ppt/slides/slide17.xml" Id="Rd6d16cc6f8014e6f" /><Relationship Type="http://schemas.openxmlformats.org/officeDocument/2006/relationships/slide" Target="/ppt/slides/slide18.xml" Id="Rd18ecd584ff941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3343649af444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7bb8d161be4d05" /><Relationship Type="http://schemas.openxmlformats.org/officeDocument/2006/relationships/notesMaster" Target="/ppt/notesMasters/notesMaster1.xml" Id="R6edc0e3c6f7547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365c009e4d45e8" /><Relationship Type="http://schemas.openxmlformats.org/officeDocument/2006/relationships/notesMaster" Target="/ppt/notesMasters/notesMaster1.xml" Id="R56be9920ebc749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8545f04ede4696" /><Relationship Type="http://schemas.openxmlformats.org/officeDocument/2006/relationships/notesMaster" Target="/ppt/notesMasters/notesMaster1.xml" Id="R55e6605c78b441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99020e2cb94d2f" /><Relationship Type="http://schemas.openxmlformats.org/officeDocument/2006/relationships/notesMaster" Target="/ppt/notesMasters/notesMaster1.xml" Id="Rfe09a0317a1e41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8067dc15774a12" /><Relationship Type="http://schemas.openxmlformats.org/officeDocument/2006/relationships/notesMaster" Target="/ppt/notesMasters/notesMaster1.xml" Id="R309fabd07ba24c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2401298c4142a1" /><Relationship Type="http://schemas.openxmlformats.org/officeDocument/2006/relationships/notesMaster" Target="/ppt/notesMasters/notesMaster1.xml" Id="Rd0b98e426e964f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1aa6c7dff848ce" /><Relationship Type="http://schemas.openxmlformats.org/officeDocument/2006/relationships/notesMaster" Target="/ppt/notesMasters/notesMaster1.xml" Id="Rb9dc4a9b6f0142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fd3b8659cf4eca" /><Relationship Type="http://schemas.openxmlformats.org/officeDocument/2006/relationships/notesMaster" Target="/ppt/notesMasters/notesMaster1.xml" Id="R1630799bcef74b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85efeb02d448d5" /><Relationship Type="http://schemas.openxmlformats.org/officeDocument/2006/relationships/notesMaster" Target="/ppt/notesMasters/notesMaster1.xml" Id="Rb271162db58648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ba1de49ebf440a" /><Relationship Type="http://schemas.openxmlformats.org/officeDocument/2006/relationships/notesMaster" Target="/ppt/notesMasters/notesMaster1.xml" Id="R4b8a798f175b44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20363a587941de" /><Relationship Type="http://schemas.openxmlformats.org/officeDocument/2006/relationships/notesMaster" Target="/ppt/notesMasters/notesMaster1.xml" Id="Rad50f808e33341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eec23b54df4c6f" /><Relationship Type="http://schemas.openxmlformats.org/officeDocument/2006/relationships/notesMaster" Target="/ppt/notesMasters/notesMaster1.xml" Id="R81016792519948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f97acbfb0e4584" /><Relationship Type="http://schemas.openxmlformats.org/officeDocument/2006/relationships/notesMaster" Target="/ppt/notesMasters/notesMaster1.xml" Id="R183474157a744a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9b5e83429f44a87" /><Relationship Type="http://schemas.openxmlformats.org/officeDocument/2006/relationships/notesMaster" Target="/ppt/notesMasters/notesMaster1.xml" Id="Raeab08c899a24e7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96acee3b5aa47eb" /><Relationship Type="http://schemas.openxmlformats.org/officeDocument/2006/relationships/notesMaster" Target="/ppt/notesMasters/notesMaster1.xml" Id="R483bd9d6be53492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635c131cd404cd8" /><Relationship Type="http://schemas.openxmlformats.org/officeDocument/2006/relationships/notesMaster" Target="/ppt/notesMasters/notesMaster1.xml" Id="R6ff73a8d206b43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c6c5fcbe11d46fd" /><Relationship Type="http://schemas.openxmlformats.org/officeDocument/2006/relationships/notesMaster" Target="/ppt/notesMasters/notesMaster1.xml" Id="Rafcb7c052c6a412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4c9914d6bcf4060" /><Relationship Type="http://schemas.openxmlformats.org/officeDocument/2006/relationships/notesMaster" Target="/ppt/notesMasters/notesMaster1.xml" Id="Rcbb3519cef6840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https://github.com/y00nZZang/crossborder-purchase-agent/blob/main/docs/route-comparison-2026-10-06.md . 가격과 환율·가정은 동일 문서 참조. SAZO 결제 전 견적, 라쿠텐 상품페이지·주문메일, tenso/WorldShopping 계산기, 몰테일 공개요율을 대조. 공식스토어는 사용자 제공10/6 결제 전 캡처: 상품51,868원+배송14,419원=66,287원. 첨부에는 EMS 등 운송방식 미표기. 원화 환산은 카드 청구액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실제 대화 요약. 로그인2회·승인2회·구매/인증 완료2회를 묶어 표현. 사용자 첨부 대화 스타일 참고, 실제 접수 캡처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. 사용자 제공 상품 분석 캡처 원본을 자르지 않고 삽입. 관측·추정값이며 실제 결제액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결과와 주류9/30 제조사 사양 추출/합성 계산은 별도 시험.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HSCodeComp: 실제 전자상거래 상품632개,32개 대분류에 전문가가 미국 기준10자리 코드를 주석한 공개 벤치마크. 본 실험은94개 표본의 앞6자리HS6와 비교. https://huggingface.co/datasets/ATH-MaaS/HSCodeComp ; https://arxiv.org/abs/2510.19631 ; https://github.com/y00nZZang/product-catalog/blob/main/docs/jev-experiment-2026-10-06.md . 공식 한국 HSK 결정문이나 사람의 현지 재검토로 간주하지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https://github.com/y00nZZang/product-catalog/blob/main/docs/jev-experiment-2026-10-06.md . HF94개: Jev0.6747679375초/Luna4.296453624초, 비용0.023445996/0.0544944USD. Mercari30개:0.6689978755/3.79168373초, 비용0.00719754/0.01560205USD. 시간은 각 순차 HTTP+파싱+검증 시간 합의 중앙값. 공급사2개 동시 실행, 단계는 순차. 수집·포장·세금 계산·큐 대기시간 제외. 비용은 usage기반 추정, 청구서 확정액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https://github.com/y00nZZang/product-catalog/blob/main/docs/jev-experiment-2026-10-06.md ; https://github.com/y00nZZang/product-catalog/blob/main/notebooks/two-datasets-results-2026-10-06.json . HF94개: Jev28/94(29.8%), Luna36/94(38.3%), 보류 포함. 답변 사례만:28/81(34.6%),36/65(55.4%). 독립 Sol이HS6를 선택한Mercari25개에서Jev21/25(84%),Luna19/25(76%). 보류 포함30개 전체판단은Jev21/30(70%),Luna23/30(76.7%). Sol은정답/사람검토아님, 공유모델군편향가능. 운영도입하지않았으며 제안은 실험 결과에 대한 해석이다.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14fbde5e4a4c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3fad0e46cf4ccf" /><Relationship Type="http://schemas.openxmlformats.org/officeDocument/2006/relationships/slideLayout" Target="/ppt/slideLayouts/slideLayout1.xml" Id="R55975cbe5f7e46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975cbe5f7e46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21bc4d7f24f9a" /><Relationship Type="http://schemas.openxmlformats.org/officeDocument/2006/relationships/notesSlide" Target="/ppt/notesSlides/notesSlide1.xml" Id="Rc0945fc9159a43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d01012efd474f" /><Relationship Type="http://schemas.openxmlformats.org/officeDocument/2006/relationships/notesSlide" Target="/ppt/notesSlides/notesSlide2.xml" Id="Re24412e85a9b49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d67d032e54a3a" /><Relationship Type="http://schemas.openxmlformats.org/officeDocument/2006/relationships/notesSlide" Target="/ppt/notesSlides/notesSlide3.xml" Id="R3c794f36b06a45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ad5e5f5fe4706" /><Relationship Type="http://schemas.openxmlformats.org/officeDocument/2006/relationships/image" Target="/ppt/media/image.png" Id="R222b191908ff469c" /><Relationship Type="http://schemas.openxmlformats.org/officeDocument/2006/relationships/notesSlide" Target="/ppt/notesSlides/notesSlide4.xml" Id="R5631faf414a246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440cd122e47e4" /><Relationship Type="http://schemas.openxmlformats.org/officeDocument/2006/relationships/notesSlide" Target="/ppt/notesSlides/notesSlide5.xml" Id="R85d11de4909c4a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d79a133424ab5" /><Relationship Type="http://schemas.openxmlformats.org/officeDocument/2006/relationships/notesSlide" Target="/ppt/notesSlides/notesSlide6.xml" Id="R94a61a76f5a44f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b80bcc4344022" /><Relationship Type="http://schemas.openxmlformats.org/officeDocument/2006/relationships/notesSlide" Target="/ppt/notesSlides/notesSlide7.xml" Id="R932f3f2a3cfb41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2f546b29246df" /><Relationship Type="http://schemas.openxmlformats.org/officeDocument/2006/relationships/image" Target="/ppt/media/image.jpeg" Id="R24eaa77ad35f4beb" /><Relationship Type="http://schemas.openxmlformats.org/officeDocument/2006/relationships/notesSlide" Target="/ppt/notesSlides/notesSlide8.xml" Id="R22cbce3fed984d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a02126cf54eeb" /><Relationship Type="http://schemas.openxmlformats.org/officeDocument/2006/relationships/notesSlide" Target="/ppt/notesSlides/notesSlide9.xml" Id="R7584b07557ec4f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4fd74f81642eb" /><Relationship Type="http://schemas.openxmlformats.org/officeDocument/2006/relationships/image" Target="/ppt/media/image2.png" Id="R9cf8175e2ec14e4d" /><Relationship Type="http://schemas.openxmlformats.org/officeDocument/2006/relationships/notesSlide" Target="/ppt/notesSlides/notesSlide10.xml" Id="Rd2d26afea26448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09491324845cc" /><Relationship Type="http://schemas.openxmlformats.org/officeDocument/2006/relationships/notesSlide" Target="/ppt/notesSlides/notesSlide11.xml" Id="R468755fc17254f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2fb70b2e142ad" /><Relationship Type="http://schemas.openxmlformats.org/officeDocument/2006/relationships/notesSlide" Target="/ppt/notesSlides/notesSlide12.xml" Id="Rdd20d8be88f943e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df11fab724e43" /><Relationship Type="http://schemas.openxmlformats.org/officeDocument/2006/relationships/notesSlide" Target="/ppt/notesSlides/notesSlide13.xml" Id="Rc346be0eda9e455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047186840496f" /><Relationship Type="http://schemas.openxmlformats.org/officeDocument/2006/relationships/notesSlide" Target="/ppt/notesSlides/notesSlide14.xml" Id="Rf962b0aa02994a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d30eb0b0b415e" /><Relationship Type="http://schemas.openxmlformats.org/officeDocument/2006/relationships/notesSlide" Target="/ppt/notesSlides/notesSlide15.xml" Id="R95c75082246f432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5a61145a040f7" /><Relationship Type="http://schemas.openxmlformats.org/officeDocument/2006/relationships/hyperlink" Target="https://huggingface.co/datasets/ATH-MaaS/HSCodeComp" TargetMode="External" Id="Rafd9e5ae71504e74" /><Relationship Type="http://schemas.openxmlformats.org/officeDocument/2006/relationships/notesSlide" Target="/ppt/notesSlides/notesSlide16.xml" Id="Rda4c716ebfc64a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4a7944aa540a4" /><Relationship Type="http://schemas.openxmlformats.org/officeDocument/2006/relationships/chart" Target="/ppt/slides/charts/chart1.xml" Id="R8867b879a4614beb" /><Relationship Type="http://schemas.openxmlformats.org/officeDocument/2006/relationships/notesSlide" Target="/ppt/notesSlides/notesSlide17.xml" Id="Rad48032de97045a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efa2d34254b90" /><Relationship Type="http://schemas.openxmlformats.org/officeDocument/2006/relationships/notesSlide" Target="/ppt/notesSlides/notesSlide18.xml" Id="Ra26edf98d2ca472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Jev</c:v>
          </c:tx>
          <c:spPr>
            <a:solidFill xmlns:a="http://schemas.openxmlformats.org/drawingml/2006/main">
              <a:srgbClr val="156E58"/>
            </a:solidFill>
          </c:spPr>
          <c:cat>
            <c:strRef>
              <c:f>'Chart Data'!$A$2:$A$3</c:f>
              <c:strCache>
                <c:ptCount val="2"/>
                <c:pt idx="0">
                  <c:v>HF 표본94개</c:v>
                </c:pt>
                <c:pt idx="1">
                  <c:v>메루카리30개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0.675</c:v>
                </c:pt>
                <c:pt idx="1">
                  <c:v>0.669</c:v>
                </c:pt>
              </c:numCache>
            </c:numRef>
          </c:val>
        </c:ser>
        <c:ser>
          <c:idx val="1"/>
          <c:order val="1"/>
          <c:tx>
            <c:v>GPT-6 Luna</c:v>
          </c:tx>
          <c:spPr>
            <a:solidFill xmlns:a="http://schemas.openxmlformats.org/drawingml/2006/main">
              <a:srgbClr val="85948D"/>
            </a:solidFill>
          </c:spPr>
          <c:cat>
            <c:strRef>
              <c:f>'Chart Data'!$C$2:$C$3</c:f>
              <c:strCache>
                <c:ptCount val="2"/>
                <c:pt idx="0">
                  <c:v>HF 표본94개</c:v>
                </c:pt>
                <c:pt idx="1">
                  <c:v>메루카리30개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4.296</c:v>
                </c:pt>
                <c:pt idx="1">
                  <c:v>3.792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182C29"/>
                  </a:solidFill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950">
                    <a:solidFill>
                      <a:srgbClr val="182C29"/>
                    </a:solidFill>
                    <a:latin typeface="Apple SD Gothic Neo"/>
                    <a:ea typeface="Apple SD Gothic Neo"/>
                    <a:cs typeface="Apple SD Gothic Neo"/>
                  </a:rPr>
                  <a:t>중앙 처리시간 (초)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solidFill>
                    <a:srgbClr val="182C29"/>
                  </a:solidFill>
                  <a:latin typeface="Apple SD Gothic Neo"/>
                  <a:ea typeface="Apple SD Gothic Neo"/>
                  <a:cs typeface="Apple SD Gothic Neo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8F8F3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950">
              <a:solidFill>
                <a:srgbClr val="182C29"/>
              </a:solidFill>
              <a:latin typeface="Apple SD Gothic Neo"/>
              <a:ea typeface="Apple SD Gothic Neo"/>
              <a:cs typeface="Apple SD Gothic Neo"/>
            </a:defRPr>
          </a:pPr>
        </a:p>
      </c:txPr>
    </c:legend>
    <c:plotVisOnly val="1"/>
  </c:chart>
  <c:spPr>
    <a:solidFill xmlns:a="http://schemas.openxmlformats.org/drawingml/2006/main">
      <a:srgbClr val="F8F8F3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E4F86-F687-43E4-A181-E8011620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57213-3DB8-48A6-AE35-F3D38C11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4BE70-8DB2-445B-984A-F5C3C3AC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80039-139B-4DA8-9C5A-D79EFF6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D2A49-32B8-42C1-8D5D-A649403C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6B85A-023C-495E-8E9F-CB3E0DAA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9605990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CFF89-58ED-4229-9D86-BDA82A0B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577E2-16E5-4715-9D41-347C4211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C7D6D-7AFC-4FBF-86E3-F7758A50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6FC36-77EE-46F6-B912-DD39C2C9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52D0B-73D8-4890-8A38-C821BDD1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52A63-3FAC-4CC9-88A9-2FD9AA5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4CDDB-E98A-4573-8D64-0C8CF59A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6806A-D177-47FF-9728-DBCCCC1E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5457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0D0A1-BAC3-47A7-AD4B-E17B2F8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8AD13-C90A-4E03-84F0-6DABF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D04A-AFE4-42C3-9200-6180C31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F1C82-B032-455A-BD30-4717D8F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664473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6B4B8-188F-4818-9B33-6D66B824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비용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36C80-2506-4E87-A58E-38336B94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2026-10-06 확인 · 영상 매체(Blu-ray) 1개 · 원화 비교 환산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3B9B0-0E2A-4760-AEE6-DC0EBD54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b191908ff469c"/>
          <a:stretch xmlns:a="http://schemas.openxmlformats.org/drawingml/2006/main"/>
        </p:blipFill>
        <p:spPr>
          <a:xfrm xmlns:a="http://schemas.openxmlformats.org/drawingml/2006/main">
            <a:off x="13006595" y="361950"/>
            <a:ext cx="1371185" cy="19526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6" name=""/>
          <p:cNvGraphicFramePr/>
          <p:nvPr/>
        </p:nvGraphicFramePr>
        <p:xfrm>
          <a:off xmlns:a="http://schemas.openxmlformats.org/drawingml/2006/main" x="819150" y="26384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000375"/>
                <a:gridCol w="2476500"/>
                <a:gridCol w="1809750"/>
                <a:gridCol w="2219325"/>
              </a:tblGrid>
              <a:tr h="635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 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커머스 구매 비용¹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 비용²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표시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소계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50,363원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7,715원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5,036원³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63,114원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약48,802원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(5,666엔)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약15,504원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(1,800엔)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약64,306원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몰테일 항공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약48,371원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(주문5,616엔)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약21,212원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($15.63)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약69,583원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약53,682원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(상품+대행료10%)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약16,796원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(1,950엔)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약70,478원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국제배송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51,868원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14,419원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66,287원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FED69-D6F1-4505-B168-DF65E260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4370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¹ 몰테일 경로는50엔 쿠폰 적용 주문. WorldShopping은 대행료 포함. ² 운임·취급료 포함. 공식 스토어 운송사 미표기.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37F15-F0F6-45B5-8BE6-5A52A2C4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72325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³ SAZO의 ‘통관·관세’ 표시 항목. tenso·WorldShopping은250g·19×14×2cm, 몰테일은0.5kg 최저 구간 가정.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07CF2-D29B-4DF6-A07A-E45773F9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10475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환산: 1엔=8.6131원·1달러=1,357.14원(10/4~10 과세환율). 실측·보험·세금·카드비용에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800107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238FC-806C-44B5-98EF-47B565B5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0949-A8D1-4948-B773-551ECA76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1F5-64A0-490E-B721-B69C7D5D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CBC94-C34C-409A-BA0B-F60D637C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16E5-C849-4BC0-8A99-DB04DBC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DBE2B-3C7C-4971-9475-2F578F4D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4E9BD-2231-4D61-9606-4BFC3A80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008E2-260D-4FA4-B467-B6288498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FE465-C82A-4E51-9DFC-9A13C01F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415C6-D797-4C1D-A747-39160FA7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4810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CD8E2-6B88-46D4-8CE6-DACEDF0A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F6D19-FEF8-4EC6-B560-97203268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FDF17-8E81-4DD1-9B71-43EC1646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2E8E4-ADCF-4DD3-B0E9-E946A384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7EB12-47F0-4FC8-A598-E5A10007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919F4-457E-4951-88AE-772DE755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D4D80-0F9C-410C-822D-0F21507B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E0DA8-2F53-4013-BF90-3B3EE6CD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84C0C-9946-4A8B-9A71-7A8E74FE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33A90-B866-4A31-ADD2-4B768966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581407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C614E-3F82-4D5B-A4CE-107EBEF0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2BFA9-9071-4231-87A8-715CDA50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CE9D-7C14-41E1-8C26-195EB1AC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83669-6D46-444C-ABEA-79830075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9E573-DC53-458A-B986-5E6CE5ED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4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0E10B-2701-4395-8837-7F599B74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5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3A420-328D-4FEC-902D-D85FBC54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53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3B048-7A63-4039-8EBE-0B39347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55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4BDE8-0B4D-4234-97FD-545D971E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ED361-7FC4-454C-BEC8-195429E3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D7DE1-7033-4938-9306-DE226A03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D44EE-11E5-4F0D-B8F4-9CBFFDB0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98431-0E35-49D5-ABAC-B9D6B032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70CA5-AD6D-4E45-AAA7-40E984E2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662DA-8E8E-44C7-95E9-822A67DA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656478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622E8-CCF8-4755-822B-F67751AA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7E4B9-A945-4B5F-99FB-553BB3AF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0BC28-7FE1-4EEB-8AB0-7A72AF0F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4BC91-A076-4411-8719-DE708FA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0985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상품을 구매하고</a:t>
            </a:r>
          </a:p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배송대행 신청까지 진행해줘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4309E-CC0D-47B6-B46E-E205806F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4D975-14B7-4D4C-A0BE-DD6AF4DA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2427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 조건 확인 후</a:t>
            </a:r>
          </a:p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로그인과 정보 입력 승인을 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EA5FC-9821-40C0-9333-0E846E19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95481-70B1-4070-9D0C-F49A58BA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3870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로그인 완료 · 입력/제출 승인</a:t>
            </a:r>
          </a:p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구매/인증 완료 알림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E823B-4883-44D4-8AD8-94903ED7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8635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90B67-C69C-4211-AA4B-6D76A0D4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5312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정보를 대조하고 신청서 작성</a:t>
            </a:r>
          </a:p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인증 후 같은 신청서로 접수 완료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133CB-A9AB-49AA-BFB6-94453BAD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E6E7-0F49-47F8-B2C1-C7906294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실제 접수 결과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eaa77ad35f4beb"/>
          <a:stretch xmlns:a="http://schemas.openxmlformats.org/drawingml/2006/main"/>
        </p:blipFill>
        <p:spPr>
          <a:xfrm xmlns:a="http://schemas.openxmlformats.org/drawingml/2006/main">
            <a:off x="9858375" y="3422061"/>
            <a:ext cx="4572000" cy="3633377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E33A3-3292-4F4A-A444-A91F53F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009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대화는 실제 기록의 요약입니다. 후속 입력은 로그인2회·승인2회·구매/인증 완료 알림2회입니다.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EE6A5-D0C0-4039-8D7B-AFB3A0BF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81925"/>
            <a:ext cx="1352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메시지 수 기준이며, 로그인·구매·인증 화면의 클릭과 입력 횟수는 별도로 측정하지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77996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BC463-8BB3-40D6-A429-EE81D822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0F578-1C34-4413-8E58-0B6DF11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1B4DF-02EC-450B-81FD-1D4D2EC8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1B909-54A3-41C3-95AA-7BD044E6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33D1B-322A-4799-B9EB-9D406B38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34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EF7B9-7553-4DC5-A105-D03E071C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36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F6075-7705-40DA-9D6B-0AE4E4B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EDCA9-A882-4D8A-9271-8019BA1C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3C545-B012-4DCD-BD67-95E657C2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D9275-FA19-4AE0-AC08-CE5096A1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999572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54C67-149C-461B-B36F-F2E406CE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62A97-611E-4780-857E-2A44E34E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770DD-491C-45F6-939E-1E8F3391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2721-CC25-4C3E-AD1F-5AEFBDC5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24075"/>
            <a:ext cx="5619750" cy="573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8ACA2"/>
            </a:solidFill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8175e2ec14e4d"/>
          <a:stretch xmlns:a="http://schemas.openxmlformats.org/drawingml/2006/main"/>
        </p:blipFill>
        <p:spPr>
          <a:xfrm xmlns:a="http://schemas.openxmlformats.org/drawingml/2006/main">
            <a:off x="5059326" y="2238375"/>
            <a:ext cx="5121349" cy="5505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15995-CD4E-4ACE-9282-4A1EFA66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337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URL 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0D93B-6383-40F2-85AC-DFCA111E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6766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링크 하나로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분석을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8C2C6-1AD6-49FC-8D9B-CC5B0E76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101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62222-1D9F-4C9A-988F-72E63029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562600"/>
            <a:ext cx="3333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상품·배송·세금과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미확인 조건을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함께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755736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8FC16-50E8-40A7-9F98-CF473474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71BD6-A549-4DB3-A022-1F71269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43D07-BA79-4F16-832B-41BE39E4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CDBE3-406C-4B83-96A2-77DF3AA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179FB-80AE-4E5D-8720-9BF7189D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3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6A0D9-6598-4AC3-B3D5-5076FB1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3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41AE7-8CF4-44E0-B5B8-58B17B34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F2C24-963C-4CA8-9147-0F9D52E5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7D310-6BDF-49D6-B5AC-2290B460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CD27E-5301-44C7-B19A-5956678C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08C0F-B134-4B6E-87C1-C200EC8B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6480145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22E74-4C60-4059-A86D-6863663D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FEE7B-2BB4-4FE7-94B0-B569B783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항목으로 정리하되, 실제 URL 분석과 합성 계산 표본의 차이는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E12B8-736B-4826-BCBA-F439BC3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505075"/>
          <a:ext xmlns:a="http://schemas.openxmlformats.org/drawingml/2006/main" cx="13601700" cy="4619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629275"/>
                <a:gridCol w="5638800"/>
              </a:tblGrid>
              <a:tr h="769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TCG 상품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주류(위스키)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자료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실제 판매글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2026-10-05 운영 분석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제조사 사양 + 합성 계산 입력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2026-09-30 저장 시험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분류·추출 결과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HSK 9504400000 후보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whisky 후보 · 700ml·43% 추출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 수는 미확인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계산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관측 판매가70,000JPY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기본관세8%·일반 부가세10%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합성 입력: $200·750ml 1병·40%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환율1,000원/$·운임0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 세금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115,776 ~ 117,335원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353,696원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분류→공개 세율→계산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사양 추출과 계산 회귀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용량·병 수 경계 및 누락 입력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DA90-5FDA-4057-BD5F-B6BF13B6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납부세액과 대조한 정확도 검증은 아닙니다. 주류의 사양 추출 표본과 산술 표본은 서로 다릅니다.</a:t>
            </a:r>
          </a:p>
        </p:txBody>
      </p:sp>
    </p:spTree>
    <p:extLst>
      <p:ext uri="{BB962C8B-B14F-4D97-AF65-F5344CB8AC3E}">
        <p14:creationId xmlns:p14="http://schemas.microsoft.com/office/powerpoint/2010/main" val="9243152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8FC11-7A89-49A1-9415-5F9E199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9C6C6-C04B-4E2C-9E9A-15FCCB86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757A2-D1DE-4E62-9238-78BE532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2C7F5-31F3-4C29-991F-EC01E668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상품 정보를 가져왔습니다.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메루카리는 웹페이지를 크롤링하고 HTML을 파싱했습니다.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139167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63C29-76F4-44AD-ADEB-BD9632F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2E600B-0D89-4E68-BF92-D5DFC21B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D731C-2CB5-4D69-BFCD-7F7C7BC6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FC332-F1BB-4EF4-8C5B-215000E2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00A99-44AA-488C-AB63-8C1AB2F6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B03F8-7A8C-4173-9A4C-2681FA8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97609-2BCE-4884-9080-F157B6C3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357C0-7EF6-4315-BDFC-32C00050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10/6 확인 소계는 SAZO63,114원, 직접구매+tenso 약64,306원이었습니다.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조건에서는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B0238-BB3C-4472-921F-DF5561BE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915172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F3D43-F542-410E-9A75-2BD83D3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14A55-0516-4234-87DE-78D217F2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702E4-CE0C-4AEF-94F6-284D9068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16573-233F-479C-8D51-A64FC701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4BB0A-56B2-4CCD-AF43-CBAB5868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D43A-1989-4E9C-B58A-F25E7ED2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3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8344C-3571-4F89-9787-092EB536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3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A9E9D-C41B-43EB-84CF-A45D6C2E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F6EEB-40DE-4581-B4E9-D6388785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658660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08E57-18E6-46B5-8C98-0B617BA6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부록 · Jev 판단 모델 비교 실험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7A26ED-E82B-4BBB-8FAA-EE00C720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관세 후보 선택의 처리시간과 품질을 따로 측정했습니다.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7488CA-0878-4414-A0DC-BE367E44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16   윤장한 · 직구 조사와 도구 구현 · 부록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5F128-AC86-473A-B614-3C28D067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1352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HSCodeComp는 실제 전자상거래 상품632개에 전문가가 HS 코드를 붙인 공개 평가셋입니다.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상품명·속성·카테고리를 제공하며, 이번에는94개 표본의 HS6 정답과 비교했습니다.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819150" y="4124325"/>
          <a:ext xmlns:a="http://schemas.openxmlformats.org/drawingml/2006/main" cx="136017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238625"/>
                <a:gridCol w="6315075"/>
              </a:tblGrid>
              <a:tr h="7556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데이터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범위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품질 평가 기준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556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HSCodeComp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94개 층화 표본 / 전체632개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전문가 라벨과 HS6 일치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56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판매글30개 전체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독립 GPT-6 Sol 심사 결과와 일치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E9D22-BAD4-4A19-979B-E8302545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34175"/>
            <a:ext cx="1352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비교: Jev1.13 ↔ GPT-6 Luna low. 심사자는 기존 예측·공급사 이름을 보지 않았습니다.</a:t>
            </a:r>
          </a:p>
          <a:p xmlns:a="http://schemas.openxmlformats.org/drawingml/2006/main">
            <a:pPr>
              <a:buNone/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텍스트만 사용한 단일 경로 비교이며 웹 검색·이미지 분석을 제외했습니다.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96F42-9085-4613-962A-A2E6EC17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데이터셋 원본: </a:t>
            </a:r>
            <a:r>
              <a:rPr sz="172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afd9e5ae71504e74"/>
              </a:rPr>
              <a:t>huggingface.co/datasets/ATH-MaaS/HSCodeComp</a:t>
            </a:r>
          </a:p>
        </p:txBody>
      </p:sp>
    </p:spTree>
    <p:extLst>
      <p:ext uri="{BB962C8B-B14F-4D97-AF65-F5344CB8AC3E}">
        <p14:creationId xmlns:p14="http://schemas.microsoft.com/office/powerpoint/2010/main" val="19283260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FBD16-BB63-40AD-A67C-25EBF9EE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 후보 판단시간을 5~6배 줄였습니다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E44A2-D536-469D-98DF-20510C7E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입력에서 Jev의 중앙 처리시간과 추정 비용이 더 낮았습니다.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8BD48B-AC29-45F2-A860-07B1D683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17   윤장한 · 직구 조사와 도구 구현 · 부록 · 2026.10.06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19150" y="2647950"/>
          <a:ext xmlns:a="http://schemas.openxmlformats.org/drawingml/2006/main" cx="8715375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67b879a4614be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456F5-EC6A-4EC9-B4F5-432C07FB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7813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HF 표본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D8F6E-DA11-4B04-8FF1-8241BA08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718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6.4배 빠르게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D3943-DD8F-4BFC-A707-D7FAAAE6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862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추정 비용57.0% 감소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5892D-3F47-4E7B-BC70-D5DCD05F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9530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메루카리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3C4A1-62AA-4EDC-A677-F0E4BE2A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5435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5.7배 빠르게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F53D6-3058-4200-A49A-1E71C9BA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579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추정 비용53.9% 감소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20C3A-8949-40DB-8D2F-14A2E8DA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58050"/>
            <a:ext cx="1352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HS 분류 단계만 비교했습니다. 전체 URL 분석시간이나 운영 SLA의 개선율이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20626287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D836E-2E09-4737-8347-3EBAA0C1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품질은 평가 기준별로 구분했습니다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FAC60-7114-4DA1-86BC-D3A68574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메루카리의 상위 모델 HS6 일치율84%를 기록했고, HF 정확도 차이도 확인했습니다.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8D299-3D70-4881-8335-A473265A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18   윤장한 · 직구 조사와 도구 구현 · 부록 · 2026.10.06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819150" y="2695575"/>
          <a:ext xmlns:a="http://schemas.openxmlformats.org/drawingml/2006/main" cx="136017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734300"/>
                <a:gridCol w="2933700"/>
                <a:gridCol w="2933700"/>
              </a:tblGrid>
              <a:tr h="6953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평가 기준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Jev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GPT-6 Luna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HF 전문가 라벨 · 전체94개 HS6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29.8% (28/94)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38.3% (36/94)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· 심사자 HS6 일치 (25개)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84.0% (21/25)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76.0% (19/25)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· 보류 포함 전체 판단 일치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70.0% (21/30)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76.7% (23/30)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A75FC-55E6-4362-9697-AAD1F763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91200"/>
            <a:ext cx="1352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상위 모델과의 일치는 정답 정확도가 아닙니다. HF에서는 Jev의 정확도가 더 낮았습니다.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E0B6D-485E-479C-BC00-9607A4BF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1352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도입 방향(제안): 초기 후보 판단을 빠르게 처리하고, 근거 부족·최종 분류는 추가 검토합니다.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741C7-5AF5-4B15-B2C9-E7206E5A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4855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실험 코드·노트북·측정 결과: github.com/y00nZZang/product-catalog/tree/main/notebooks</a:t>
            </a:r>
          </a:p>
        </p:txBody>
      </p:sp>
    </p:spTree>
    <p:extLst>
      <p:ext uri="{BB962C8B-B14F-4D97-AF65-F5344CB8AC3E}">
        <p14:creationId xmlns:p14="http://schemas.microsoft.com/office/powerpoint/2010/main" val="16273276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2026-10-06T11:48:45.1520000Z</dcterms:created>
  <dcterms:modified xsi:type="dcterms:W3CDTF">2026-10-06T11:48:45.1520000Z</dcterms:modified>
</coreProperties>
</file>