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535d6b0f864ae9" /><Relationship Type="http://schemas.openxmlformats.org/officeDocument/2006/relationships/extended-properties" Target="/docProps/app.xml" Id="Rd54ce7cc67fc4007" /><Relationship Type="http://schemas.openxmlformats.org/officeDocument/2006/relationships/officeDocument" Target="/ppt/presentation.xml" Id="R867b6057bd0540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d7558566b34a75"/>
  </p:sldMasterIdLst>
  <p:notesMasterIdLst>
    <p:notesMasterId xmlns:r="http://schemas.openxmlformats.org/officeDocument/2006/relationships" r:id="R1ca19feec93d4778"/>
  </p:notesMasterIdLst>
  <p:sldIdLst>
    <p:sldId xmlns:r="http://schemas.openxmlformats.org/officeDocument/2006/relationships" id="256" r:id="Rf814da61dcd74b6f"/>
    <p:sldId xmlns:r="http://schemas.openxmlformats.org/officeDocument/2006/relationships" id="257" r:id="R491bd7e7b0284f9d"/>
    <p:sldId xmlns:r="http://schemas.openxmlformats.org/officeDocument/2006/relationships" id="258" r:id="R82b668be0dfa4f54"/>
    <p:sldId xmlns:r="http://schemas.openxmlformats.org/officeDocument/2006/relationships" id="259" r:id="Rf2ab83515cda4666"/>
    <p:sldId xmlns:r="http://schemas.openxmlformats.org/officeDocument/2006/relationships" id="260" r:id="R56b463af0ce74596"/>
    <p:sldId xmlns:r="http://schemas.openxmlformats.org/officeDocument/2006/relationships" id="261" r:id="R509751778c324cbd"/>
    <p:sldId xmlns:r="http://schemas.openxmlformats.org/officeDocument/2006/relationships" id="262" r:id="R96dec3ab60514f3f"/>
    <p:sldId xmlns:r="http://schemas.openxmlformats.org/officeDocument/2006/relationships" id="263" r:id="Re022e4fb9c9a4a2f"/>
    <p:sldId xmlns:r="http://schemas.openxmlformats.org/officeDocument/2006/relationships" id="264" r:id="R2d02fd27abda4ad1"/>
    <p:sldId xmlns:r="http://schemas.openxmlformats.org/officeDocument/2006/relationships" id="265" r:id="R89ae46e3537e49ed"/>
    <p:sldId xmlns:r="http://schemas.openxmlformats.org/officeDocument/2006/relationships" id="266" r:id="R7b8eb2193a7b46ec"/>
    <p:sldId xmlns:r="http://schemas.openxmlformats.org/officeDocument/2006/relationships" id="267" r:id="R907fc0063b0f47f8"/>
    <p:sldId xmlns:r="http://schemas.openxmlformats.org/officeDocument/2006/relationships" id="268" r:id="R48f6787eaaca428b"/>
    <p:sldId xmlns:r="http://schemas.openxmlformats.org/officeDocument/2006/relationships" id="269" r:id="Rfe6fcd32a2a24478"/>
    <p:sldId xmlns:r="http://schemas.openxmlformats.org/officeDocument/2006/relationships" id="270" r:id="Rcf7dbc1d04364416"/>
    <p:sldId xmlns:r="http://schemas.openxmlformats.org/officeDocument/2006/relationships" id="271" r:id="R1c134b966d9a43b0"/>
    <p:sldId xmlns:r="http://schemas.openxmlformats.org/officeDocument/2006/relationships" id="272" r:id="R70ed73d8e7774ce5"/>
    <p:sldId xmlns:r="http://schemas.openxmlformats.org/officeDocument/2006/relationships" id="273" r:id="R63386d9aabce429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a7698dc2344ae2" /><Relationship Type="http://schemas.openxmlformats.org/officeDocument/2006/relationships/slideMaster" Target="/ppt/slideMasters/slideMaster1.xml" Id="R5bd7558566b34a75" /><Relationship Type="http://schemas.openxmlformats.org/officeDocument/2006/relationships/notesMaster" Target="/ppt/notesMasters/notesMaster1.xml" Id="R1ca19feec93d4778" /><Relationship Type="http://schemas.openxmlformats.org/officeDocument/2006/relationships/presProps" Target="/ppt/presProps.xml" Id="Rce951c9ee5604c15" /><Relationship Type="http://schemas.openxmlformats.org/officeDocument/2006/relationships/tableStyles" Target="/ppt/tableStyles.xml" Id="R599ce2feba004eef" /><Relationship Type="http://schemas.openxmlformats.org/officeDocument/2006/relationships/slide" Target="/ppt/slides/slide1.xml" Id="Rf814da61dcd74b6f" /><Relationship Type="http://schemas.openxmlformats.org/officeDocument/2006/relationships/slide" Target="/ppt/slides/slide2.xml" Id="R491bd7e7b0284f9d" /><Relationship Type="http://schemas.openxmlformats.org/officeDocument/2006/relationships/slide" Target="/ppt/slides/slide3.xml" Id="R82b668be0dfa4f54" /><Relationship Type="http://schemas.openxmlformats.org/officeDocument/2006/relationships/slide" Target="/ppt/slides/slide4.xml" Id="Rf2ab83515cda4666" /><Relationship Type="http://schemas.openxmlformats.org/officeDocument/2006/relationships/slide" Target="/ppt/slides/slide5.xml" Id="R56b463af0ce74596" /><Relationship Type="http://schemas.openxmlformats.org/officeDocument/2006/relationships/slide" Target="/ppt/slides/slide6.xml" Id="R509751778c324cbd" /><Relationship Type="http://schemas.openxmlformats.org/officeDocument/2006/relationships/slide" Target="/ppt/slides/slide7.xml" Id="R96dec3ab60514f3f" /><Relationship Type="http://schemas.openxmlformats.org/officeDocument/2006/relationships/slide" Target="/ppt/slides/slide8.xml" Id="Re022e4fb9c9a4a2f" /><Relationship Type="http://schemas.openxmlformats.org/officeDocument/2006/relationships/slide" Target="/ppt/slides/slide9.xml" Id="R2d02fd27abda4ad1" /><Relationship Type="http://schemas.openxmlformats.org/officeDocument/2006/relationships/slide" Target="/ppt/slides/slide10.xml" Id="R89ae46e3537e49ed" /><Relationship Type="http://schemas.openxmlformats.org/officeDocument/2006/relationships/slide" Target="/ppt/slides/slide11.xml" Id="R7b8eb2193a7b46ec" /><Relationship Type="http://schemas.openxmlformats.org/officeDocument/2006/relationships/slide" Target="/ppt/slides/slide12.xml" Id="R907fc0063b0f47f8" /><Relationship Type="http://schemas.openxmlformats.org/officeDocument/2006/relationships/slide" Target="/ppt/slides/slide13.xml" Id="R48f6787eaaca428b" /><Relationship Type="http://schemas.openxmlformats.org/officeDocument/2006/relationships/slide" Target="/ppt/slides/slide14.xml" Id="Rfe6fcd32a2a24478" /><Relationship Type="http://schemas.openxmlformats.org/officeDocument/2006/relationships/slide" Target="/ppt/slides/slide15.xml" Id="Rcf7dbc1d04364416" /><Relationship Type="http://schemas.openxmlformats.org/officeDocument/2006/relationships/slide" Target="/ppt/slides/slide16.xml" Id="R1c134b966d9a43b0" /><Relationship Type="http://schemas.openxmlformats.org/officeDocument/2006/relationships/slide" Target="/ppt/slides/slide17.xml" Id="R70ed73d8e7774ce5" /><Relationship Type="http://schemas.openxmlformats.org/officeDocument/2006/relationships/slide" Target="/ppt/slides/slide18.xml" Id="R63386d9aabce42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2b7688e6824a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8df0fad42a4c9f" /><Relationship Type="http://schemas.openxmlformats.org/officeDocument/2006/relationships/notesMaster" Target="/ppt/notesMasters/notesMaster1.xml" Id="Rfcca07da84764a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9bcadf436b4308" /><Relationship Type="http://schemas.openxmlformats.org/officeDocument/2006/relationships/notesMaster" Target="/ppt/notesMasters/notesMaster1.xml" Id="Rafee1c6bfc7f4b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6d29cb254b48ce" /><Relationship Type="http://schemas.openxmlformats.org/officeDocument/2006/relationships/notesMaster" Target="/ppt/notesMasters/notesMaster1.xml" Id="R460158cd0f0b4b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2fa87eea7c41df" /><Relationship Type="http://schemas.openxmlformats.org/officeDocument/2006/relationships/notesMaster" Target="/ppt/notesMasters/notesMaster1.xml" Id="Rd43cfa91b71947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2f5a8942af4bb9" /><Relationship Type="http://schemas.openxmlformats.org/officeDocument/2006/relationships/notesMaster" Target="/ppt/notesMasters/notesMaster1.xml" Id="Rac0874279f0e46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6787a56d524606" /><Relationship Type="http://schemas.openxmlformats.org/officeDocument/2006/relationships/notesMaster" Target="/ppt/notesMasters/notesMaster1.xml" Id="Rc9b0c507c1cc45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2060ccc5be4b56" /><Relationship Type="http://schemas.openxmlformats.org/officeDocument/2006/relationships/notesMaster" Target="/ppt/notesMasters/notesMaster1.xml" Id="Re053632765b748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8b171de4314601" /><Relationship Type="http://schemas.openxmlformats.org/officeDocument/2006/relationships/notesMaster" Target="/ppt/notesMasters/notesMaster1.xml" Id="Rc3d93c770ce14a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5627102fb44e1b" /><Relationship Type="http://schemas.openxmlformats.org/officeDocument/2006/relationships/notesMaster" Target="/ppt/notesMasters/notesMaster1.xml" Id="R5b01e3cbade843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3fdc5c6b7d486a" /><Relationship Type="http://schemas.openxmlformats.org/officeDocument/2006/relationships/notesMaster" Target="/ppt/notesMasters/notesMaster1.xml" Id="R649dc66f90984a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b0ca44223d4c5b" /><Relationship Type="http://schemas.openxmlformats.org/officeDocument/2006/relationships/notesMaster" Target="/ppt/notesMasters/notesMaster1.xml" Id="R4a8b9fa59d0741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0b1b61f8f74fdb" /><Relationship Type="http://schemas.openxmlformats.org/officeDocument/2006/relationships/notesMaster" Target="/ppt/notesMasters/notesMaster1.xml" Id="R2a115e59ef9641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ae7740e62454916" /><Relationship Type="http://schemas.openxmlformats.org/officeDocument/2006/relationships/notesMaster" Target="/ppt/notesMasters/notesMaster1.xml" Id="R38a8c110e9044d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b1ddde35d734367" /><Relationship Type="http://schemas.openxmlformats.org/officeDocument/2006/relationships/notesMaster" Target="/ppt/notesMasters/notesMaster1.xml" Id="Rdb2d8780edec48e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a2edb59fa94b39" /><Relationship Type="http://schemas.openxmlformats.org/officeDocument/2006/relationships/notesMaster" Target="/ppt/notesMasters/notesMaster1.xml" Id="R2a892fb98c064b8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65c4e6c638f4a5a" /><Relationship Type="http://schemas.openxmlformats.org/officeDocument/2006/relationships/notesMaster" Target="/ppt/notesMasters/notesMaster1.xml" Id="R9b740c47cc1e4d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47caea0c25547b6" /><Relationship Type="http://schemas.openxmlformats.org/officeDocument/2006/relationships/notesMaster" Target="/ppt/notesMasters/notesMaster1.xml" Id="R8fedf6db5e88452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c7e8b56a2324f4d" /><Relationship Type="http://schemas.openxmlformats.org/officeDocument/2006/relationships/notesMaster" Target="/ppt/notesMasters/notesMaster1.xml" Id="R02f39ff5fa8941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https://github.com/y00nZZang/crossborder-purchase-agent/blob/main/docs/route-comparison-2026-10-06.md . 가격과 환율·가정은 동일 문서 참조. SAZO 결제 전 견적, 라쿠텐 상품페이지·주문메일, tenso/WorldShopping 계산기, 몰테일 공개요율을 대조. 공식스토어는 사용자 제공10/6 결제 전 캡처: 상품51,868원+배송14,419원=66,287원. 첨부에는 EMS 등 운송방식 미표기. 원화 환산은 카드 청구액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실제 대화 요약. 로그인2회·승인2회·구매/인증 완료2회를 묶어 표현. 사용자 첨부 대화 스타일 참고, 실제 접수 캡처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. 사용자 제공 상품 분석 캡처 원본을 자르지 않고 삽입. 관측·추정값이며 실제 결제액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결과와 주류9/30 제조사 사양 추출/합성 계산은 별도 시험.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https://github.com/y00nZZang/product-catalog/blob/main/docs/service-scope-jev-experiment-2026-10-07.md ; https://typesafe.ai/blog/introducing-system-one-models-and-jev ; https://huggingface.co/datasets/ATH-MaaS/HSCodeComp ; https://docs.typesafe.ai/primitives/choice . 서비스 범위는 연구 초안으로 사조의 검증된 정책이 아니다. 기존 단일 경로 Jev와 Luna만 비교. 정답/보류/실패는 공개 레포에서 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https://github.com/y00nZZang/product-catalog/blob/main/docs/service-scope-jev-experiment-2026-10-07.md ; https://github.com/y00nZZang/product-catalog/blob/main/notebooks/service-scope-results-2026-10-07.json . 새로운93개 단일 경로 계층 탐색. Jev중앙0.6449865829199553초/Luna4.510487750987522초(반올림값, 상세JSON참조). 비용0.022579830000000002/0.052664375USD. 시간은 순차 HTTP+파싱+검증 합. 두 제공자는 같은 상품에서 동시 실행. 수집·큐·배송·세금 단계 제외. 비용usage기반 추정으로 실제 청구서 확정 아님. 품질/답변률/실패는 공개 레포에 별도기록, 비용이 판단품질을 의미하지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https://github.com/y00nZZang/product-catalog/blob/main/docs/service-scope-jev-experiment-2026-10-07.md ; https://github.com/y00nZZang/product-catalog/blob/main/notebooks/service-scope-failures-2026-10-07.json . 판단 품질의 동일성을 입증한 실험이 아니다. 후보 판단 단계 적용은 제안이며 서비스운영도입 아님. 과거전체94개, 범위안78개, 새93개를 레포에 구분 보존. 신규모델·복수경로·혼합방법은 후속실험에서 제외.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3cbf20d6a04e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88f828195c40a6" /><Relationship Type="http://schemas.openxmlformats.org/officeDocument/2006/relationships/slideLayout" Target="/ppt/slideLayouts/slideLayout1.xml" Id="Re0776635f88449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776635f88449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0e795a10e4e9c" /><Relationship Type="http://schemas.openxmlformats.org/officeDocument/2006/relationships/notesSlide" Target="/ppt/notesSlides/notesSlide1.xml" Id="Rb3464777a6bf4b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0c7baeaa5a4ca7" /><Relationship Type="http://schemas.openxmlformats.org/officeDocument/2006/relationships/notesSlide" Target="/ppt/notesSlides/notesSlide2.xml" Id="R08870692b8334d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b7430680d4c90" /><Relationship Type="http://schemas.openxmlformats.org/officeDocument/2006/relationships/notesSlide" Target="/ppt/notesSlides/notesSlide3.xml" Id="Rb8b4b16f53a94e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aafd0eb0345e8" /><Relationship Type="http://schemas.openxmlformats.org/officeDocument/2006/relationships/image" Target="/ppt/media/image.png" Id="Rec4f853f77264a7b" /><Relationship Type="http://schemas.openxmlformats.org/officeDocument/2006/relationships/notesSlide" Target="/ppt/notesSlides/notesSlide4.xml" Id="R651a1b33c39d47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7d09251b84693" /><Relationship Type="http://schemas.openxmlformats.org/officeDocument/2006/relationships/notesSlide" Target="/ppt/notesSlides/notesSlide5.xml" Id="R23fcfa18a1674d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2272da80f47a7" /><Relationship Type="http://schemas.openxmlformats.org/officeDocument/2006/relationships/notesSlide" Target="/ppt/notesSlides/notesSlide6.xml" Id="R82ca469ddd8d46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ff8a445994e5c" /><Relationship Type="http://schemas.openxmlformats.org/officeDocument/2006/relationships/notesSlide" Target="/ppt/notesSlides/notesSlide7.xml" Id="R0e93b9cdd3c449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b8f22e3444e53" /><Relationship Type="http://schemas.openxmlformats.org/officeDocument/2006/relationships/image" Target="/ppt/media/image.jpeg" Id="R1e34c2d461b34ae7" /><Relationship Type="http://schemas.openxmlformats.org/officeDocument/2006/relationships/notesSlide" Target="/ppt/notesSlides/notesSlide8.xml" Id="R544721440d2548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d9ebe0541424a" /><Relationship Type="http://schemas.openxmlformats.org/officeDocument/2006/relationships/notesSlide" Target="/ppt/notesSlides/notesSlide9.xml" Id="R64df2b0a001e41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85adddb17435b" /><Relationship Type="http://schemas.openxmlformats.org/officeDocument/2006/relationships/image" Target="/ppt/media/image2.png" Id="Rffb6d602995c4d5f" /><Relationship Type="http://schemas.openxmlformats.org/officeDocument/2006/relationships/notesSlide" Target="/ppt/notesSlides/notesSlide10.xml" Id="Re6d0ed06471441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b9255f2ea4f63" /><Relationship Type="http://schemas.openxmlformats.org/officeDocument/2006/relationships/notesSlide" Target="/ppt/notesSlides/notesSlide11.xml" Id="R052184ca377540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ff1d526d448b1" /><Relationship Type="http://schemas.openxmlformats.org/officeDocument/2006/relationships/notesSlide" Target="/ppt/notesSlides/notesSlide12.xml" Id="R3422ede94a3b4d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23f52c07f43c7" /><Relationship Type="http://schemas.openxmlformats.org/officeDocument/2006/relationships/notesSlide" Target="/ppt/notesSlides/notesSlide13.xml" Id="R2ed33b75ed5c4e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534ed197440ea" /><Relationship Type="http://schemas.openxmlformats.org/officeDocument/2006/relationships/notesSlide" Target="/ppt/notesSlides/notesSlide14.xml" Id="R7601b7839ba04e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74ac0c0d24793" /><Relationship Type="http://schemas.openxmlformats.org/officeDocument/2006/relationships/notesSlide" Target="/ppt/notesSlides/notesSlide15.xml" Id="R3d5181bf6d704a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d4772fa1743c1" /><Relationship Type="http://schemas.openxmlformats.org/officeDocument/2006/relationships/hyperlink" Target="https://huggingface.co/datasets/ATH-MaaS/HSCodeComp" TargetMode="External" Id="R757a087ce54845ce" /><Relationship Type="http://schemas.openxmlformats.org/officeDocument/2006/relationships/notesSlide" Target="/ppt/notesSlides/notesSlide16.xml" Id="Rf69a5b684ac74b3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654a78e4f4beb" /><Relationship Type="http://schemas.openxmlformats.org/officeDocument/2006/relationships/chart" Target="/ppt/slides/charts/chart1.xml" Id="R94bf9dced78d4785" /><Relationship Type="http://schemas.openxmlformats.org/officeDocument/2006/relationships/notesSlide" Target="/ppt/notesSlides/notesSlide17.xml" Id="R7f276f5a52874bd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6b1afdc1842d8" /><Relationship Type="http://schemas.openxmlformats.org/officeDocument/2006/relationships/hyperlink" Target="https://github.com/y00nZZang/product-catalog/blob/main/docs/service-scope-jev-experiment-2026-10-07.md" TargetMode="External" Id="Ra1f44fc0758a43fe" /><Relationship Type="http://schemas.openxmlformats.org/officeDocument/2006/relationships/notesSlide" Target="/ppt/notesSlides/notesSlide18.xml" Id="R2f8fa6e9bec6468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Jev</c:v>
          </c:tx>
          <c:spPr>
            <a:solidFill xmlns:a="http://schemas.openxmlformats.org/drawingml/2006/main">
              <a:srgbClr val="156E58"/>
            </a:solidFill>
          </c:spPr>
          <c:cat>
            <c:strRef>
              <c:f>'Chart Data'!$A$2:$A$2</c:f>
              <c:strCache>
                <c:ptCount val="1"/>
                <c:pt idx="0">
                  <c:v>새 서비스 범위93개</c:v>
                </c:pt>
              </c:strCache>
            </c:strRef>
          </c:cat>
          <c:val>
            <c:numRef>
              <c:f>'Chart Data'!$B$2:$B$2</c:f>
              <c:numCache>
                <c:formatCode>General</c:formatCode>
                <c:ptCount val="1"/>
                <c:pt idx="0">
                  <c:v>0.645</c:v>
                </c:pt>
              </c:numCache>
            </c:numRef>
          </c:val>
        </c:ser>
        <c:ser>
          <c:idx val="1"/>
          <c:order val="1"/>
          <c:tx>
            <c:v>GPT-6 Luna</c:v>
          </c:tx>
          <c:spPr>
            <a:solidFill xmlns:a="http://schemas.openxmlformats.org/drawingml/2006/main">
              <a:srgbClr val="85948D"/>
            </a:solidFill>
          </c:spPr>
          <c:cat>
            <c:strRef>
              <c:f>'Chart Data'!$C$2:$C$2</c:f>
              <c:strCache>
                <c:ptCount val="1"/>
                <c:pt idx="0">
                  <c:v>새 서비스 범위93개</c:v>
                </c:pt>
              </c:strCache>
            </c:strRef>
          </c:cat>
          <c:val>
            <c:numRef>
              <c:f>'Chart Data'!$D$2:$D$2</c:f>
              <c:numCache>
                <c:formatCode>General</c:formatCode>
                <c:ptCount val="1"/>
                <c:pt idx="0">
                  <c:v>4.51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182C29"/>
                  </a:solidFill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950">
                    <a:solidFill>
                      <a:srgbClr val="182C29"/>
                    </a:solidFill>
                    <a:latin typeface="Apple SD Gothic Neo"/>
                    <a:ea typeface="Apple SD Gothic Neo"/>
                    <a:cs typeface="Apple SD Gothic Neo"/>
                  </a:rPr>
                  <a:t>중앙 처리시간 (초)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solidFill>
                    <a:srgbClr val="182C29"/>
                  </a:solidFill>
                  <a:latin typeface="Apple SD Gothic Neo"/>
                  <a:ea typeface="Apple SD Gothic Neo"/>
                  <a:cs typeface="Apple SD Gothic Neo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8F8F3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950">
              <a:solidFill>
                <a:srgbClr val="182C29"/>
              </a:solidFill>
              <a:latin typeface="Apple SD Gothic Neo"/>
              <a:ea typeface="Apple SD Gothic Neo"/>
              <a:cs typeface="Apple SD Gothic Neo"/>
            </a:defRPr>
          </a:pPr>
        </a:p>
      </c:txPr>
    </c:legend>
    <c:plotVisOnly val="1"/>
  </c:chart>
  <c:spPr>
    <a:solidFill xmlns:a="http://schemas.openxmlformats.org/drawingml/2006/main">
      <a:srgbClr val="F8F8F3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E4F86-F687-43E4-A181-E8011620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57213-3DB8-48A6-AE35-F3D38C11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4BE70-8DB2-445B-984A-F5C3C3AC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80039-139B-4DA8-9C5A-D79EFF6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D2A49-32B8-42C1-8D5D-A649403C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6B85A-023C-495E-8E9F-CB3E0DAA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9605990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CFF89-58ED-4229-9D86-BDA82A0B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577E2-16E5-4715-9D41-347C4211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C7D6D-7AFC-4FBF-86E3-F7758A50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6FC36-77EE-46F6-B912-DD39C2C9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52D0B-73D8-4890-8A38-C821BDD1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52A63-3FAC-4CC9-88A9-2FD9AA5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4CDDB-E98A-4573-8D64-0C8CF59A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6806A-D177-47FF-9728-DBCCCC1E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5457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0D0A1-BAC3-47A7-AD4B-E17B2F8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8AD13-C90A-4E03-84F0-6DABF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D04A-AFE4-42C3-9200-6180C31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F1C82-B032-455A-BD30-4717D8F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664473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6B4B8-188F-4818-9B33-6D66B824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비용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36C80-2506-4E87-A58E-38336B94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2026-10-06 확인 · 영상 매체(Blu-ray) 1개 · 원화 비교 환산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3B9B0-0E2A-4760-AEE6-DC0EBD54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f853f77264a7b"/>
          <a:stretch xmlns:a="http://schemas.openxmlformats.org/drawingml/2006/main"/>
        </p:blipFill>
        <p:spPr>
          <a:xfrm xmlns:a="http://schemas.openxmlformats.org/drawingml/2006/main">
            <a:off x="13006595" y="361950"/>
            <a:ext cx="1371185" cy="19526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6" name=""/>
          <p:cNvGraphicFramePr/>
          <p:nvPr/>
        </p:nvGraphicFramePr>
        <p:xfrm>
          <a:off xmlns:a="http://schemas.openxmlformats.org/drawingml/2006/main" x="819150" y="26384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000375"/>
                <a:gridCol w="2476500"/>
                <a:gridCol w="1809750"/>
                <a:gridCol w="2219325"/>
              </a:tblGrid>
              <a:tr h="635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 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커머스 구매 비용¹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 비용²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표시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소계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50,363원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7,715원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5,036원³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63,114원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약48,802원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(5,666엔)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약15,504원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(1,800엔)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약64,306원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몰테일 항공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약48,371원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(주문5,616엔)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약21,212원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($15.63)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약69,583원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약53,682원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(상품+대행료10%)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약16,796원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(1,950엔)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약70,478원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국제배송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51,868원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14,419원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66,287원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FED69-D6F1-4505-B168-DF65E260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4370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¹ 몰테일 경로는50엔 쿠폰 적용 주문. WorldShopping은 대행료 포함. ² 운임·취급료 포함. 공식 스토어 운송사 미표기.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37F15-F0F6-45B5-8BE6-5A52A2C4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72325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³ SAZO의 ‘통관·관세’ 표시 항목. tenso·WorldShopping은250g·19×14×2cm, 몰테일은0.5kg 최저 구간 가정.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07CF2-D29B-4DF6-A07A-E45773F9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10475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환산: 1엔=8.6131원·1달러=1,357.14원(10/4~10 과세환율). 실측·보험·세금·카드비용에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800107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238FC-806C-44B5-98EF-47B565B5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0949-A8D1-4948-B773-551ECA76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1F5-64A0-490E-B721-B69C7D5D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CBC94-C34C-409A-BA0B-F60D637C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16E5-C849-4BC0-8A99-DB04DBC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DBE2B-3C7C-4971-9475-2F578F4D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4E9BD-2231-4D61-9606-4BFC3A80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008E2-260D-4FA4-B467-B6288498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FE465-C82A-4E51-9DFC-9A13C01F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415C6-D797-4C1D-A747-39160FA7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4810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CD8E2-6B88-46D4-8CE6-DACEDF0A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F6D19-FEF8-4EC6-B560-97203268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FDF17-8E81-4DD1-9B71-43EC1646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2E8E4-ADCF-4DD3-B0E9-E946A384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7EB12-47F0-4FC8-A598-E5A10007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919F4-457E-4951-88AE-772DE755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D4D80-0F9C-410C-822D-0F21507B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E0DA8-2F53-4013-BF90-3B3EE6CD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84C0C-9946-4A8B-9A71-7A8E74FE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33A90-B866-4A31-ADD2-4B768966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581407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C614E-3F82-4D5B-A4CE-107EBEF0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2BFA9-9071-4231-87A8-715CDA50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CE9D-7C14-41E1-8C26-195EB1AC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83669-6D46-444C-ABEA-79830075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9E573-DC53-458A-B986-5E6CE5ED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3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0E10B-2701-4395-8837-7F599B74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39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3A420-328D-4FEC-902D-D85FBC54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41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3B048-7A63-4039-8EBE-0B39347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43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4BDE8-0B4D-4234-97FD-545D971E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ED361-7FC4-454C-BEC8-195429E3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D7DE1-7033-4938-9306-DE226A03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D44EE-11E5-4F0D-B8F4-9CBFFDB0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98431-0E35-49D5-ABAC-B9D6B032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70CA5-AD6D-4E45-AAA7-40E984E2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662DA-8E8E-44C7-95E9-822A67DA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656478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622E8-CCF8-4755-822B-F67751AA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7E4B9-A945-4B5F-99FB-553BB3AF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0BC28-7FE1-4EEB-8AB0-7A72AF0F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4BC91-A076-4411-8719-DE708FA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0985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상품을 구매하고</a:t>
            </a:r>
          </a:p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배송대행 신청까지 진행해줘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4309E-CC0D-47B6-B46E-E205806F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4D975-14B7-4D4C-A0BE-DD6AF4DA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2427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 조건 확인 후</a:t>
            </a:r>
          </a:p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로그인과 정보 입력 승인을 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EA5FC-9821-40C0-9333-0E846E19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95481-70B1-4070-9D0C-F49A58BA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3870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로그인 완료 · 입력/제출 승인</a:t>
            </a:r>
          </a:p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구매/인증 완료 알림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E823B-4883-44D4-8AD8-94903ED7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8635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90B67-C69C-4211-AA4B-6D76A0D4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5312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정보를 대조하고 신청서 작성</a:t>
            </a:r>
          </a:p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인증 후 같은 신청서로 접수 완료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133CB-A9AB-49AA-BFB6-94453BAD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E6E7-0F49-47F8-B2C1-C7906294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실제 접수 결과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4c2d461b34ae7"/>
          <a:stretch xmlns:a="http://schemas.openxmlformats.org/drawingml/2006/main"/>
        </p:blipFill>
        <p:spPr>
          <a:xfrm xmlns:a="http://schemas.openxmlformats.org/drawingml/2006/main">
            <a:off x="9858375" y="3422061"/>
            <a:ext cx="4572000" cy="3633377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E33A3-3292-4F4A-A444-A91F53F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009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대화는 실제 기록의 요약입니다. 후속 입력은 로그인2회·승인2회·구매/인증 완료 알림2회입니다.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EE6A5-D0C0-4039-8D7B-AFB3A0BF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81925"/>
            <a:ext cx="1352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메시지 수 기준이며, 로그인·구매·인증 화면의 클릭과 입력 횟수는 별도로 측정하지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77996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BC463-8BB3-40D6-A429-EE81D822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0F578-1C34-4413-8E58-0B6DF11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1B4DF-02EC-450B-81FD-1D4D2EC8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1B909-54A3-41C3-95AA-7BD044E6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33D1B-322A-4799-B9EB-9D406B38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2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EF7B9-7553-4DC5-A105-D03E071C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28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F6075-7705-40DA-9D6B-0AE4E4B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EDCA9-A882-4D8A-9271-8019BA1C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3C545-B012-4DCD-BD67-95E657C2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D9275-FA19-4AE0-AC08-CE5096A1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999572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54C67-149C-461B-B36F-F2E406CE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62A97-611E-4780-857E-2A44E34E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770DD-491C-45F6-939E-1E8F3391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2721-CC25-4C3E-AD1F-5AEFBDC5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24075"/>
            <a:ext cx="5619750" cy="573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8ACA2"/>
            </a:solidFill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6d602995c4d5f"/>
          <a:stretch xmlns:a="http://schemas.openxmlformats.org/drawingml/2006/main"/>
        </p:blipFill>
        <p:spPr>
          <a:xfrm xmlns:a="http://schemas.openxmlformats.org/drawingml/2006/main">
            <a:off x="5059326" y="2238375"/>
            <a:ext cx="5121349" cy="5505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15995-CD4E-4ACE-9282-4A1EFA66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337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URL 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0D93B-6383-40F2-85AC-DFCA111E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6766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링크 하나로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분석을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8C2C6-1AD6-49FC-8D9B-CC5B0E76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101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62222-1D9F-4C9A-988F-72E63029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562600"/>
            <a:ext cx="3333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상품·배송·세금과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미확인 조건을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함께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755736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8FC16-50E8-40A7-9F98-CF473474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71BD6-A549-4DB3-A022-1F71269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43D07-BA79-4F16-832B-41BE39E4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CDBE3-406C-4B83-96A2-77DF3AA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179FB-80AE-4E5D-8720-9BF7189D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2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6A0D9-6598-4AC3-B3D5-5076FB1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41AE7-8CF4-44E0-B5B8-58B17B34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F2C24-963C-4CA8-9147-0F9D52E5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7D310-6BDF-49D6-B5AC-2290B460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CD27E-5301-44C7-B19A-5956678C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08C0F-B134-4B6E-87C1-C200EC8B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6480145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22E74-4C60-4059-A86D-6863663D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FEE7B-2BB4-4FE7-94B0-B569B783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항목으로 정리하되, 실제 URL 분석과 합성 계산 표본의 차이는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E12B8-736B-4826-BCBA-F439BC3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505075"/>
          <a:ext xmlns:a="http://schemas.openxmlformats.org/drawingml/2006/main" cx="13601700" cy="4619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629275"/>
                <a:gridCol w="5638800"/>
              </a:tblGrid>
              <a:tr h="769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TCG 상품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주류(위스키)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자료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실제 판매글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2026-10-05 운영 분석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제조사 사양 + 합성 계산 입력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2026-09-30 저장 시험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분류·추출 결과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HSK 9504400000 후보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whisky 후보 · 700ml·43% 추출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 수는 미확인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계산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관측 판매가70,000JPY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기본관세8%·일반 부가세10%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합성 입력: $200·750ml 1병·40%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환율1,000원/$·운임0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 세금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115,776 ~ 117,335원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353,696원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분류→공개 세율→계산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사양 추출과 계산 회귀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용량·병 수 경계 및 누락 입력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DA90-5FDA-4057-BD5F-B6BF13B6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납부세액과 대조한 정확도 검증은 아닙니다. 주류의 사양 추출 표본과 산술 표본은 서로 다릅니다.</a:t>
            </a:r>
          </a:p>
        </p:txBody>
      </p:sp>
    </p:spTree>
    <p:extLst>
      <p:ext uri="{BB962C8B-B14F-4D97-AF65-F5344CB8AC3E}">
        <p14:creationId xmlns:p14="http://schemas.microsoft.com/office/powerpoint/2010/main" val="9243152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8FC11-7A89-49A1-9415-5F9E199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9C6C6-C04B-4E2C-9E9A-15FCCB86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757A2-D1DE-4E62-9238-78BE532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2C7F5-31F3-4C29-991F-EC01E668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상품 정보를 가져왔습니다.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메루카리는 웹페이지를 크롤링하고 HTML을 파싱했습니다.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139167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63C29-76F4-44AD-ADEB-BD9632F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2E600B-0D89-4E68-BF92-D5DFC21B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D731C-2CB5-4D69-BFCD-7F7C7BC6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FC332-F1BB-4EF4-8C5B-215000E2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00A99-44AA-488C-AB63-8C1AB2F6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B03F8-7A8C-4173-9A4C-2681FA8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97609-2BCE-4884-9080-F157B6C3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357C0-7EF6-4315-BDFC-32C00050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10/6 확인 소계는 SAZO63,114원, 직접구매+tenso 약64,306원이었습니다.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조건에서는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B0238-BB3C-4472-921F-DF5561BE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915172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F3D43-F542-410E-9A75-2BD83D3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14A55-0516-4234-87DE-78D217F2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702E4-CE0C-4AEF-94F6-284D9068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16573-233F-479C-8D51-A64FC701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4BB0A-56B2-4CCD-AF43-CBAB5868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D43A-1989-4E9C-B58A-F25E7ED2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8344C-3571-4F89-9787-092EB536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A9E9D-C41B-43EB-84CF-A45D6C2E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F6EEB-40DE-4581-B4E9-D6388785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658660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806A6-F786-4B6E-BDFB-37808010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부록 · Jev 판단 모델 비교 실험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38F28-9B54-42B0-8C13-AD4F0AA9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가정용·취미 상품의 HS 후보 선택시간과 비용을 비교했습니다.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BA3E3-8AAD-466E-9ECE-58D1D538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16   윤장한 · 직구 조사와 도구 구현 · 부록 · 2026.10.07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95409-DF95-4667-8EF3-535E7241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1352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Jev는 TypeSafe AI가 만든 선택·분류 중심의 판단 모델입니다.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설명문 대신 미리 정한 후보에서 선택하고, 후보별 확률을 반환합니다.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23EE0-E4ED-442F-BCF0-3EF96DDF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13525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HS 코드 추론도 정해진 코드 중에서 고르는 작업이므로,</a:t>
            </a:r>
          </a:p>
          <a:p xmlns:a="http://schemas.openxmlformats.org/drawingml/2006/main">
            <a:pPr>
              <a:defRPr sz="2100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LLM 대신 Jev를 쓰면 판단시간과 비용을 줄일 수 있는지 확인했습니다.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F34998-7140-4FE5-AD09-945F9BF3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38675"/>
            <a:ext cx="1352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평가: HSCodeComp(전자상거래 상품632개·전문가 라벨)에서 이전과 겹치지 않는 새93개 선별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819150" y="5238750"/>
          <a:ext xmlns:a="http://schemas.openxmlformats.org/drawingml/2006/main" cx="136017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5143500"/>
                <a:gridCol w="5791200"/>
              </a:tblGrid>
              <a:tr h="3381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실험 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선별·평가 원칙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3381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생활·주방 / 의류 / 취미 / 전자기기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용도를 기준으로 선별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Jev1.13 ↔ GPT-6 Luna low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동일한 상품명·속성·HS 목록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3381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방식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단일 경로 HS2 → HS4 → HS6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정보 부족·복합 재질·세트 유지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F75C3-77F2-4358-8190-891113A0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29425"/>
            <a:ext cx="1352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HSCodeComp 원본: </a:t>
            </a:r>
            <a:r>
              <a:rPr sz="18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757a087ce54845ce"/>
              </a:rPr>
              <a:t>huggingface.co/datasets/ATH-MaaS/HSCodeComp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7C9F7-B097-41FD-8B4E-C494783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텍스트만 사용했습니다. 웹 검색·이미지 분석·복수 경로 재선택은 이번 비교에서 제외했습니다.</a:t>
            </a:r>
          </a:p>
        </p:txBody>
      </p:sp>
    </p:spTree>
    <p:extLst>
      <p:ext uri="{BB962C8B-B14F-4D97-AF65-F5344CB8AC3E}">
        <p14:creationId xmlns:p14="http://schemas.microsoft.com/office/powerpoint/2010/main" val="17989177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284BC-558D-48EF-AAFC-9802195F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 후보 판단시간을 약7배 줄였습니다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AE6E5-BF83-4A46-8B14-15C4EC05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새 서비스 범위93개에서 Jev의 중앙 처리시간과 추정 비용이 더 낮았습니다.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1044C-C249-4C72-A7A2-FB90BE21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17   윤장한 · 직구 조사와 도구 구현 · 부록 · 2026.10.07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819150" y="2647950"/>
          <a:ext xmlns:a="http://schemas.openxmlformats.org/drawingml/2006/main" cx="8715375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bf9dced78d478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91EE4-61DC-4071-B64F-45A83EC0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7813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판단시간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02663-9758-4045-B18D-4D138A2D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718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약7배 빠르게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03D890-A168-44BF-B04D-42104B0F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862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0.645초 ↔ 4.510초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6CCC4-C53A-4AE7-B2E5-96BEFF0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9530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추정 API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DB073-8AC7-41CA-BD65-BAE93548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5435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57.1% 감소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95117-CCD6-4A33-8726-CC589C2C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579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93개 합계 $0.0226 ↔ $0.0527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18635-1D1B-4495-A8ED-5473D30D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58050"/>
            <a:ext cx="1352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분류 단계의 실험 수치입니다. 전체 URL 분석시간이나 운영 서비스 개선율이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64243726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9D3C5-7ED1-47A0-BD6D-B8639247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빠른 후보 판단과 최종 검토를 구분했습니다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7C8DE-80AC-4CFC-8FCB-C0211D4B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처리시간·비용 이점과 함께, 재질·용도·정보 부족에 따른 판단 한계를 확인했습니다.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D515F-05C8-4D3B-9C52-6FFADD79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18   윤장한 · 직구 조사와 도구 구현 · 부록 · 2026.10.07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695575"/>
          <a:ext xmlns:a="http://schemas.openxmlformats.org/drawingml/2006/main" cx="136017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5048250"/>
                <a:gridCol w="5314950"/>
              </a:tblGrid>
              <a:tr h="6953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 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관찰한 사례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적용 범위 (제안)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재질·제품 용도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PU 인조가죽 / 인형용 모자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 근거를 확인해 분류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복합 재질·세트·부품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제목·속성·용도가 서로 충돌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불충분한 정보는 보류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입력과 참조 라벨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정보와 라벨의 불일치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 결과와 데이터 함께 검토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FBBB2-6052-4D62-950C-419678F7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912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판단 품질과 답변률에는 차이가 있습니다. 최종 관세 분류를 자동 확정하는 근거로 쓰지 않습니다.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DCF6B-56D0-4305-9DA3-E3CBEC10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4845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검증 결과: 정확도·답변률·토큰·실패 사례를 공개 레포에서 확인할 수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FF3A2-44F7-46AF-9D2F-70D7D126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29500"/>
            <a:ext cx="1352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공개 실험 기록 · </a:t>
            </a:r>
            <a:r>
              <a:rPr sz="18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a1f44fc0758a43fe"/>
              </a:rPr>
              <a:t>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20389809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2026-10-07T02:35:16.0910000Z</dcterms:created>
  <dcterms:modified xsi:type="dcterms:W3CDTF">2026-10-07T02:35:16.0910000Z</dcterms:modified>
</coreProperties>
</file>