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3c35dfe74b74c77" /><Relationship Type="http://schemas.openxmlformats.org/officeDocument/2006/relationships/extended-properties" Target="/docProps/app.xml" Id="R6a39c6d8a96c4382" /><Relationship Type="http://schemas.openxmlformats.org/officeDocument/2006/relationships/officeDocument" Target="/ppt/presentation.xml" Id="R95c186d582b147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c3a7286720e4cbb"/>
  </p:sldMasterIdLst>
  <p:notesMasterIdLst>
    <p:notesMasterId xmlns:r="http://schemas.openxmlformats.org/officeDocument/2006/relationships" r:id="R5580f0fe99074d1e"/>
  </p:notesMasterIdLst>
  <p:sldIdLst>
    <p:sldId xmlns:r="http://schemas.openxmlformats.org/officeDocument/2006/relationships" id="256" r:id="R7d2519d1259b4d9d"/>
    <p:sldId xmlns:r="http://schemas.openxmlformats.org/officeDocument/2006/relationships" id="257" r:id="R26a0be585e674edf"/>
    <p:sldId xmlns:r="http://schemas.openxmlformats.org/officeDocument/2006/relationships" id="258" r:id="R6fe64ba567c748d5"/>
    <p:sldId xmlns:r="http://schemas.openxmlformats.org/officeDocument/2006/relationships" id="259" r:id="Rf73c24bd2a5a474f"/>
    <p:sldId xmlns:r="http://schemas.openxmlformats.org/officeDocument/2006/relationships" id="260" r:id="Rba7751a71c9a4e5a"/>
    <p:sldId xmlns:r="http://schemas.openxmlformats.org/officeDocument/2006/relationships" id="261" r:id="R415823e4ee174a8b"/>
    <p:sldId xmlns:r="http://schemas.openxmlformats.org/officeDocument/2006/relationships" id="262" r:id="Red15072ab7004273"/>
    <p:sldId xmlns:r="http://schemas.openxmlformats.org/officeDocument/2006/relationships" id="263" r:id="R4ebebd0e3a7e4108"/>
    <p:sldId xmlns:r="http://schemas.openxmlformats.org/officeDocument/2006/relationships" id="264" r:id="R6c654364fa024a24"/>
    <p:sldId xmlns:r="http://schemas.openxmlformats.org/officeDocument/2006/relationships" id="265" r:id="Ra89bf995026144de"/>
    <p:sldId xmlns:r="http://schemas.openxmlformats.org/officeDocument/2006/relationships" id="266" r:id="Rf5ac29757d8142f0"/>
    <p:sldId xmlns:r="http://schemas.openxmlformats.org/officeDocument/2006/relationships" id="267" r:id="R03263f1a96934bab"/>
    <p:sldId xmlns:r="http://schemas.openxmlformats.org/officeDocument/2006/relationships" id="268" r:id="R7367dd74a4804e74"/>
    <p:sldId xmlns:r="http://schemas.openxmlformats.org/officeDocument/2006/relationships" id="269" r:id="R2cd1fd4bf74840a1"/>
    <p:sldId xmlns:r="http://schemas.openxmlformats.org/officeDocument/2006/relationships" id="270" r:id="R8dc9228078084719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2d863258c4428a" /><Relationship Type="http://schemas.openxmlformats.org/officeDocument/2006/relationships/slideMaster" Target="/ppt/slideMasters/slideMaster1.xml" Id="Rec3a7286720e4cbb" /><Relationship Type="http://schemas.openxmlformats.org/officeDocument/2006/relationships/notesMaster" Target="/ppt/notesMasters/notesMaster1.xml" Id="R5580f0fe99074d1e" /><Relationship Type="http://schemas.openxmlformats.org/officeDocument/2006/relationships/presProps" Target="/ppt/presProps.xml" Id="R5a24096578964cc9" /><Relationship Type="http://schemas.openxmlformats.org/officeDocument/2006/relationships/tableStyles" Target="/ppt/tableStyles.xml" Id="Rd44cb8b9dbc948a5" /><Relationship Type="http://schemas.openxmlformats.org/officeDocument/2006/relationships/slide" Target="/ppt/slides/slide1.xml" Id="R7d2519d1259b4d9d" /><Relationship Type="http://schemas.openxmlformats.org/officeDocument/2006/relationships/slide" Target="/ppt/slides/slide2.xml" Id="R26a0be585e674edf" /><Relationship Type="http://schemas.openxmlformats.org/officeDocument/2006/relationships/slide" Target="/ppt/slides/slide3.xml" Id="R6fe64ba567c748d5" /><Relationship Type="http://schemas.openxmlformats.org/officeDocument/2006/relationships/slide" Target="/ppt/slides/slide4.xml" Id="Rf73c24bd2a5a474f" /><Relationship Type="http://schemas.openxmlformats.org/officeDocument/2006/relationships/slide" Target="/ppt/slides/slide5.xml" Id="Rba7751a71c9a4e5a" /><Relationship Type="http://schemas.openxmlformats.org/officeDocument/2006/relationships/slide" Target="/ppt/slides/slide6.xml" Id="R415823e4ee174a8b" /><Relationship Type="http://schemas.openxmlformats.org/officeDocument/2006/relationships/slide" Target="/ppt/slides/slide7.xml" Id="Red15072ab7004273" /><Relationship Type="http://schemas.openxmlformats.org/officeDocument/2006/relationships/slide" Target="/ppt/slides/slide8.xml" Id="R4ebebd0e3a7e4108" /><Relationship Type="http://schemas.openxmlformats.org/officeDocument/2006/relationships/slide" Target="/ppt/slides/slide9.xml" Id="R6c654364fa024a24" /><Relationship Type="http://schemas.openxmlformats.org/officeDocument/2006/relationships/slide" Target="/ppt/slides/slide10.xml" Id="Ra89bf995026144de" /><Relationship Type="http://schemas.openxmlformats.org/officeDocument/2006/relationships/slide" Target="/ppt/slides/slide11.xml" Id="Rf5ac29757d8142f0" /><Relationship Type="http://schemas.openxmlformats.org/officeDocument/2006/relationships/slide" Target="/ppt/slides/slide12.xml" Id="R03263f1a96934bab" /><Relationship Type="http://schemas.openxmlformats.org/officeDocument/2006/relationships/slide" Target="/ppt/slides/slide13.xml" Id="R7367dd74a4804e74" /><Relationship Type="http://schemas.openxmlformats.org/officeDocument/2006/relationships/slide" Target="/ppt/slides/slide14.xml" Id="R2cd1fd4bf74840a1" /><Relationship Type="http://schemas.openxmlformats.org/officeDocument/2006/relationships/slide" Target="/ppt/slides/slide15.xml" Id="R8dc922807808471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da2c754d3034ae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44cdab84cd34cc8" /><Relationship Type="http://schemas.openxmlformats.org/officeDocument/2006/relationships/notesMaster" Target="/ppt/notesMasters/notesMaster1.xml" Id="R2d5e8e4d084041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395797a5d4641e7" /><Relationship Type="http://schemas.openxmlformats.org/officeDocument/2006/relationships/notesMaster" Target="/ppt/notesMasters/notesMaster1.xml" Id="R0d8f362fabd540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377a3f95d1243c4" /><Relationship Type="http://schemas.openxmlformats.org/officeDocument/2006/relationships/notesMaster" Target="/ppt/notesMasters/notesMaster1.xml" Id="Ra6c83a8ec2fc493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bbd0cfc43b4043" /><Relationship Type="http://schemas.openxmlformats.org/officeDocument/2006/relationships/notesMaster" Target="/ppt/notesMasters/notesMaster1.xml" Id="R761232bfc0424c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b532b0d3f7a4213" /><Relationship Type="http://schemas.openxmlformats.org/officeDocument/2006/relationships/notesMaster" Target="/ppt/notesMasters/notesMaster1.xml" Id="Rdc98f3fb99d549f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284bd6c132f49bd" /><Relationship Type="http://schemas.openxmlformats.org/officeDocument/2006/relationships/notesMaster" Target="/ppt/notesMasters/notesMaster1.xml" Id="Rf5c21ef724fc4ac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c306b41d8c94ad5" /><Relationship Type="http://schemas.openxmlformats.org/officeDocument/2006/relationships/notesMaster" Target="/ppt/notesMasters/notesMaster1.xml" Id="R1847fc1c988049d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63d03d02264cae" /><Relationship Type="http://schemas.openxmlformats.org/officeDocument/2006/relationships/notesMaster" Target="/ppt/notesMasters/notesMaster1.xml" Id="Rd13a548cb625423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2693e2d63e4657" /><Relationship Type="http://schemas.openxmlformats.org/officeDocument/2006/relationships/notesMaster" Target="/ppt/notesMasters/notesMaster1.xml" Id="R0994763b1bfb4b5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a4e54bb94e4e3a" /><Relationship Type="http://schemas.openxmlformats.org/officeDocument/2006/relationships/notesMaster" Target="/ppt/notesMasters/notesMaster1.xml" Id="R3765421aca714f0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fa3a4e7a9544f94" /><Relationship Type="http://schemas.openxmlformats.org/officeDocument/2006/relationships/notesMaster" Target="/ppt/notesMasters/notesMaster1.xml" Id="Rb47207b8048c4ad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fc4d8f3aba34bf0" /><Relationship Type="http://schemas.openxmlformats.org/officeDocument/2006/relationships/notesMaster" Target="/ppt/notesMasters/notesMaster1.xml" Id="R77f8f5a5e9674b1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bba97d0d6304a08" /><Relationship Type="http://schemas.openxmlformats.org/officeDocument/2006/relationships/notesMaster" Target="/ppt/notesMasters/notesMaster1.xml" Id="R6e45a8ee28d74b3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75332bb496d40b8" /><Relationship Type="http://schemas.openxmlformats.org/officeDocument/2006/relationships/notesMaster" Target="/ppt/notesMasters/notesMaster1.xml" Id="R37628fa8659045e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7e3eb6609d84e2e" /><Relationship Type="http://schemas.openxmlformats.org/officeDocument/2006/relationships/notesMaster" Target="/ppt/notesMasters/notesMaster1.xml" Id="R552641e739a848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개인 프로젝트. 기획·조사·검증과 도구 구현에 Codex 사용. 관측과 테스트 결과는 2026-10-05 기준, 문서 개정 2026-10-06.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https://github.com/y00nZZang/crossborder-purchase-agent/blob/main/docs/design.md ; https://github.com/y00nZZang/product-catalog/blob/main/README.md . 최초 연구 목표와 구현 범위를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https://github.com/y00nZZang/crossborder-purchase-agent/blob/main/docs/route-comparison.md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. 사용자 경험과 기존 조사 기록. 현재의 모든 해외 사용자에게 적용되는 정책으로 일반화하지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https://github.com/y00nZZang/crossborder-purchase-agent/blob/main/docs/route-comparison.md ; https://www.tenso.com/jp/estimate ; https://www.worldshopping.global/simulator/ ; https://books.rakuten.co.jp/rb/18584086/ . SAZO 사용자 제공 캡처, 세부 운송·특전 조건 미확인.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https://github.com/y00nZZang/crossborder-purchase-agent/blob/main/docs/experience-notes.md ; https://github.com/y00nZZang/crossborder-purchase-agent/blob/main/docs/route-comparison.md . 사용자 체감과 합배송 가설. 실제 합배송 실측·절감액 미검증.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https://github.com/y00nZZang/crossborder-purchase-agent/blob/main/README.md ; https://github.com/y00nZZang/product-catalog/blob/main/README.md . 두 도구는 현재 자동 API 연동되지 않음.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https://github.com/y00nZZang/crossborder-purchase-agent/tree/main/plugin ; https://github.com/y00nZZang/crossborder-purchase-agent/blob/main/docs/design.md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https://github.com/y00nZZang/crossborder-purchase-agent/blob/main/docs/interaction-count.md ; https://github.com/y00nZZang/crossborder-purchase-agent/blob/main/docs/experiment.md . 2026-10-05 실험 전체 7개 사용자 메시지 대조. 대화 횟수이며 브라우저 클릭/입력 횟수와 다름.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https://github.com/y00nZZang/crossborder-purchase-agent/blob/main/plugin/skills/crossborder-track-delivery/SKILL.md ; https://github.com/y00nZZang/crossborder-purchase-agent/blob/main/plugin/references/tracking.md . 등록 절차 구현과 실제 등록·반복 실행 검증은 구분.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https://github.com/y00nZZang/product-catalog/blob/main/docs/verification.md ; https://catalog.janghan.dev/ . 기존 관측 결과 화면, 실측·실제 납부 세액 아님.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https://github.com/y00nZZang/product-catalog/blob/main/README.md ; https://github.com/y00nZZang/product-catalog/blob/main/docs/architecture.md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https://github.com/y00nZZang/product-catalog/blob/main/docs/public-hsk-rates-2026-10-05.md ; https://github.com/y00nZZang/product-catalog/tree/main/src/ai ; https://unipass.customs.go.kr/clip/hsinfosrch/openULS0401009Q.do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https://github.com/y00nZZang/crossborder-purchase-agent/blob/main/docs/experiment.md ; https://github.com/y00nZZang/product-catalog/blob/main/docs/verification.md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afbb8afe5a45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864203606e4489" /><Relationship Type="http://schemas.openxmlformats.org/officeDocument/2006/relationships/slideLayout" Target="/ppt/slideLayouts/slideLayout1.xml" Id="Rb0203e6b9fda453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203e6b9fda453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71f3eb54b4358" /><Relationship Type="http://schemas.openxmlformats.org/officeDocument/2006/relationships/notesSlide" Target="/ppt/notesSlides/notesSlide1.xml" Id="R83aae0188ed642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70ae3f0a3a453b" /><Relationship Type="http://schemas.openxmlformats.org/officeDocument/2006/relationships/notesSlide" Target="/ppt/notesSlides/notesSlide2.xml" Id="R294961af06434b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c10c9219a47fa" /><Relationship Type="http://schemas.openxmlformats.org/officeDocument/2006/relationships/notesSlide" Target="/ppt/notesSlides/notesSlide3.xml" Id="R749230370dba4e2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bbc8649f024438" /><Relationship Type="http://schemas.openxmlformats.org/officeDocument/2006/relationships/notesSlide" Target="/ppt/notesSlides/notesSlide4.xml" Id="R0faac99c8a0b405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13b46e1c9f4f66" /><Relationship Type="http://schemas.openxmlformats.org/officeDocument/2006/relationships/notesSlide" Target="/ppt/notesSlides/notesSlide5.xml" Id="R8b79ace0ae724d1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ace5b6eb3348a0" /><Relationship Type="http://schemas.openxmlformats.org/officeDocument/2006/relationships/notesSlide" Target="/ppt/notesSlides/notesSlide6.xml" Id="R17768a7c8b7e43e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8221b4e32b48fc" /><Relationship Type="http://schemas.openxmlformats.org/officeDocument/2006/relationships/notesSlide" Target="/ppt/notesSlides/notesSlide7.xml" Id="Rf018c43c80914c6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8f9d5397cf4201" /><Relationship Type="http://schemas.openxmlformats.org/officeDocument/2006/relationships/notesSlide" Target="/ppt/notesSlides/notesSlide8.xml" Id="Rbd978647a7084d8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81bc43ed0f448a" /><Relationship Type="http://schemas.openxmlformats.org/officeDocument/2006/relationships/image" Target="/ppt/media/image.jpeg" Id="R41afe7e037a44ba4" /><Relationship Type="http://schemas.openxmlformats.org/officeDocument/2006/relationships/notesSlide" Target="/ppt/notesSlides/notesSlide9.xml" Id="Ra6e6cc3c49ad42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eaccd144234c50" /><Relationship Type="http://schemas.openxmlformats.org/officeDocument/2006/relationships/notesSlide" Target="/ppt/notesSlides/notesSlide10.xml" Id="Re4d6b6706fc44fa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83d9a06b346c3" /><Relationship Type="http://schemas.openxmlformats.org/officeDocument/2006/relationships/image" Target="/ppt/media/image2.jpeg" Id="Rfb4782024ea04491" /><Relationship Type="http://schemas.openxmlformats.org/officeDocument/2006/relationships/notesSlide" Target="/ppt/notesSlides/notesSlide11.xml" Id="R0855a99e6ed44723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2d2d55653a415d" /><Relationship Type="http://schemas.openxmlformats.org/officeDocument/2006/relationships/notesSlide" Target="/ppt/notesSlides/notesSlide12.xml" Id="Rdef6ad21776f43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172acfe3604aff" /><Relationship Type="http://schemas.openxmlformats.org/officeDocument/2006/relationships/notesSlide" Target="/ppt/notesSlides/notesSlide13.xml" Id="R58a88a48120e4ac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0812f3821742d1" /><Relationship Type="http://schemas.openxmlformats.org/officeDocument/2006/relationships/notesSlide" Target="/ppt/notesSlides/notesSlide14.xml" Id="Rdfb22d7ebd5848a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f12f2e7d734218" /><Relationship Type="http://schemas.openxmlformats.org/officeDocument/2006/relationships/notesSlide" Target="/ppt/notesSlides/notesSlide15.xml" Id="Rdab12637f62844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3F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D0B419-3A2D-43A2-9D68-0B0946F2B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4718F6-114F-4D2C-95C5-0B7402A9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01   윤장한 · 구매대행 조사와 도구 구현 · 2026.10.06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89577B-0197-4D94-BA8B-E9553AFA4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028700"/>
            <a:ext cx="1333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개인 프로젝트 · 윤장한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47DDF1-F063-4624-B8FA-3D4ACDD1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71775"/>
            <a:ext cx="13430250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구매대행 과정 조사와</a:t>
            </a:r>
          </a:p>
          <a:p xmlns:a="http://schemas.openxmlformats.org/drawingml/2006/main">
            <a:pPr>
              <a:def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두 가지 도구 구현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1F8F9-0EF8-476A-94C0-89BACC7C4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72150"/>
            <a:ext cx="1333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00" b="0">
                <a:solidFill>
                  <a:srgbClr val="D8E7DE"/>
                </a:solidFill>
                <a:latin typeface="Apple SD Gothic Neo"/>
                <a:ea typeface="Apple SD Gothic Neo"/>
                <a:cs typeface="Apple SD Gothic Neo"/>
              </a:rPr>
              <a:t>Codex 플러그인 · 상품 URL 분석기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11EBA6-9887-4982-9648-2D362684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934200"/>
            <a:ext cx="1333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B8D9C9"/>
                </a:solidFill>
                <a:latin typeface="Apple SD Gothic Neo"/>
                <a:ea typeface="Apple SD Gothic Neo"/>
                <a:cs typeface="Apple SD Gothic Neo"/>
              </a:rPr>
              <a:t>검증 질문, 관찰한 내용, 구현과 시험 결과</a:t>
            </a:r>
          </a:p>
        </p:txBody>
      </p:sp>
    </p:spTree>
    <p:extLst>
      <p:ext uri="{BB962C8B-B14F-4D97-AF65-F5344CB8AC3E}">
        <p14:creationId xmlns:p14="http://schemas.microsoft.com/office/powerpoint/2010/main" val="44938721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D9667-D5DE-4351-9C40-0611E921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검증하고자 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3FDB3A-D358-4DB4-BE7C-AF18D3773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과정과 비용 정보를 직접 확인하고, 에이전트가 보조할 수 있는 범위를 살펴봤습니다.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A5FF60-DDD2-4BA1-A041-BDCF5DE1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D7007-6A3D-4FF5-82BA-F03973DB1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과정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1E0907-6E41-4500-8A35-430E68E5D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개인이 에이전트의 도움을 받아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조사·주문·배송신청을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어디까지 진행할 수 있는가?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01192-8A59-4D67-9CC2-1F8CAB5B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05100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구매 전 정보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1407D0-749F-4DF4-A308-A93FF402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62350"/>
            <a:ext cx="6191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URL에 있는 정보로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배송과 관세 비용을</a:t>
            </a:r>
          </a:p>
          <a:p xmlns:a="http://schemas.openxmlformats.org/drawingml/2006/main">
            <a:pPr>
              <a:def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어느 범위까지 추정할 수 있는가?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4D83A6A-0927-4D46-86D1-8993906DD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구매대행의 역할 변화는 탐색 질문으로 두고, 선택한 상품과 경로에서 먼저 시험했습니다.</a:t>
            </a:r>
          </a:p>
        </p:txBody>
      </p:sp>
    </p:spTree>
    <p:extLst>
      <p:ext uri="{BB962C8B-B14F-4D97-AF65-F5344CB8AC3E}">
        <p14:creationId xmlns:p14="http://schemas.microsoft.com/office/powerpoint/2010/main" val="1071246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1CD59B-A746-4C89-B152-64E54952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조사와 구매 과정에서 확인한 내용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CA511-C9A5-4480-9828-AC341F91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경로별 견적 비교와 실제 구매를 구분해 기록했습니다.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A98405E-137F-4FD3-A7EF-98827C275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03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14625"/>
          <a:ext xmlns:a="http://schemas.openxmlformats.org/drawingml/2006/main" cx="136017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67000"/>
                <a:gridCol w="5791200"/>
                <a:gridCol w="5143500"/>
              </a:tblGrid>
              <a:tr h="7620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과정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내용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도구에 반영한 부분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 비교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상품값 외에 운임·취급료·조건 확인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항목과 미확인 조건 표시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이용 준비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계정·주소 증빙·추가 인증 필요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사용자 확인 후 재개하는 절차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주문·배송신청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주소·주문 정보 입력과 결과 대조 필요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기존 주문 확인, 신청 상태 기록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비용 추정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사양·상품 분류가 부족한 경우 존재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검색·모델 보완과 추정 근거 표시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E40FEB-F574-406A-A004-11CB9A5B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00875"/>
            <a:ext cx="1333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입고 이후의 실측·국제운송·수령은 아직 확인하지 못했습니다.</a:t>
            </a:r>
          </a:p>
        </p:txBody>
      </p:sp>
    </p:spTree>
    <p:extLst>
      <p:ext uri="{BB962C8B-B14F-4D97-AF65-F5344CB8AC3E}">
        <p14:creationId xmlns:p14="http://schemas.microsoft.com/office/powerpoint/2010/main" val="185884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719B23-EED9-4DF8-A258-4BC673C40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가입과 이용 준비에서 겪은 어려움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13BE7C-3A19-4DC3-8028-CFF742BF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한국 거주 개인으로 직접 구매를 준비하며 확인한 내용입니다.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370F25-550C-4EDE-AD78-945DE490D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04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EBF935-5CDF-4EFB-A0F5-C34887D55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2415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메루카리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11C7EC-AB7A-4C32-B402-DC2477C9D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48075"/>
            <a:ext cx="628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해외 거주자로 가입·구매를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진행하는 데 어려움이 있었습니다.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12ADC1-6FDA-45DA-929E-99FD6945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53050"/>
            <a:ext cx="6286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이번 직접 구매 시험에서는 제외하고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라쿠텐을 중심으로 진행했습니다.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B90D91-8082-4542-90AD-2DBBB6AFE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24150"/>
            <a:ext cx="619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tenso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DF36FB-4083-4B12-957C-1CD71E4ED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648075"/>
            <a:ext cx="6286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본인확인 중 주소 증빙 서류의</a:t>
            </a:r>
          </a:p>
          <a:p xmlns:a="http://schemas.openxmlformats.org/drawingml/2006/main">
            <a:pPr>
              <a:def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보완·재제출이 필요했습니다.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ECEDB6-5625-45D0-8C63-6CE58C4FD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353050"/>
            <a:ext cx="6334125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서류 조건을 맞추는 과정이 까다롭게 느껴져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실구매 시험은 몰테일 경로로 이어갔습니다.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046B6C-9A99-4D2C-89F1-27AEAF62E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248525"/>
            <a:ext cx="13525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준비에는 가격 비교 외에도 계정·거주지·인증 조건을 확인하는 과정이 있었습니다.</a:t>
            </a:r>
          </a:p>
        </p:txBody>
      </p:sp>
    </p:spTree>
    <p:extLst>
      <p:ext uri="{BB962C8B-B14F-4D97-AF65-F5344CB8AC3E}">
        <p14:creationId xmlns:p14="http://schemas.microsoft.com/office/powerpoint/2010/main" val="5541015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A4C3A1-63B2-4CB2-BBCC-8EE2000C1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 경로별 부분 견적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C55DB0-BB2B-45F1-BAD3-0F45CAED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2026-09-21 · FJORD 통상판 Blu-ray 1개를 기준으로 조사했습니다.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D20265-B5DD-4CB2-900C-9857EAD2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05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686050"/>
          <a:ext xmlns:a="http://schemas.openxmlformats.org/drawingml/2006/main" cx="13601700" cy="3619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2762250"/>
                <a:gridCol w="5791200"/>
              </a:tblGrid>
              <a:tr h="723900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경로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 비용 합계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조건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SAZO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7,228엔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63,878원 환산 · 세부 조건 미확인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tenso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7,472엔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· 19×14×2cm 가정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공식 스토어 EMS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약 7,821엔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69,112원 환산 · 특전 차이 가능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북스 + WorldShopping EMS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8,189엔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250g 가정 · 대행료 포함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ACBDB9-A2F7-4AE6-AC2E-9E67F9342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762750"/>
            <a:ext cx="1343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비교 시 비용 합계뿐 아니라 포장·운송·특전 조건도 함께 확인해야 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0D4A9B-B417-42D6-9856-ECAD55DB2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53325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100엔=883.7원으로 환산. 당시 부분 견적이며 실측·카드 비용·세금 등은 미확정입니다.</a:t>
            </a:r>
          </a:p>
        </p:txBody>
      </p:sp>
    </p:spTree>
    <p:extLst>
      <p:ext uri="{BB962C8B-B14F-4D97-AF65-F5344CB8AC3E}">
        <p14:creationId xmlns:p14="http://schemas.microsoft.com/office/powerpoint/2010/main" val="268012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36A89A-5C67-4BE3-A886-F405FA32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소량 구매의 배송비에 대한 생각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C35F07-84FB-4876-99A6-AB54CF5A5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작고 가벼운 상품을 한 개 구매할 때 배송비의 부담이 크게 느껴졌습니다.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4656C-F368-4682-9509-BBC745E1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06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45C3ED-272F-4B83-B0CC-F338AFCF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관찰과 체감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52B4D-F6B8-4E12-B4CA-317394A52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최소 과금 구간에 해당하는 소형 상품은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무게가 더 작아도 배송비가 비례해서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줄지는 않을 수 있다고 생각했습니다.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0512D-0502-48F6-8111-3168D88A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단품 구매에서는 상품 크기에 비해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배송비가 크게 느껴졌습니다.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238CCC-D1EC-43A2-A15C-095B1B42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647950"/>
            <a:ext cx="628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확인해보고 싶은 가설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963EA-02AC-4E65-BCF7-9BC68780E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90925"/>
            <a:ext cx="62865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여러 상품을 한 포장으로 보내면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기본 배송비를 나누어 부담할 수 있어</a:t>
            </a:r>
          </a:p>
          <a:p xmlns:a="http://schemas.openxmlformats.org/drawingml/2006/main">
            <a:pPr>
              <a:def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개당 비용이 줄어들 수 있지 않을까?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21F38-F119-4894-843A-B61392F47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657850"/>
            <a:ext cx="6286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개별 발송 합계 ↔ 합배송 총액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운임 + 합포장·처리·보관 비용을 비교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4747E-0DEE-43E6-8F46-9C9FE8851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8665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합배송 이익은 아직 검증하지 않았습니다. 합친 무게·부피와 추가 수수료에 따라 달라질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510410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87C2F5-0194-40A3-A829-08C2CDDBE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만들어본 두 가지 도구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A93C9A-906C-4187-919D-ED3C8A7D8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실행을 보조하는 도구와, 구매 전 정보를 분석하는 도구를 별도로 구현했습니다.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582C55-93C4-45E6-B55D-C0525687B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07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184565-C27C-43AF-8021-DA26E6B9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01  Codex 플러그인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C31A0-09C8-48E1-B445-F14AC8F76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조사·입력·상태 확인 보조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ED879D-D5D8-48A4-80A7-1F6106A9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조사와 배송대행 비교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주문 대조와 몰테일 신청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확인·인증 후 작업 재개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544EBC-1CCF-45DD-BD2E-4DDBD150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2743200"/>
            <a:ext cx="6286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150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02  URL 분석기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6A0C6A-3DAD-4A1E-97E2-B42F95F67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3743325"/>
            <a:ext cx="619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상품·배송·관세 정보 추정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96CAF0-6524-41F6-B31D-674D8705A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2425" y="4552950"/>
            <a:ext cx="619125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판매처별 상품 정보 수집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이미지·검색 기반 포장 사양 추정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공개 세율을 이용한 예상 세금 계산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3AA47-E266-4AA0-A94E-B9CC7CA7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58025"/>
            <a:ext cx="1352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현재 두 도구는 독립적으로 동작합니다. 자동 주문까지 연결한 통합 서비스는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30132452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2C1C5D-21F5-4DF5-A542-30183F496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구성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58BA67-512F-4F62-91BF-1F4EB76C6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다섯 개 skill이 작업 절차를 안내하고, Python helper가 계산과 상태를 관리합니다.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9CBF48-52DF-4444-AA6C-F223EC711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08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DB787B-4316-435A-B4FD-FE4D20D9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조사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562FEE-8166-40E8-88FA-664F0B03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902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배송대행 비교</a:t>
            </a:r>
          </a:p>
        </p:txBody>
      </p:sp>
      <p:cxnSp>
        <p:nvCxnSpPr>
          <p:cNvPr id="25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310515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4CEA2F-6775-4039-9F60-4449830F6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라쿠텐 구매</a:t>
            </a:r>
          </a:p>
        </p:txBody>
      </p:sp>
      <p:cxnSp>
        <p:nvCxnSpPr>
          <p:cNvPr id="27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91502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023DD2-3D0A-4E4C-B7E7-DC2D02A4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몰테일 신청</a:t>
            </a:r>
          </a:p>
        </p:txBody>
      </p:sp>
      <p:cxnSp>
        <p:nvCxnSpPr>
          <p:cNvPr id="29" name=""/>
          <p:cNvCxnSpPr>
            <a:stCxn xmlns:a="http://schemas.openxmlformats.org/drawingml/2006/main" id="7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8724900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F41D78-4363-4641-BCF8-BECF3B0F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58650" y="2714625"/>
            <a:ext cx="2286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추적</a:t>
            </a:r>
          </a:p>
        </p:txBody>
      </p:sp>
      <p:cxnSp>
        <p:nvCxnSpPr>
          <p:cNvPr id="31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11534775" y="3143250"/>
            <a:ext cx="5238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E8FE8-C082-478E-AC21-82EBA5272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0532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브라우저와 skills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CDA89F-B39F-4C3E-BDCB-F95836F49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450532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 상품·폼·완료 화면을 확인하고 입력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A542A3-20E0-43B3-90C7-385AA166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Python + SQLite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21A50E-83A1-4CFB-B89A-B66620B99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467350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승인 조건·실행 시도·견적·상태 기록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A49735-1727-48CC-808B-F3044342A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4000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A56093-B859-4C3E-A27F-1ECBE41D4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6429375"/>
            <a:ext cx="8858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로그인·추가 인증·최종 구매 수행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B95DEC-71CC-41FF-9EE3-A6AE1F696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배송 추적은 절차와 helper를 구현했으며, 실제 발송·수령 검증은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30369137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71A6E7-2934-4479-A07A-8C4ABA162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Codex 플러그인 시험 결과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E21225-C7C7-45A2-9998-55EEDD2C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상품 URL과 구매 목적을 전달한 뒤, 확인·승인 중심의 대화로 배송대행 접수까지 진행했습니다.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7C5DCB-828E-4DC3-9BDD-9B5482B82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09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3107A-8BD3-46A8-858E-37819BDA7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71750"/>
            <a:ext cx="135255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9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첫 요청 1회 + 후속 응답 6회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C4997E-C3BB-431B-ABB7-947450C7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685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후속 응답의 구성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B9FD9E-D4B8-4E06-9394-46886876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291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로그인 완료 알림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4B69D8-0741-4827-B2B2-AD2791EAE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291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9CC88-FF89-4A56-9D8F-B81FF3A38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0387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입력·제출 승인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19C455-9852-45B6-A8E1-1B99C3A7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0387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DFF5F-0547-425A-9625-9CD9C62B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48325"/>
            <a:ext cx="5238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구매·인증 완료 알림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7191E77-8FE3-447E-936B-1F621C556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648325"/>
            <a:ext cx="10953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2회</a:t>
            </a:r>
          </a:p>
        </p:txBody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fe7e037a44ba4"/>
          <a:stretch xmlns:a="http://schemas.openxmlformats.org/drawingml/2006/main"/>
        </p:blipFill>
        <p:spPr>
          <a:xfrm xmlns:a="http://schemas.openxmlformats.org/drawingml/2006/main">
            <a:off x="9636125" y="3667125"/>
            <a:ext cx="3835400" cy="3048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21B688-5EC8-482B-9018-4288EF213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819900"/>
            <a:ext cx="13525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에이전트가 상품·배송지 확인, 주문 정보 입력과 신청 결과 대조를 수행했습니다.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D6F85D-0776-4731-99E4-C4FD45F1B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05700"/>
            <a:ext cx="1352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단일 사례 · 사용자 메시지 7회 기준. 로그인·직접 구매·통관 인증의 화면 조작 횟수는 미측정입니다.</a:t>
            </a:r>
          </a:p>
        </p:txBody>
      </p:sp>
    </p:spTree>
    <p:extLst>
      <p:ext uri="{BB962C8B-B14F-4D97-AF65-F5344CB8AC3E}">
        <p14:creationId xmlns:p14="http://schemas.microsoft.com/office/powerpoint/2010/main" val="21229486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878EF3-093C-4A84-9880-4DCBC8E7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추적 메일 확인과 예약 작업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D2680A1-985D-495C-85E7-FD886581E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사용자가 반복 추적을 요청하면 Codex의 예약 작업 도구에 연결하도록 구성했습니다.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2DF855-7D6C-4B83-8ABC-63FF4656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10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0D97EB-7742-4294-B77A-89CEBDA2E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메일 확인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2A6295-385F-47A8-AFCD-52429944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반복 작업 등록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242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F07F4B-C2DA-48C2-9325-ACF63E0DC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9557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변경 사항 알림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2420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033A5B-EAC2-4CA1-8BE1-E9AE6635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86225"/>
            <a:ext cx="4191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Gmail·판매처·배대지 상태 대조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해당 주문과 사건 시각 확인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7DBF32-F81B-4629-812E-2798E9B24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086225"/>
            <a:ext cx="4095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단회 조회 성공 후 예약</a:t>
            </a:r>
          </a:p>
          <a:p xmlns:a="http://schemas.openxmlformats.org/drawingml/2006/main">
            <a:pPr>
              <a:def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지정 시간·시간대 적용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702B20-0370-4F56-9ECF-BC458A398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4086225"/>
            <a:ext cx="38862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운송장·입고·출고 등 변경 확인</a:t>
            </a:r>
          </a:p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조회 실패·사용자 조치도 알림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E0E0AE-C5A9-4116-A25E-3E3427D72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096000"/>
            <a:ext cx="13525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등록된 작업 ID를 실행 기록에 저장해 중복 등록을 막고,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변화가 없으면 알리지 않으며 배송완료·취소 시 예약을 종료하도록 했습니다.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2853C2-CB17-4D47-9D8F-9110A1CE9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24750"/>
            <a:ext cx="13525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예약 등록 절차는 구현했습니다. 이번 구매 시험에서의 실제 등록·지속 실행은 검증하지 않았습니다.</a:t>
            </a:r>
          </a:p>
        </p:txBody>
      </p:sp>
    </p:spTree>
    <p:extLst>
      <p:ext uri="{BB962C8B-B14F-4D97-AF65-F5344CB8AC3E}">
        <p14:creationId xmlns:p14="http://schemas.microsoft.com/office/powerpoint/2010/main" val="110921724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D88611-0F21-425D-8D2D-F7C9668C4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 · 실행 화면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AFE9F3-D2DD-4E87-A64B-11B6041F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https://catalog.janghan.dev/  ·  상품 링크를 입력해 배송·세금 정보를 확인합니다.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D91381-B611-471D-B8D3-6460B68F4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11   윤장한 · 구매대행 조사와 도구 구현 · 2026.10.06</a:t>
            </a:r>
          </a:p>
        </p:txBody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782024ea04491"/>
          <a:stretch xmlns:a="http://schemas.openxmlformats.org/drawingml/2006/main"/>
        </p:blipFill>
        <p:spPr>
          <a:xfrm xmlns:a="http://schemas.openxmlformats.org/drawingml/2006/main">
            <a:off x="3508787" y="2276475"/>
            <a:ext cx="8222425" cy="5505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556590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65AAE43-C496-49D3-BCF0-11F20A05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 분석기의 처리 과정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1564C2-9FDD-4077-9349-59FCE4988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라쿠텐 이치바·북스와 메루카리의 상품 URL을 입력으로 사용합니다.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1F1F0D-A056-473C-9136-92D45466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12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8E0F51-BCDA-4D24-B4AC-59F1CA78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 정보 수집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515030-1049-4663-99FD-B3481C35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 정보 추정</a:t>
            </a:r>
          </a:p>
        </p:txBody>
      </p: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2915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AE88A0-6F54-4637-B311-1905D658C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2676525"/>
            <a:ext cx="38100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CD7D0"/>
            </a:solidFill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관세 정보 추정</a:t>
            </a:r>
          </a:p>
        </p:txBody>
      </p:sp>
      <p:cxnSp>
        <p:nvCxnSpPr>
          <p:cNvPr id="21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486900" y="3105150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56E58"/>
            </a:solidFill>
            <a:tailEnd type="arrow" w="med" len="med"/>
          </a:ln>
        </p:spPr>
      </p:cxn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532A6A-0142-4348-9A22-DDDED7E78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API·HTML·브라우저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상품명·가격·판매 상태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FB9793-5FAC-4ACF-AB00-B54E77F33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952875"/>
            <a:ext cx="3810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이미지·제품명·검색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포장 무게·치수·운임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4A0A87-42ED-479D-861E-F2290610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3952875"/>
            <a:ext cx="38862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HS·HSK 후보와 공개 세율</a:t>
            </a:r>
          </a:p>
          <a:p xmlns:a="http://schemas.openxmlformats.org/drawingml/2006/main">
            <a:pPr>
              <a:def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환율·조건별 예상 세금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93F05A-5EC0-4F24-9B70-BC72C6AB7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172200"/>
            <a:ext cx="13525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실시간 진행 상태와 단계별 결과를 표시하고, 상세에서 출처와 추정 조건을 확인합니다.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7234DE-C5FF-49A3-9001-4D39362DD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439025"/>
            <a:ext cx="13525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수집값·모델 가정·미확인 항목을 구분하며, 입력 부족이나 조회 실패는 부분 결과로 남깁니다.</a:t>
            </a:r>
          </a:p>
        </p:txBody>
      </p:sp>
    </p:spTree>
    <p:extLst>
      <p:ext uri="{BB962C8B-B14F-4D97-AF65-F5344CB8AC3E}">
        <p14:creationId xmlns:p14="http://schemas.microsoft.com/office/powerpoint/2010/main" val="12364444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B077D1-F806-43AE-A463-CAD8A8632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추론과 계산의 처리 기준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B5D373-01EA-486F-84AA-E08B88C71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판매처 정보만으로 부족한 항목을 보완하되, 확인값과 추정값을 구분합니다.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81201C-BFF7-4642-AA29-2780D59B7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13   윤장한 · 구매대행 조사와 도구 구현 · 2026.10.06</a:t>
            </a:r>
          </a:p>
        </p:txBody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819150" y="2752725"/>
          <a:ext xmlns:a="http://schemas.openxmlformats.org/drawingml/2006/main" cx="13601700" cy="31051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5715000"/>
                <a:gridCol w="4838700"/>
              </a:tblGrid>
              <a:tr h="776288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항목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처리 방식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결과에 남기는 정보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무게·치수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이미지·검색·LLM으로 범위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출처·모델 가정·확인 필요 항목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상품 분류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규칙·LLM으로 HS → HSK 후보 선택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후보 코드·선택 근거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776288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공개 기본세율 조회 후 규칙으로 계산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세율 출처·기간·미적용 조건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D018D9-7781-4109-A6AF-B2701445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29375"/>
            <a:ext cx="13525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카드 시험: HSK 9504400000 · 기본관세 8% + 일반 부가세 10% 가정</a:t>
            </a:r>
          </a:p>
          <a:p xmlns:a="http://schemas.openxmlformats.org/drawingml/2006/main">
            <a:pPr>
              <a:def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예상 세금 115,776~117,335원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ADE3CF-4E5E-42B8-9983-B535B93C3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562850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FTA·WTO 조건을 임의 적용하지 않습니다. 포장 실측·실제 납부세액과의 대조는 남아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241958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073803-2602-4A22-B148-851AC33DF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구현 확인과 추가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B9DF9-3E98-450E-A761-7D51FE113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2026-10-05 공개본에서 실행한 테스트와 실제 시험의 범위를 구분했습니다.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B08480-DA9F-4E59-BA77-D63B1374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14   윤장한 · 구매대행 조사와 도구 구현 · 2026.10.06</a:t>
            </a:r>
          </a:p>
        </p:txBody>
      </p:sp>
      <p:graphicFrame>
        <p:nvGraphicFramePr>
          <p:cNvPr id="9" name=""/>
          <p:cNvGraphicFramePr/>
          <p:nvPr/>
        </p:nvGraphicFramePr>
        <p:xfrm>
          <a:off xmlns:a="http://schemas.openxmlformats.org/drawingml/2006/main" x="819150" y="2724150"/>
          <a:ext xmlns:a="http://schemas.openxmlformats.org/drawingml/2006/main" cx="13601700" cy="3286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43250"/>
                <a:gridCol w="5715000"/>
                <a:gridCol w="4743450"/>
              </a:tblGrid>
              <a:tr h="821531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대상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확인한 범위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남은 검증</a:t>
                      </a:r>
                    </a:p>
                  </a:txBody>
                  <a:tcPr marL="91440" marR="91440" marT="45720" marB="45720">
                    <a:solidFill>
                      <a:srgbClr val="182C29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Codex 플러그인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helper 25개 테스트 · 신청 접수 1건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외부 주문 가져오기·배송 추적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URL 분석기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회귀 298개 · DB 통합 17개 테스트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프로세스 중단·장기 운영</a:t>
                      </a:r>
                    </a:p>
                  </a:txBody>
                  <a:tcPr marL="91440" marR="91440" marT="45720" marB="45720">
                    <a:solidFill>
                      <a:srgbClr val="F8F8F3"/>
                    </a:solidFill>
                  </a:tcPr>
                </a:tc>
              </a:tr>
              <a:tr h="821531"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배송·관세 추정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실제 URL과 공개 세율 연결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182C29"/>
                          </a:solidFill>
                          <a:latin typeface="Apple SD Gothic Neo"/>
                          <a:ea typeface="Apple SD Gothic Neo"/>
                          <a:cs typeface="Apple SD Gothic Neo"/>
                        </a:rPr>
                        <a:t>포장 실측·청구액·실제 세액 오차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98969-DB5D-4DCB-A79D-1849BFB20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72250"/>
            <a:ext cx="13525500" cy="1038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분석기에는 동시 요청 공유·TTL 캐시·작업 임대·실행시간 기록을 구현했습니다.</a:t>
            </a:r>
          </a:p>
          <a:p xmlns:a="http://schemas.openxmlformats.org/drawingml/2006/main">
            <a:pPr>
              <a:def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75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테스트 통과 수는 예측 정확도나 사용자 작업시간 개선을 의미하지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11705985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8F8F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017FAE-4DF1-4C0E-9DED-0EE3FF4F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9600"/>
            <a:ext cx="13620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75" b="1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현재까지 확인한 내용과 다음 검증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5C05D0-2B2F-4808-8184-450A28106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33525"/>
            <a:ext cx="1352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구매 업무 보조와 비용 정보 추정의 실행 가능성을 각각 확인했습니다.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F394BAC-8B3F-4FA4-9278-222A7E30B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058150"/>
            <a:ext cx="1362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15   윤장한 · 구매대행 조사와 도구 구현 · 2026.10.06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2FC4F45-0E59-47C5-AC3E-C973B9F23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확인한 내용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0B62A2-B636-4B7B-B214-81A88CB5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사용자 인증·최종 구매를 포함해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주문 대조와 배송신청을 진행했습니다.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URL의 상품 정보에 추정을 더해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배송·세금 시나리오를 반환했습니다.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11AF8C-2D39-4D44-A2EC-6D86123AE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2590800"/>
            <a:ext cx="6334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775" b="1">
                <a:solidFill>
                  <a:srgbClr val="156E58"/>
                </a:solidFill>
                <a:latin typeface="Apple SD Gothic Neo"/>
                <a:ea typeface="Apple SD Gothic Neo"/>
                <a:cs typeface="Apple SD Gothic Neo"/>
              </a:rPr>
              <a:t>다음에 확인할 내용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9D858F-53A6-4F0A-B368-2A8545FA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429000"/>
            <a:ext cx="6334125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반복 구매에서 개입·재입력·확인 부담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실측 포장·실제 청구값과의 차이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이 결과를 바탕으로 도구의 유용성과</a:t>
            </a:r>
          </a:p>
          <a:p xmlns:a="http://schemas.openxmlformats.org/drawingml/2006/main">
            <a:pPr>
              <a:def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3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구매대행에 남는 역할을 검토합니다.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6407B7-7146-4C69-96DD-7B0B101E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562725"/>
            <a:ext cx="13477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github.com/y00nZZang/crossborder-purchase-agent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D362911-8F15-45ED-AE90-DFB97D4A8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096125"/>
            <a:ext cx="13525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182C29"/>
                </a:solidFill>
                <a:latin typeface="Apple SD Gothic Neo"/>
                <a:ea typeface="Apple SD Gothic Neo"/>
                <a:cs typeface="Apple SD Gothic Neo"/>
              </a:rPr>
              <a:t>코드  github.com/y00nZZang/product-catalog     데모  catalog.janghan.dev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2D9EB5-026A-4DA6-A3C6-F1651324F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7648575"/>
            <a:ext cx="13525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650" b="0">
                <a:solidFill>
                  <a:srgbClr val="5E706B"/>
                </a:solidFill>
                <a:latin typeface="Apple SD Gothic Neo"/>
                <a:ea typeface="Apple SD Gothic Neo"/>
                <a:cs typeface="Apple SD Gothic Neo"/>
              </a:rPr>
              <a:t>기획·조사·구현·검증 정리: 윤장한  /  구현 보조: Codex</a:t>
            </a:r>
          </a:p>
        </p:txBody>
      </p:sp>
    </p:spTree>
    <p:extLst>
      <p:ext uri="{BB962C8B-B14F-4D97-AF65-F5344CB8AC3E}">
        <p14:creationId xmlns:p14="http://schemas.microsoft.com/office/powerpoint/2010/main" val="2448328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2026-10-06T06:14:26.8490000Z</dcterms:created>
  <dcterms:modified xsi:type="dcterms:W3CDTF">2026-10-06T06:14:26.8490000Z</dcterms:modified>
</coreProperties>
</file>