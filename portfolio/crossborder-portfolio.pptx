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ba95c97b5544f98" /><Relationship Type="http://schemas.openxmlformats.org/officeDocument/2006/relationships/extended-properties" Target="/docProps/app.xml" Id="Rfce0a75fa2064cf1" /><Relationship Type="http://schemas.openxmlformats.org/officeDocument/2006/relationships/officeDocument" Target="/ppt/presentation.xml" Id="R2b55bfd880e9404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3e693a103bf4a56"/>
  </p:sldMasterIdLst>
  <p:notesMasterIdLst>
    <p:notesMasterId xmlns:r="http://schemas.openxmlformats.org/officeDocument/2006/relationships" r:id="Rc16d5bca86a04270"/>
  </p:notesMasterIdLst>
  <p:sldIdLst>
    <p:sldId xmlns:r="http://schemas.openxmlformats.org/officeDocument/2006/relationships" id="256" r:id="R0259e4d8ef2f42b3"/>
    <p:sldId xmlns:r="http://schemas.openxmlformats.org/officeDocument/2006/relationships" id="257" r:id="Ra262b92973a7458a"/>
    <p:sldId xmlns:r="http://schemas.openxmlformats.org/officeDocument/2006/relationships" id="258" r:id="R5e42f404ba2247ec"/>
    <p:sldId xmlns:r="http://schemas.openxmlformats.org/officeDocument/2006/relationships" id="259" r:id="Rdf18d1b67d9c418b"/>
    <p:sldId xmlns:r="http://schemas.openxmlformats.org/officeDocument/2006/relationships" id="260" r:id="R6ce09d5456e84bfc"/>
    <p:sldId xmlns:r="http://schemas.openxmlformats.org/officeDocument/2006/relationships" id="261" r:id="R9086e00e48f944ba"/>
    <p:sldId xmlns:r="http://schemas.openxmlformats.org/officeDocument/2006/relationships" id="262" r:id="R6d139a452aa74155"/>
    <p:sldId xmlns:r="http://schemas.openxmlformats.org/officeDocument/2006/relationships" id="263" r:id="Rd59173873b66481d"/>
    <p:sldId xmlns:r="http://schemas.openxmlformats.org/officeDocument/2006/relationships" id="264" r:id="Rabf646e332924388"/>
    <p:sldId xmlns:r="http://schemas.openxmlformats.org/officeDocument/2006/relationships" id="265" r:id="Rfdddb30c728c44c1"/>
    <p:sldId xmlns:r="http://schemas.openxmlformats.org/officeDocument/2006/relationships" id="266" r:id="R79c1c7d6a7e54ccb"/>
    <p:sldId xmlns:r="http://schemas.openxmlformats.org/officeDocument/2006/relationships" id="267" r:id="R65c42c6e6e594b64"/>
    <p:sldId xmlns:r="http://schemas.openxmlformats.org/officeDocument/2006/relationships" id="268" r:id="R7cb3f0bfbc804853"/>
    <p:sldId xmlns:r="http://schemas.openxmlformats.org/officeDocument/2006/relationships" id="269" r:id="R6e1b531223694c8d"/>
    <p:sldId xmlns:r="http://schemas.openxmlformats.org/officeDocument/2006/relationships" id="270" r:id="R02f616cfaccc43bc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cd084e2d5ee47dc" /><Relationship Type="http://schemas.openxmlformats.org/officeDocument/2006/relationships/slideMaster" Target="/ppt/slideMasters/slideMaster1.xml" Id="R43e693a103bf4a56" /><Relationship Type="http://schemas.openxmlformats.org/officeDocument/2006/relationships/notesMaster" Target="/ppt/notesMasters/notesMaster1.xml" Id="Rc16d5bca86a04270" /><Relationship Type="http://schemas.openxmlformats.org/officeDocument/2006/relationships/presProps" Target="/ppt/presProps.xml" Id="R409b3ac7a04a4944" /><Relationship Type="http://schemas.openxmlformats.org/officeDocument/2006/relationships/tableStyles" Target="/ppt/tableStyles.xml" Id="Rfcddb47867d24f2c" /><Relationship Type="http://schemas.openxmlformats.org/officeDocument/2006/relationships/slide" Target="/ppt/slides/slide1.xml" Id="R0259e4d8ef2f42b3" /><Relationship Type="http://schemas.openxmlformats.org/officeDocument/2006/relationships/slide" Target="/ppt/slides/slide2.xml" Id="Ra262b92973a7458a" /><Relationship Type="http://schemas.openxmlformats.org/officeDocument/2006/relationships/slide" Target="/ppt/slides/slide3.xml" Id="R5e42f404ba2247ec" /><Relationship Type="http://schemas.openxmlformats.org/officeDocument/2006/relationships/slide" Target="/ppt/slides/slide4.xml" Id="Rdf18d1b67d9c418b" /><Relationship Type="http://schemas.openxmlformats.org/officeDocument/2006/relationships/slide" Target="/ppt/slides/slide5.xml" Id="R6ce09d5456e84bfc" /><Relationship Type="http://schemas.openxmlformats.org/officeDocument/2006/relationships/slide" Target="/ppt/slides/slide6.xml" Id="R9086e00e48f944ba" /><Relationship Type="http://schemas.openxmlformats.org/officeDocument/2006/relationships/slide" Target="/ppt/slides/slide7.xml" Id="R6d139a452aa74155" /><Relationship Type="http://schemas.openxmlformats.org/officeDocument/2006/relationships/slide" Target="/ppt/slides/slide8.xml" Id="Rd59173873b66481d" /><Relationship Type="http://schemas.openxmlformats.org/officeDocument/2006/relationships/slide" Target="/ppt/slides/slide9.xml" Id="Rabf646e332924388" /><Relationship Type="http://schemas.openxmlformats.org/officeDocument/2006/relationships/slide" Target="/ppt/slides/slide10.xml" Id="Rfdddb30c728c44c1" /><Relationship Type="http://schemas.openxmlformats.org/officeDocument/2006/relationships/slide" Target="/ppt/slides/slide11.xml" Id="R79c1c7d6a7e54ccb" /><Relationship Type="http://schemas.openxmlformats.org/officeDocument/2006/relationships/slide" Target="/ppt/slides/slide12.xml" Id="R65c42c6e6e594b64" /><Relationship Type="http://schemas.openxmlformats.org/officeDocument/2006/relationships/slide" Target="/ppt/slides/slide13.xml" Id="R7cb3f0bfbc804853" /><Relationship Type="http://schemas.openxmlformats.org/officeDocument/2006/relationships/slide" Target="/ppt/slides/slide14.xml" Id="R6e1b531223694c8d" /><Relationship Type="http://schemas.openxmlformats.org/officeDocument/2006/relationships/slide" Target="/ppt/slides/slide15.xml" Id="R02f616cfaccc43b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836e8673676400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b99f0e3c64540b0" /><Relationship Type="http://schemas.openxmlformats.org/officeDocument/2006/relationships/notesMaster" Target="/ppt/notesMasters/notesMaster1.xml" Id="R8b5a4d5ffda0467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412940e57014dd3" /><Relationship Type="http://schemas.openxmlformats.org/officeDocument/2006/relationships/notesMaster" Target="/ppt/notesMasters/notesMaster1.xml" Id="Rd442e22a7c20409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50edfa19e774465" /><Relationship Type="http://schemas.openxmlformats.org/officeDocument/2006/relationships/notesMaster" Target="/ppt/notesMasters/notesMaster1.xml" Id="R8300fdca51d84a3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ce93a5351024d95" /><Relationship Type="http://schemas.openxmlformats.org/officeDocument/2006/relationships/notesMaster" Target="/ppt/notesMasters/notesMaster1.xml" Id="Rb637cb185ec4414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77bb77ea07446eb" /><Relationship Type="http://schemas.openxmlformats.org/officeDocument/2006/relationships/notesMaster" Target="/ppt/notesMasters/notesMaster1.xml" Id="Re056204c8060430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366dc6ae56a469a" /><Relationship Type="http://schemas.openxmlformats.org/officeDocument/2006/relationships/notesMaster" Target="/ppt/notesMasters/notesMaster1.xml" Id="R196ff52f95534f1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8ad097bc8ee4ffe" /><Relationship Type="http://schemas.openxmlformats.org/officeDocument/2006/relationships/notesMaster" Target="/ppt/notesMasters/notesMaster1.xml" Id="R6798afd7e9084d3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17e5b0a501543e0" /><Relationship Type="http://schemas.openxmlformats.org/officeDocument/2006/relationships/notesMaster" Target="/ppt/notesMasters/notesMaster1.xml" Id="R2fda7d1422ca438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06d8dcaa6b946e6" /><Relationship Type="http://schemas.openxmlformats.org/officeDocument/2006/relationships/notesMaster" Target="/ppt/notesMasters/notesMaster1.xml" Id="R8715a8361d524af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1085fc7334d4be2" /><Relationship Type="http://schemas.openxmlformats.org/officeDocument/2006/relationships/notesMaster" Target="/ppt/notesMasters/notesMaster1.xml" Id="R4d9dcd21282848f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796bfea3e0a435a" /><Relationship Type="http://schemas.openxmlformats.org/officeDocument/2006/relationships/notesMaster" Target="/ppt/notesMasters/notesMaster1.xml" Id="R2110a900736741b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cd3828abc664744" /><Relationship Type="http://schemas.openxmlformats.org/officeDocument/2006/relationships/notesMaster" Target="/ppt/notesMasters/notesMaster1.xml" Id="R38a2a8483013409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edadeecde95477f" /><Relationship Type="http://schemas.openxmlformats.org/officeDocument/2006/relationships/notesMaster" Target="/ppt/notesMasters/notesMaster1.xml" Id="R4fc36e134faa4de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120288b4ca24907" /><Relationship Type="http://schemas.openxmlformats.org/officeDocument/2006/relationships/notesMaster" Target="/ppt/notesMasters/notesMaster1.xml" Id="R422cd0c3d3ae4a9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8f7d44b24ee433a" /><Relationship Type="http://schemas.openxmlformats.org/officeDocument/2006/relationships/notesMaster" Target="/ppt/notesMasters/notesMaster1.xml" Id="R0556a5886676437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개인 프로젝트. 기획·조사·검증과 도구 구현에 Codex 사용. 관측과 테스트 결과는 2026-10-05 기준, 문서 개정 2026-10-06.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https://github.com/y00nZZang/crossborder-purchase-agent/blob/main/docs/design.md ; https://github.com/y00nZZang/product-catalog/blob/main/README.md . 통관은 추적·비용 추정의 관심 범위이며 실제 통관 완료는 미검증.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https://github.com/y00nZZang/crossborder-purchase-agent/blob/main/docs/experience-notes.md ; https://github.com/y00nZZang/crossborder-purchase-agent/blob/main/docs/experiment.md . 특정 개인 경험이며 모든 해외 사용자에 대한 현행 정책 단정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https://github.com/y00nZZang/crossborder-purchase-agent/blob/main/docs/route-comparison.md ; https://www.tenso.com/jp/estimate ; https://www.worldshopping.global/simulator/ ; https://books.rakuten.co.jp/rb/18584086/ . SAZO 사용자 제공 캡처, 세부 운송·특전 조건 미확인.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https://github.com/y00nZZang/crossborder-purchase-agent/blob/main/docs/experience-notes.md ; https://github.com/y00nZZang/crossborder-purchase-agent/blob/main/docs/route-comparison.md . 사용자 체감과 합배송 가설. 실제 합배송 실측·절감액 미검증.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https://github.com/y00nZZang/crossborder-purchase-agent/blob/main/README.md ; https://github.com/y00nZZang/product-catalog/blob/main/README.md . 플러그인 실제 검증 경로는 라쿠텐 북스·몰테일. 일반 명칭은 역할 설명이며 범용 사이트 지원 의미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https://github.com/y00nZZang/crossborder-purchase-agent/tree/main/plugin ; https://github.com/y00nZZang/crossborder-purchase-agent/blob/main/docs/design.md . 실제 구현 어댑터 라쿠텐 북스·몰테일.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https://github.com/y00nZZang/crossborder-purchase-agent/blob/main/docs/interaction-count.md ; https://github.com/y00nZZang/crossborder-purchase-agent/blob/main/docs/experiment.md . 실제 대화 요약. 로그인2회·승인2회·구매/인증 완료2회를 묶어 표현. 사용자 첨부 대화 스타일 참고, 실제 접수 캡처 유지.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https://github.com/y00nZZang/crossborder-purchase-agent/blob/main/plugin/skills/crossborder-track-delivery/SKILL.md ; https://github.com/y00nZZang/crossborder-purchase-agent/blob/main/docs/daily-tracking.md . 2026-10-06 v0.1.1 동작 변경. 실거래 당시 동작과 구분.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https://github.com/y00nZZang/product-catalog/blob/main/docs/verification.md . 사용자 제공 상품 분석 캡처 원본을 자르지 않고 삽입. 관측·추정값이며 실제 결제액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https://github.com/y00nZZang/product-catalog/blob/main/README.md ; https://github.com/y00nZZang/product-catalog/blob/main/docs/architecture.md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https://github.com/y00nZZang/product-catalog/blob/main/docs/alcohol-test-evidence.md ; https://github.com/y00nZZang/product-catalog/blob/main/docs/verification.md . TCG 10/5 운영 결과와 주류9/30 제조사 사양 추출/합성 계산은 별도 시험.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https://github.com/y00nZZang/product-catalog/blob/main/docs/verification.md ; https://careers.mercari.com/mercan/articles/47692/ . 2024-11-15 공식 인터뷰의 해외 파트너 API 시스템 연동 사례. 이 프로젝트의 접근 권한 획득/사용 의미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https://github.com/y00nZZang/crossborder-purchase-agent/blob/main/docs/route-comparison.md ; https://github.com/y00nZZang/crossborder-purchase-agent/blob/main/docs/interaction-count.md . SAZO와 직접구매의 조건 차이가 남는 단일 부분 견적.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https://github.com/y00nZZang/crossborder-purchase-agent/blob/main/docs/closing-perspective.md . 사용자 의견·미래 가정이며 현재 제공되는 MCP나 사업 경쟁력의 검증 결과가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0b857ccb1c46c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4266ccb00054eb6" /><Relationship Type="http://schemas.openxmlformats.org/officeDocument/2006/relationships/slideLayout" Target="/ppt/slideLayouts/slideLayout1.xml" Id="R5f6ed23fa0b545a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f6ed23fa0b545a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9ccebeeb234834" /><Relationship Type="http://schemas.openxmlformats.org/officeDocument/2006/relationships/notesSlide" Target="/ppt/notesSlides/notesSlide1.xml" Id="R8b83702de7dc468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50ad179d594b9b" /><Relationship Type="http://schemas.openxmlformats.org/officeDocument/2006/relationships/notesSlide" Target="/ppt/notesSlides/notesSlide2.xml" Id="R217eb03869aa4ee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0b213d868446a4" /><Relationship Type="http://schemas.openxmlformats.org/officeDocument/2006/relationships/notesSlide" Target="/ppt/notesSlides/notesSlide3.xml" Id="Ra6c514ebdb694e5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fe9f9d03504021" /><Relationship Type="http://schemas.openxmlformats.org/officeDocument/2006/relationships/notesSlide" Target="/ppt/notesSlides/notesSlide4.xml" Id="R3b9c92df87ca479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e757364824403e" /><Relationship Type="http://schemas.openxmlformats.org/officeDocument/2006/relationships/notesSlide" Target="/ppt/notesSlides/notesSlide5.xml" Id="Rbafb3d93fe87425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8b63390eb2478f" /><Relationship Type="http://schemas.openxmlformats.org/officeDocument/2006/relationships/notesSlide" Target="/ppt/notesSlides/notesSlide6.xml" Id="R53fe0a729495486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7101fd39b34d3a" /><Relationship Type="http://schemas.openxmlformats.org/officeDocument/2006/relationships/notesSlide" Target="/ppt/notesSlides/notesSlide7.xml" Id="Rc554025a7f0e4b4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e683ccf0ba49a8" /><Relationship Type="http://schemas.openxmlformats.org/officeDocument/2006/relationships/image" Target="/ppt/media/image.jpeg" Id="Ra55d066e92aa4cde" /><Relationship Type="http://schemas.openxmlformats.org/officeDocument/2006/relationships/notesSlide" Target="/ppt/notesSlides/notesSlide8.xml" Id="R55a8d5fb1247458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075949210946c9" /><Relationship Type="http://schemas.openxmlformats.org/officeDocument/2006/relationships/notesSlide" Target="/ppt/notesSlides/notesSlide9.xml" Id="R5f30e6953c6145a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e2edcee50347c8" /><Relationship Type="http://schemas.openxmlformats.org/officeDocument/2006/relationships/image" Target="/ppt/media/image.png" Id="R3dbc396ccd89477c" /><Relationship Type="http://schemas.openxmlformats.org/officeDocument/2006/relationships/notesSlide" Target="/ppt/notesSlides/notesSlide10.xml" Id="R3372a8fa8ac14e7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67e3d258ad495e" /><Relationship Type="http://schemas.openxmlformats.org/officeDocument/2006/relationships/notesSlide" Target="/ppt/notesSlides/notesSlide11.xml" Id="Rfe578b2a273b45e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fa92ed25674518" /><Relationship Type="http://schemas.openxmlformats.org/officeDocument/2006/relationships/notesSlide" Target="/ppt/notesSlides/notesSlide12.xml" Id="R469b050de118443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0ab89c910844ec" /><Relationship Type="http://schemas.openxmlformats.org/officeDocument/2006/relationships/notesSlide" Target="/ppt/notesSlides/notesSlide13.xml" Id="Rb4a01f5632694f5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d18175094b449f" /><Relationship Type="http://schemas.openxmlformats.org/officeDocument/2006/relationships/notesSlide" Target="/ppt/notesSlides/notesSlide14.xml" Id="R805d3346800b492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fa360cbb1c4d00" /><Relationship Type="http://schemas.openxmlformats.org/officeDocument/2006/relationships/notesSlide" Target="/ppt/notesSlides/notesSlide15.xml" Id="R83b11ef162b44c4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3F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C251FD-1D1C-4BDE-8C26-C0F1C7033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698436-8D1C-4D57-9CC0-66AD3FE6F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01   윤장한 · 직구 조사와 도구 구현 · 2026.10.06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548D7D-D452-454D-BA08-77860DC5B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028700"/>
            <a:ext cx="1333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rPr>
              <a:t>개인 프로젝트 · 윤장한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70B090-A2B0-4B01-89CB-A9C712472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13430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직구 과정 조사와</a:t>
            </a:r>
          </a:p>
          <a:p xmlns:a="http://schemas.openxmlformats.org/drawingml/2006/main">
            <a:pPr>
              <a:def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두 가지 도구 구현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1E646F-555D-4237-BF67-1DF60DBE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72150"/>
            <a:ext cx="1333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D8E7D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D8E7DE"/>
                </a:solidFill>
                <a:latin typeface="Apple SD Gothic Neo"/>
                <a:ea typeface="Apple SD Gothic Neo"/>
                <a:cs typeface="Apple SD Gothic Neo"/>
              </a:rPr>
              <a:t>Codex 플러그인 · 상품 URL 분석기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E0E9EE-F721-4CF5-AD9B-F6C91E3A1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934200"/>
            <a:ext cx="1333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rPr>
              <a:t>검증 질문, 관찰한 내용, 구현과 시험 결과</a:t>
            </a:r>
          </a:p>
        </p:txBody>
      </p:sp>
    </p:spTree>
    <p:extLst>
      <p:ext uri="{BB962C8B-B14F-4D97-AF65-F5344CB8AC3E}">
        <p14:creationId xmlns:p14="http://schemas.microsoft.com/office/powerpoint/2010/main" val="98511915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C5C470-6702-4762-A7DB-AEE2D9051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검증하고자 한 내용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DF22E1-BE84-4CBE-9701-845143390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직접 구매 과정과, 해외 사이트 결제 이후에 추가되는 비용을 살펴봤습니다.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60264B-6638-4905-AA41-D2BAEB538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02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30DB95-3856-439E-B6F2-5092A62D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05100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구매 과정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C16256-A9E3-4E97-9E53-2BF4E7E17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62350"/>
            <a:ext cx="6191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개인이 에이전트의 도움을 받아</a:t>
            </a:r>
          </a:p>
          <a:p xmlns:a="http://schemas.openxmlformats.org/drawingml/2006/main">
            <a:pPr>
              <a:def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조사·주문·배송신청·통관을</a:t>
            </a:r>
          </a:p>
          <a:p xmlns:a="http://schemas.openxmlformats.org/drawingml/2006/main">
            <a:pPr>
              <a:def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어디까지 진행할 수 있는가?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A4726E-2D24-44C5-BF92-D9B6B3877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05100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구매 전 정보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8C246A-89ED-4339-90D5-16EC40BE3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562350"/>
            <a:ext cx="6286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해외 사이트에서 구매한 뒤</a:t>
            </a:r>
          </a:p>
          <a:p xmlns:a="http://schemas.openxmlformats.org/drawingml/2006/main">
            <a:pPr>
              <a:def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추가로 발생하는 국제운송비와 관세를</a:t>
            </a:r>
          </a:p>
          <a:p xmlns:a="http://schemas.openxmlformats.org/drawingml/2006/main">
            <a:pPr>
              <a:def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어떻게 추정할 수 있을까?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3F8BB1-C249-4579-AF3D-06AD9046F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762750"/>
            <a:ext cx="13525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실제 시험은 주문 확인·배송대행 접수까지 진행했습니다. 통관 완료는 아직 관측하지 않았습니다.</a:t>
            </a:r>
          </a:p>
        </p:txBody>
      </p:sp>
    </p:spTree>
    <p:extLst>
      <p:ext uri="{BB962C8B-B14F-4D97-AF65-F5344CB8AC3E}">
        <p14:creationId xmlns:p14="http://schemas.microsoft.com/office/powerpoint/2010/main" val="2919044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B83094-D456-4E4C-BE7A-E056D6F99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직구 과정에서 확인한 불편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FC84E2-1E50-4E7F-A5B0-B9DAD54BF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가격을 비교하는 것 외에도 가입·인증·입력과 확인이 필요했습니다.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395CE2-7EB6-4D45-BADA-2A372134C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03   윤장한 · 직구 조사와 도구 구현 · 2026.10.06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19150" y="2667000"/>
          <a:ext xmlns:a="http://schemas.openxmlformats.org/drawingml/2006/main" cx="136017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10648950"/>
              </a:tblGrid>
              <a:tr h="81915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과정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겪거나 확인한 내용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가입·이용 준비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메루카리는 해외 거주자로 직접 가입·구매하기 어려웠음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tenso는 주소 증빙 보완·재제출 과정이 번거롭게 느껴졌음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비용 비교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포장 규격·무게가 없고 운임·수수료 조건이 달라 비교가 어려웠음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주문·배송신청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이커머스와 배송대행 사이트에 정보를 옮기고 접수 결과를 대조해야 했음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진행 확인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인증을 마친 뒤 재개하거나 메일·사이트에서 다음 상태를 확인해야 했음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B2AAAA-C857-455E-9AB2-B3BE183E7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277100"/>
            <a:ext cx="1352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이번 직접 구매 시험은 라쿠텐 북스와 몰테일 경로로 진행했습니다.</a:t>
            </a:r>
          </a:p>
        </p:txBody>
      </p:sp>
    </p:spTree>
    <p:extLst>
      <p:ext uri="{BB962C8B-B14F-4D97-AF65-F5344CB8AC3E}">
        <p14:creationId xmlns:p14="http://schemas.microsoft.com/office/powerpoint/2010/main" val="2905414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2AEF62-E37D-456D-B640-038CDAB8C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 경로별 부분 견적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B00839-939E-4B69-BE02-EEF30EF9D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2026-09-21 · 영상 매체(Blu-ray) 1개를 기준으로 조사했습니다.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E0DFA1-08E6-4194-A7B0-CFECB7E49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04   윤장한 · 직구 조사와 도구 구현 · 2026.10.06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819150" y="2686050"/>
          <a:ext xmlns:a="http://schemas.openxmlformats.org/drawingml/2006/main" cx="136017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48250"/>
                <a:gridCol w="2762250"/>
                <a:gridCol w="5791200"/>
              </a:tblGrid>
              <a:tr h="7239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경로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 비용 합계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조건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SAZO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 7,228엔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63,878원 환산 · 세부 조건 미확인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라쿠텐 북스 + tenso EMS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7,472엔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250g · 19×14×2cm 가정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공식 스토어 + EMS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 7,821엔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69,112원 환산 · 특전 차이 가능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라쿠텐 북스 + WorldShopping EMS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8,189엔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250g 가정 · 대행료 포함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291CC1-3124-4BFD-A243-43D3C2E70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762750"/>
            <a:ext cx="1343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비교 시 비용 합계뿐 아니라 포장·운송·특전 조건도 함께 확인해야 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75EABD-DED2-40AB-B900-A9C0BC46A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53325"/>
            <a:ext cx="1352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100엔=883.7원으로 환산. 당시 부분 견적이며 실측·카드 비용·세금 등은 미확정입니다.</a:t>
            </a:r>
          </a:p>
        </p:txBody>
      </p:sp>
    </p:spTree>
    <p:extLst>
      <p:ext uri="{BB962C8B-B14F-4D97-AF65-F5344CB8AC3E}">
        <p14:creationId xmlns:p14="http://schemas.microsoft.com/office/powerpoint/2010/main" val="115228122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A1C037-7E49-45C7-9C6E-A54E47D2C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소량 구매의 배송비에 대한 생각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0916E-030F-4256-89FA-4187E5C6E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작고 가벼운 상품을 한 개 구매할 때 배송비의 부담이 크게 느껴졌습니다.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2B89BD-AFC7-46BE-9395-16C58AEA4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05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639473-58F4-4694-8831-1BBB16F04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47950"/>
            <a:ext cx="628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관찰과 체감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D0F615-C8EF-42EA-901C-6BEE1D897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90925"/>
            <a:ext cx="6286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최소 과금 구간에 해당하는 소형 상품은</a:t>
            </a:r>
          </a:p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무게가 더 작아도 배송비가 비례해서</a:t>
            </a:r>
          </a:p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줄지는 않을 수 있다고 생각했습니다.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EFE935-7CBD-4B44-8F00-12365F345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57850"/>
            <a:ext cx="6286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단품 구매에서는 상품 크기에 비해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배송비가 크게 느껴졌습니다.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BDC7F8-02C5-44E6-9567-1442CC3E5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647950"/>
            <a:ext cx="628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확인해보고 싶은 가설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5A7353-67DC-4A44-8485-235CE64D3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590925"/>
            <a:ext cx="6286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여러 상품을 한 포장으로 보내면</a:t>
            </a:r>
          </a:p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기본 배송비를 나누어 부담할 수 있어</a:t>
            </a:r>
          </a:p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개당 비용이 줄어들 수 있지 않을까?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6505A5-0C63-4785-9149-BB6512EFA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657850"/>
            <a:ext cx="6286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개별 발송 합계 ↔ 합배송 총액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운임 + 합포장·처리·보관 비용을 비교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62E44F-85DF-413D-929B-21B6F2F13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86650"/>
            <a:ext cx="1352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합배송 이익은 아직 검증하지 않았습니다. 합친 무게·부피와 추가 수수료에 따라 달라질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11144964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BBA79D-C77E-4BA7-A70C-673B418AA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만들어본 두 가지 도구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F9A2B9-6A05-4082-A597-45C94F33F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구매 실행을 보조하는 도구와, 구매 전 정보를 분석하는 도구를 별도로 구현했습니다.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A6CA1A-3838-4565-898A-66BE04483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06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613265-AAD8-4414-80AB-829C57B83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628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01  Codex 플러그인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525C09-EAC7-4C2B-A8CD-4E8DC6BFB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43325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조사·입력·상태 확인 보조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BC1B61-BD1A-4884-8DD1-1087F2CD1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52950"/>
            <a:ext cx="6334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조사와 배송대행 비교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이커머스 주문 대조·배송대행 신청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 확인 후 일일 메일 추적 등록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3FBCC7-D349-42AA-8D0D-20C8AD9A4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743200"/>
            <a:ext cx="628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02  URL 분석기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2512A9-3E82-4559-A832-2500EFD86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743325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상품·배송·관세 정보 추정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1382D6-3877-4416-83FD-C7A9611E4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552950"/>
            <a:ext cx="61912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판매처별 상품 정보 수집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이미지·검색 기반 포장 사양 추정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공개 세율을 이용한 예상 세금 계산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B40835-4049-4B8A-8780-68F7D91EA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162800"/>
            <a:ext cx="1352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두 도구는 독립적으로 동작합니다. 플러그인의 실제 실행 경로는 일부 서비스에서 검증했습니다.</a:t>
            </a:r>
          </a:p>
        </p:txBody>
      </p:sp>
    </p:spTree>
    <p:extLst>
      <p:ext uri="{BB962C8B-B14F-4D97-AF65-F5344CB8AC3E}">
        <p14:creationId xmlns:p14="http://schemas.microsoft.com/office/powerpoint/2010/main" val="69330825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9C0459-131F-43E6-A682-9F54720B5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Codex 플러그인 구성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96DAD4-BBCB-4523-871A-2A08FFEE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다섯 개 skill이 작업 절차를 안내하고, Python helper가 계산과 상태를 관리합니다.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84F0F0-4397-458B-A682-60CCB7679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07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BF19B4-B71E-4E87-B477-313BCAFC6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조사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38CFE5-0E20-4CDF-996D-95DDB6C57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배송대행 비교</a:t>
            </a:r>
          </a:p>
        </p:txBody>
      </p:sp>
      <p:cxnSp>
        <p:nvCxnSpPr>
          <p:cNvPr id="25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105150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756101-E7E1-46E3-83A9-1D8030A37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이커머스 구매</a:t>
            </a:r>
          </a:p>
        </p:txBody>
      </p:sp>
      <p:cxnSp>
        <p:nvCxnSpPr>
          <p:cNvPr id="27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915025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73DD3C-3E47-475A-8EFD-19DEDF98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배송대행 신청</a:t>
            </a:r>
          </a:p>
        </p:txBody>
      </p:sp>
      <p:cxnSp>
        <p:nvCxnSpPr>
          <p:cNvPr id="29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8724900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E699C2-E3C0-48DD-A9E2-2F030FE6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58650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진행 추적</a:t>
            </a:r>
          </a:p>
        </p:txBody>
      </p:sp>
      <p:cxnSp>
        <p:nvCxnSpPr>
          <p:cNvPr id="31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11534775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02818C-7344-42FE-8A8C-79E8E5F2C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05325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브라우저와 skills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D3E080-AD5F-4EA3-8DFB-C55EB9760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505325"/>
            <a:ext cx="885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현재 상품·폼·완료 화면을 확인하고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7EDFA0-0BBE-47EE-B46E-D937C50FA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67350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Python + SQLite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47C9E9-4480-4AE7-B9F9-2F75BA187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467350"/>
            <a:ext cx="885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승인 조건·실행 시도·견적·상태 기록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2C9DF2-E2CD-4961-9F9F-0B41AF12C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429375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사용자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03FA2C-016F-496D-8994-557A1C5E8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429375"/>
            <a:ext cx="885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로그인·추가 인증·최종 구매 수행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EC3AEE-2284-45B1-961D-D9F6029FD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24750"/>
            <a:ext cx="1352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현재 실행 검증: 라쿠텐 북스 구매·몰테일 신청. 다른 서비스로의 확대는 별도 구현이 필요합니다.</a:t>
            </a:r>
          </a:p>
        </p:txBody>
      </p:sp>
    </p:spTree>
    <p:extLst>
      <p:ext uri="{BB962C8B-B14F-4D97-AF65-F5344CB8AC3E}">
        <p14:creationId xmlns:p14="http://schemas.microsoft.com/office/powerpoint/2010/main" val="20356221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BF9139-E842-4027-B28B-72F0D512A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Codex 플러그인 시험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D649E5-04F6-4870-856A-20D8C6028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첫 요청 1회 + 후속 입력 6회로 배송대행 접수까지 진행했습니다.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5DDE90-5006-4E6C-B87E-BD00B062F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08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A6B866-6C80-459F-B909-6F94AEC76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609850"/>
            <a:ext cx="5429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83E34"/>
          </a:solidFill>
          <a:ln xmlns:a="http://schemas.openxmlformats.org/drawingml/2006/main" w="19050">
            <a:solidFill>
              <a:srgbClr val="183E34"/>
            </a:solidFill>
          </a:ln>
        </p:spPr>
        <p:txBody>
          <a:bodyPr xmlns:a="http://schemas.openxmlformats.org/drawingml/2006/main" lIns="228600" tIns="114300" rIns="209550" bIns="114300" anchor="ctr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이 상품을 구매하고</a:t>
            </a:r>
          </a:p>
          <a:p xmlns:a="http://schemas.openxmlformats.org/drawingml/2006/main">
            <a:pPr>
              <a:def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배송대행 신청까지 진행해줘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EE7EA3-0695-492A-9A48-AC7A343E3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857500"/>
            <a:ext cx="109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F5A090-C351-4036-BB77-C54F0BD0D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724275"/>
            <a:ext cx="5810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E34"/>
            </a:solidFill>
          </a:ln>
        </p:spPr>
        <p:txBody>
          <a:bodyPr xmlns:a="http://schemas.openxmlformats.org/drawingml/2006/main" lIns="228600" tIns="114300" rIns="209550" bIns="114300" anchor="ctr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상품·배송 조건 확인 후</a:t>
            </a:r>
          </a:p>
          <a:p xmlns:a="http://schemas.openxmlformats.org/drawingml/2006/main">
            <a:pPr>
              <a:def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로그인과 정보 입력 승인을 요청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56F7DA-8A10-47E8-984E-3BF5E2B2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971925"/>
            <a:ext cx="109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에이전트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37E47E-F2DE-414E-8B85-B80BCBCFE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838700"/>
            <a:ext cx="5429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83E34"/>
          </a:solidFill>
          <a:ln xmlns:a="http://schemas.openxmlformats.org/drawingml/2006/main" w="19050">
            <a:solidFill>
              <a:srgbClr val="183E34"/>
            </a:solidFill>
          </a:ln>
        </p:spPr>
        <p:txBody>
          <a:bodyPr xmlns:a="http://schemas.openxmlformats.org/drawingml/2006/main" lIns="228600" tIns="114300" rIns="209550" bIns="114300" anchor="ctr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로그인 완료 · 입력/제출 승인</a:t>
            </a:r>
          </a:p>
          <a:p xmlns:a="http://schemas.openxmlformats.org/drawingml/2006/main">
            <a:pPr>
              <a:def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구매/인증 완료 알림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9EA250-8078-464C-B07B-2FB16C9C2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086350"/>
            <a:ext cx="109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B8FAF9-333F-479B-8B96-6AA5F042D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953125"/>
            <a:ext cx="5810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E34"/>
            </a:solidFill>
          </a:ln>
        </p:spPr>
        <p:txBody>
          <a:bodyPr xmlns:a="http://schemas.openxmlformats.org/drawingml/2006/main" lIns="228600" tIns="114300" rIns="209550" bIns="114300" anchor="ctr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 정보를 대조하고 신청서 작성</a:t>
            </a:r>
          </a:p>
          <a:p xmlns:a="http://schemas.openxmlformats.org/drawingml/2006/main">
            <a:pPr>
              <a:def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인증 후 같은 신청서로 접수 완료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127725-47F8-4BA2-B02E-62A57EA28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200775"/>
            <a:ext cx="109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에이전트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5D72F1-2438-4F85-9E30-7162F7168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667000"/>
            <a:ext cx="438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실제 접수 결과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5d066e92aa4cde"/>
          <a:stretch xmlns:a="http://schemas.openxmlformats.org/drawingml/2006/main"/>
        </p:blipFill>
        <p:spPr>
          <a:xfrm xmlns:a="http://schemas.openxmlformats.org/drawingml/2006/main">
            <a:off x="9858375" y="3422061"/>
            <a:ext cx="4572000" cy="3633377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DD3D94-F2B9-4223-B81C-8736505C0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00925"/>
            <a:ext cx="1352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대화는 실제 기록의 요약입니다. 후속 입력은 로그인2회·승인2회·구매/인증 완료 알림2회입니다.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3E2C92-922D-4278-8D39-B51912FEB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781925"/>
            <a:ext cx="1352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메시지 수 기준이며, 로그인·구매·인증 화면의 클릭과 입력 횟수는 별도로 측정하지 않았습니다.</a:t>
            </a:r>
          </a:p>
        </p:txBody>
      </p:sp>
    </p:spTree>
    <p:extLst>
      <p:ext uri="{BB962C8B-B14F-4D97-AF65-F5344CB8AC3E}">
        <p14:creationId xmlns:p14="http://schemas.microsoft.com/office/powerpoint/2010/main" val="3095005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825BA7-8985-43A2-BE88-CE07ECDC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 확인 후 일일 메일 추적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E3592A-677C-4281-8015-62F5BE6B7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구매 완료가 확인되면 Codex scheduler에 하루 한 번의 추적 작업을 등록합니다.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16F421-0517-430C-BF98-9E1B82D8B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09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8DEDD6-F596-4BC9-814F-A36512CA9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 완료 확인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E60611-335F-4EA1-A8F6-6683C2509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7146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일일 scheduler 등록</a:t>
            </a:r>
          </a:p>
        </p:txBody>
      </p:sp>
      <p:cxnSp>
        <p:nvCxnSpPr>
          <p:cNvPr id="18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629150" y="31432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0C996B-AF70-488F-80B1-5E0C8D6D2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7146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주문·배송 진행 추적</a:t>
            </a:r>
          </a:p>
        </p:txBody>
      </p:sp>
      <p:cxnSp>
        <p:nvCxnSpPr>
          <p:cNvPr id="20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9486900" y="31432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7408AC-8C39-4686-9F7E-3A8867266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57650"/>
            <a:ext cx="4095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실제 주문 접수 근거 확인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배송대행 접수 전에도 시작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091299-4683-4B7D-959E-05306FF0F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057650"/>
            <a:ext cx="4095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메일 단회 조회 후 등록</a:t>
            </a:r>
          </a:p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기존 예약 ID가 있으면 재사용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96F990-157F-4522-90F6-BDE43DEC5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4057650"/>
            <a:ext cx="38862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주문·배송대행 메일 확인</a:t>
            </a:r>
          </a:p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발송·입고·출고·통관 상태 대조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D1DEFD-3219-45C9-A9F8-0F58A41D5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181725"/>
            <a:ext cx="135255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의미 있는 변경이나 사용자 조치가 필요할 때 알리고,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배송완료·취소가 확인되면 예약을 종료합니다.</a:t>
            </a:r>
          </a:p>
        </p:txBody>
      </p:sp>
    </p:spTree>
    <p:extLst>
      <p:ext uri="{BB962C8B-B14F-4D97-AF65-F5344CB8AC3E}">
        <p14:creationId xmlns:p14="http://schemas.microsoft.com/office/powerpoint/2010/main" val="10520806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84774B-789F-48C3-955A-AB277820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URL 분석기 · 실행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E1F7FC-D67C-4CA5-9F73-5AC330D62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https://catalog.janghan.dev/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3E1A42-2578-426E-8D4C-28E2F8185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10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EABA4D-E1BB-44B5-A68A-434F4BC50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124075"/>
            <a:ext cx="5619750" cy="573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8ACA2"/>
            </a:solidFill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bc396ccd89477c"/>
          <a:stretch xmlns:a="http://schemas.openxmlformats.org/drawingml/2006/main"/>
        </p:blipFill>
        <p:spPr>
          <a:xfrm xmlns:a="http://schemas.openxmlformats.org/drawingml/2006/main">
            <a:off x="5059326" y="2238375"/>
            <a:ext cx="5121349" cy="55054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2DE21F-3F3F-418A-8685-52A6B7713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933700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URL 입력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509B7B-505E-46A4-9F51-C0D95A575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676650"/>
            <a:ext cx="333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링크 하나로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분석을 시작합니다.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9C1BBF-AF54-4FA8-A18A-93A7268FB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810125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결과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9C0905-2326-45CD-A339-86F0687C8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5562600"/>
            <a:ext cx="3333750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상품·배송·세금과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미확인 조건을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함께 표시합니다.</a:t>
            </a:r>
          </a:p>
        </p:txBody>
      </p:sp>
    </p:spTree>
    <p:extLst>
      <p:ext uri="{BB962C8B-B14F-4D97-AF65-F5344CB8AC3E}">
        <p14:creationId xmlns:p14="http://schemas.microsoft.com/office/powerpoint/2010/main" val="43951340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CD7D1D-B87F-48C5-9567-AC5A944D5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URL 분석기의 처리 과정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6F607C-8858-4F98-8905-BFBFCDDE6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라쿠텐 이치바·북스와 메루카리의 상품 URL을 입력으로 사용합니다.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7DD3A4-60A9-4D63-B010-C300D77E0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11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32C99F-4237-4A7E-94DB-DEF6CA992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765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정보 수집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3EF542-6523-47EC-BF32-F2E3C86A6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6765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 정보 추정</a:t>
            </a:r>
          </a:p>
        </p:txBody>
      </p:sp>
      <p:cxnSp>
        <p:nvCxnSpPr>
          <p:cNvPr id="1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629150" y="31051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6CEF83-C72E-42F0-A7D4-9FD0AA750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6765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관세 정보 추정</a:t>
            </a:r>
          </a:p>
        </p:txBody>
      </p:sp>
      <p:cxnSp>
        <p:nvCxnSpPr>
          <p:cNvPr id="21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9486900" y="31051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3234B9-F916-43DE-A879-5CD6AD3A6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52875"/>
            <a:ext cx="3810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API·HTML·브라우저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상품명·가격·판매 상태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D47B4E-2EB2-4DF2-B34F-D3A732CC3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952875"/>
            <a:ext cx="3810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이미지·제품명·검색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포장 무게·치수·운임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2F6539-54B9-4DFF-9A03-43E5F41BD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3952875"/>
            <a:ext cx="38862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HS·HSK 후보와 공개 세율</a:t>
            </a:r>
          </a:p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환율·조건별 예상 세금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932CE2-BC60-4AAE-AEAB-BB33682CA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172200"/>
            <a:ext cx="13525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실시간 진행 상태와 단계별 결과를 표시하고, 상세에서 출처와 추정 조건을 확인합니다.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6793FD-A75A-4F07-9AF1-6AF68957C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39025"/>
            <a:ext cx="13525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수집값·모델 가정·미확인 항목을 구분하며, 입력 부족이나 조회 실패는 부분 결과로 남깁니다.</a:t>
            </a:r>
          </a:p>
        </p:txBody>
      </p:sp>
    </p:spTree>
    <p:extLst>
      <p:ext uri="{BB962C8B-B14F-4D97-AF65-F5344CB8AC3E}">
        <p14:creationId xmlns:p14="http://schemas.microsoft.com/office/powerpoint/2010/main" val="113101842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979A08-2890-4EA9-8B31-911AAA396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관세 실험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E0A375-9BAB-4C4C-A210-5F264E490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동일한 항목으로 정리하되, 실제 URL 분석과 합성 계산 표본의 차이는 구분했습니다.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611793-AF7D-4AB7-B2FF-09EF7D157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12   윤장한 · 직구 조사와 도구 구현 · 2026.10.06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19150" y="2505075"/>
          <a:ext xmlns:a="http://schemas.openxmlformats.org/drawingml/2006/main" cx="13601700" cy="4619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33625"/>
                <a:gridCol w="5629275"/>
                <a:gridCol w="5638800"/>
              </a:tblGrid>
              <a:tr h="769938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항목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TCG 상품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주류(위스키)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769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검증 자료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메루카리 실제 판매글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2026-10-05 운영 분석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제조사 사양 + 합성 계산 입력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2026-09-30 저장 시험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9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분류·추출 결과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HSK 9504400000 후보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whisky 후보 · 700ml·43% 추출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병 수는 미확인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769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계산 조건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관측 판매가70,000JPY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기본관세8%·일반 부가세10% 가정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별도 합성 입력: $200·750ml 1병·40%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환율1,000원/$·운임0 가정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9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예상 세금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115,776 ~ 117,335원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353,696원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769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확인한 범위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상품 분류→공개 세율→계산 연결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사양 추출과 계산 회귀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용량·병 수 경계 및 누락 입력 검사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4D02A1-2DD4-4CDC-9A03-47E8D7955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05700"/>
            <a:ext cx="1352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실제 납부세액과 대조한 정확도 검증은 아닙니다. 주류의 사양 추출 표본과 산술 표본은 서로 다릅니다.</a:t>
            </a:r>
          </a:p>
        </p:txBody>
      </p:sp>
    </p:spTree>
    <p:extLst>
      <p:ext uri="{BB962C8B-B14F-4D97-AF65-F5344CB8AC3E}">
        <p14:creationId xmlns:p14="http://schemas.microsoft.com/office/powerpoint/2010/main" val="87647125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FD57E0-6F10-4CCC-999A-5124BB500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도구 측면에서 남은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BD82A9-1E03-429E-959C-B3F8DC4A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이번 구현으로 확인하지 못한 범위입니다. 추가 개발·검증 일정은 잡지 않았습니다.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96673B-429A-4B2D-BD77-889ADB23A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13   윤장한 · 직구 조사와 도구 구현 · 2026.10.06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19150" y="2724150"/>
          <a:ext xmlns:a="http://schemas.openxmlformats.org/drawingml/2006/main" cx="13601700" cy="33718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10458450"/>
              </a:tblGrid>
              <a:tr h="112395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영역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확인하지 못한 부분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추정 정확도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포장 치수·무게와 관세 추정이 실제 값과 얼마나 일치하는가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인형처럼 형태가 복잡한 상품도 적절한 포장 범위를 추정하는가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판매처 확대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라쿠텐·메루카리 밖의 사이트에서도 안정적으로 수집·파싱할 수 있는가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API가 없는 사이트의 화면 변경·접근 제한에 어떻게 대응할 것인가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639BFD-1763-47E8-93F4-D8F54E855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686550"/>
            <a:ext cx="1352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라쿠텐은 API로 상품 정보를 가져왔습니다.</a:t>
            </a:r>
          </a:p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메루카리는 웹페이지를 크롤링하고 HTML을 파싱했습니다.</a:t>
            </a:r>
          </a:p>
        </p:txBody>
      </p:sp>
    </p:spTree>
    <p:extLst>
      <p:ext uri="{BB962C8B-B14F-4D97-AF65-F5344CB8AC3E}">
        <p14:creationId xmlns:p14="http://schemas.microsoft.com/office/powerpoint/2010/main" val="9117437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5226CF-0C1F-40E4-B646-8EFFA88A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이번 경험과 구매대행 사업에 대한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C4CF2B-ECD4-4131-8D0A-384121871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입력 과정의 간소화와 배송비의 경제성은 별도로 보게 됐습니다.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E285A0-7249-4BAC-9802-B718FDBA5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14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CDE519-14A1-4108-9B51-2926B4037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28900"/>
            <a:ext cx="63341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이번 사례에서 느낀 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BFC4D8-C4A5-4A6C-A088-C8C4902EA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76625"/>
            <a:ext cx="6334125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에이전트로 배송대행 정보 입력과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접수 확인을 간소화할 수 있었습니다.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소형·경량 상품1개에서는 직접구매의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비용 이점을 확인하지 못했습니다.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BEE8D0-DBFB-4B26-A5B7-DAF1A5368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628900"/>
            <a:ext cx="63341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사업 측면에서 남은 질문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1D5840-2241-4F37-B3AB-87C9A8270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476625"/>
            <a:ext cx="6334125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합배송으로 운송비를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얼마나 최적화할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개별 발송과 합배송의 총비용을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포장·처리·보관 비용까지 비교해야 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1292D4-7E6C-448E-BF0B-136D44C0F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591300"/>
            <a:ext cx="13525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당시 확인 비용 합계는 SAZO 약7,228엔, 직접구매+tenso 7,472엔이었습니다.</a:t>
            </a:r>
          </a:p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 사례에서는 구매대행을 이용하는 편이 유리하다고 느꼈습니다.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E36CC2-DA7F-4BE2-B8B7-64852677E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639050"/>
            <a:ext cx="1352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운송·특전 등 조건 차이와 미확정 비용이 남아 있어 모든 소량 직구의 결론으로 일반화하지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36995847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DAD197-03A8-4C57-87DE-A97DFC19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에이전트 커머스에 대한 생각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906E02-A0C5-430A-B17B-54B07ED76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이번에는 브라우저를 통해 배송대행 정보를 입력했습니다.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FF224B-9734-46C6-B47B-F0A844F92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15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A24EF9-B957-44C6-8CCE-B359ECC06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57475"/>
            <a:ext cx="1352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에이전트로 구매가 가능해지고, 배송대행 업체가 신청용 MCP 등을 제공한다면</a:t>
            </a:r>
          </a:p>
          <a:p xmlns:a="http://schemas.openxmlformats.org/drawingml/2006/main">
            <a:pPr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직구 과정 전체를 에이전트에 맡기는 흐름도 가능하지 않을까 생각했습니다.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D85511-AD2A-497A-88EF-90626904B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5767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에이전트가 구매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842B3A-25CC-45D8-B811-CC10566A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25767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배송대행 MCP로 신청</a:t>
            </a:r>
          </a:p>
        </p:txBody>
      </p:sp>
      <p:cxnSp>
        <p:nvCxnSpPr>
          <p:cNvPr id="18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4629150" y="46863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F86D05-63E7-42DC-85A7-3B6A6B78B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425767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주문·배송·통관 추적</a:t>
            </a:r>
          </a:p>
        </p:txBody>
      </p:sp>
      <p:cxnSp>
        <p:nvCxnSpPr>
          <p:cNvPr id="20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9486900" y="46863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AF1013-B976-4C95-8B81-E4297613D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91175"/>
            <a:ext cx="135255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그때 사조 같은 구매대행 업체의 경쟁력은 구매 과정의 간편함뿐 아니라,</a:t>
            </a:r>
          </a:p>
          <a:p xmlns:a="http://schemas.openxmlformats.org/drawingml/2006/main">
            <a:pPr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합배송으로 비용을 조정하고 물류·검수·예외를 처리하는 노하우에</a:t>
            </a:r>
          </a:p>
          <a:p xmlns:a="http://schemas.openxmlformats.org/drawingml/2006/main">
            <a:pPr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더 크게 남지 않을까 생각합니다.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EACE2D-1122-4767-B05A-1440CBAA5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86650"/>
            <a:ext cx="1352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공개 코드  github.com/y00nZZang/crossborder-purchase-agent  ·  github.com/y00nZZang/product-catalog</a:t>
            </a:r>
          </a:p>
        </p:txBody>
      </p:sp>
    </p:spTree>
    <p:extLst>
      <p:ext uri="{BB962C8B-B14F-4D97-AF65-F5344CB8AC3E}">
        <p14:creationId xmlns:p14="http://schemas.microsoft.com/office/powerpoint/2010/main" val="12758885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2026-10-06T07:37:42.9620000Z</dcterms:created>
  <dcterms:modified xsi:type="dcterms:W3CDTF">2026-10-06T07:37:42.9620000Z</dcterms:modified>
</coreProperties>
</file>